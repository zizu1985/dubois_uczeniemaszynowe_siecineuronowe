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3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35.xml" ContentType="application/vnd.openxmlformats-officedocument.presentationml.notesSlide+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handoutMasterIdLst>
    <p:handoutMasterId r:id="rId42"/>
  </p:handoutMasterIdLst>
  <p:sldIdLst>
    <p:sldId id="2076137032" r:id="rId2"/>
    <p:sldId id="2076137033" r:id="rId3"/>
    <p:sldId id="2076137066" r:id="rId4"/>
    <p:sldId id="2076137059" r:id="rId5"/>
    <p:sldId id="2076137065" r:id="rId6"/>
    <p:sldId id="2076137034" r:id="rId7"/>
    <p:sldId id="2076137052" r:id="rId8"/>
    <p:sldId id="2076137053" r:id="rId9"/>
    <p:sldId id="2076137054" r:id="rId10"/>
    <p:sldId id="2076137051" r:id="rId11"/>
    <p:sldId id="2076137050" r:id="rId12"/>
    <p:sldId id="2076137035" r:id="rId13"/>
    <p:sldId id="2076137036" r:id="rId14"/>
    <p:sldId id="2076137037" r:id="rId15"/>
    <p:sldId id="2076137070" r:id="rId16"/>
    <p:sldId id="2076137046" r:id="rId17"/>
    <p:sldId id="2076137048" r:id="rId18"/>
    <p:sldId id="2076137049" r:id="rId19"/>
    <p:sldId id="2076137038" r:id="rId20"/>
    <p:sldId id="2076137047" r:id="rId21"/>
    <p:sldId id="2076137039" r:id="rId22"/>
    <p:sldId id="2076137043" r:id="rId23"/>
    <p:sldId id="2076137064" r:id="rId24"/>
    <p:sldId id="2076137040" r:id="rId25"/>
    <p:sldId id="2076137041" r:id="rId26"/>
    <p:sldId id="2076137045" r:id="rId27"/>
    <p:sldId id="2076137044" r:id="rId28"/>
    <p:sldId id="2076137055" r:id="rId29"/>
    <p:sldId id="2076137056" r:id="rId30"/>
    <p:sldId id="2076137057" r:id="rId31"/>
    <p:sldId id="2076137058" r:id="rId32"/>
    <p:sldId id="2076137067" r:id="rId33"/>
    <p:sldId id="2076137069" r:id="rId34"/>
    <p:sldId id="2076137042" r:id="rId35"/>
    <p:sldId id="2076137060" r:id="rId36"/>
    <p:sldId id="2076137061" r:id="rId37"/>
    <p:sldId id="2076137062" r:id="rId38"/>
    <p:sldId id="2076137063" r:id="rId39"/>
    <p:sldId id="207613706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36146D-AE0B-4598-95DB-57999FD4A56D}" v="71" dt="2026-10-02T15:27:30.3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367" autoAdjust="0"/>
  </p:normalViewPr>
  <p:slideViewPr>
    <p:cSldViewPr snapToGrid="0">
      <p:cViewPr varScale="1">
        <p:scale>
          <a:sx n="65" d="100"/>
          <a:sy n="65" d="100"/>
        </p:scale>
        <p:origin x="231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E890CD-CE63-4ED2-B519-2BAE8E496710}" type="doc">
      <dgm:prSet loTypeId="urn:microsoft.com/office/officeart/2005/8/layout/venn1" loCatId="relationship" qsTypeId="urn:microsoft.com/office/officeart/2005/8/quickstyle/simple1#1" qsCatId="simple" csTypeId="urn:microsoft.com/office/officeart/2005/8/colors/accent1_2#1" csCatId="accent1" phldr="1"/>
      <dgm:spPr/>
      <dgm:t>
        <a:bodyPr/>
        <a:lstStyle/>
        <a:p>
          <a:endParaRPr lang="en-US"/>
        </a:p>
      </dgm:t>
    </dgm:pt>
    <dgm:pt modelId="{82A8948D-DA7E-4F6C-A4FA-85D87A8C2404}">
      <dgm:prSet phldrT="[Text]" custT="1"/>
      <dgm:spPr/>
      <dgm:t>
        <a:bodyPr/>
        <a:lstStyle/>
        <a:p>
          <a:r>
            <a:rPr lang="pl-PL" sz="2800" dirty="0"/>
            <a:t>Wiedza dziedzinowa</a:t>
          </a:r>
          <a:endParaRPr lang="en-US" sz="2800" dirty="0"/>
        </a:p>
      </dgm:t>
    </dgm:pt>
    <dgm:pt modelId="{4CB70BEC-BFA4-4464-9CA8-7230EEDA0047}" type="parTrans" cxnId="{000D1DE4-27F6-4CC6-9121-276362C3180F}">
      <dgm:prSet/>
      <dgm:spPr/>
      <dgm:t>
        <a:bodyPr/>
        <a:lstStyle/>
        <a:p>
          <a:endParaRPr lang="en-US"/>
        </a:p>
      </dgm:t>
    </dgm:pt>
    <dgm:pt modelId="{6E31E8C1-D390-4E7F-B258-8FF216F9C031}" type="sibTrans" cxnId="{000D1DE4-27F6-4CC6-9121-276362C3180F}">
      <dgm:prSet/>
      <dgm:spPr/>
      <dgm:t>
        <a:bodyPr/>
        <a:lstStyle/>
        <a:p>
          <a:endParaRPr lang="en-US"/>
        </a:p>
      </dgm:t>
    </dgm:pt>
    <dgm:pt modelId="{0C777528-5EE2-4BD3-B39A-942557BD4F2F}">
      <dgm:prSet phldrT="[Text]" custT="1"/>
      <dgm:spPr/>
      <dgm:t>
        <a:bodyPr/>
        <a:lstStyle/>
        <a:p>
          <a:r>
            <a:rPr lang="pl-PL" sz="2400" dirty="0"/>
            <a:t>Wiedza matematyczna</a:t>
          </a:r>
          <a:endParaRPr lang="en-US" sz="2400" dirty="0"/>
        </a:p>
      </dgm:t>
    </dgm:pt>
    <dgm:pt modelId="{E7613805-1DA2-47F7-A2B5-0D00E92A425B}" type="parTrans" cxnId="{6F71BB78-6284-473E-B397-1CB37D468212}">
      <dgm:prSet/>
      <dgm:spPr/>
      <dgm:t>
        <a:bodyPr/>
        <a:lstStyle/>
        <a:p>
          <a:endParaRPr lang="en-US"/>
        </a:p>
      </dgm:t>
    </dgm:pt>
    <dgm:pt modelId="{5843B34A-B5F6-4CDE-9687-BB7139FD4BDC}" type="sibTrans" cxnId="{6F71BB78-6284-473E-B397-1CB37D468212}">
      <dgm:prSet/>
      <dgm:spPr/>
      <dgm:t>
        <a:bodyPr/>
        <a:lstStyle/>
        <a:p>
          <a:endParaRPr lang="en-US"/>
        </a:p>
      </dgm:t>
    </dgm:pt>
    <dgm:pt modelId="{47996DBF-7DA4-4237-B531-91F9110FEAA5}">
      <dgm:prSet phldrT="[Text]" custT="1"/>
      <dgm:spPr/>
      <dgm:t>
        <a:bodyPr/>
        <a:lstStyle/>
        <a:p>
          <a:r>
            <a:rPr lang="pl-PL" sz="2200" dirty="0"/>
            <a:t>Programowanie</a:t>
          </a:r>
          <a:endParaRPr lang="en-US" sz="2200" dirty="0"/>
        </a:p>
      </dgm:t>
    </dgm:pt>
    <dgm:pt modelId="{7BD8FC24-3ADF-4DA8-BF8B-EA1F6B403294}" type="parTrans" cxnId="{73C79445-56AC-483E-8F34-FE05758713CF}">
      <dgm:prSet/>
      <dgm:spPr/>
      <dgm:t>
        <a:bodyPr/>
        <a:lstStyle/>
        <a:p>
          <a:endParaRPr lang="en-US"/>
        </a:p>
      </dgm:t>
    </dgm:pt>
    <dgm:pt modelId="{6973ADF5-DB05-4CE5-8AA5-AC27F7A82C87}" type="sibTrans" cxnId="{73C79445-56AC-483E-8F34-FE05758713CF}">
      <dgm:prSet/>
      <dgm:spPr/>
      <dgm:t>
        <a:bodyPr/>
        <a:lstStyle/>
        <a:p>
          <a:endParaRPr lang="en-US"/>
        </a:p>
      </dgm:t>
    </dgm:pt>
    <dgm:pt modelId="{808EC5CF-C6D8-4EB5-AFA1-6CF6592BFEDD}" type="pres">
      <dgm:prSet presAssocID="{58E890CD-CE63-4ED2-B519-2BAE8E496710}" presName="compositeShape" presStyleCnt="0">
        <dgm:presLayoutVars>
          <dgm:chMax val="7"/>
          <dgm:dir/>
          <dgm:resizeHandles val="exact"/>
        </dgm:presLayoutVars>
      </dgm:prSet>
      <dgm:spPr/>
    </dgm:pt>
    <dgm:pt modelId="{59A45106-BF84-41E7-9CBF-973A5D74A811}" type="pres">
      <dgm:prSet presAssocID="{82A8948D-DA7E-4F6C-A4FA-85D87A8C2404}" presName="circ1" presStyleLbl="vennNode1" presStyleIdx="0" presStyleCnt="3"/>
      <dgm:spPr/>
    </dgm:pt>
    <dgm:pt modelId="{72E48027-53D2-4577-AB5A-D2A13795057B}" type="pres">
      <dgm:prSet presAssocID="{82A8948D-DA7E-4F6C-A4FA-85D87A8C2404}" presName="circ1Tx" presStyleLbl="revTx" presStyleIdx="0" presStyleCnt="0">
        <dgm:presLayoutVars>
          <dgm:chMax val="0"/>
          <dgm:chPref val="0"/>
          <dgm:bulletEnabled val="1"/>
        </dgm:presLayoutVars>
      </dgm:prSet>
      <dgm:spPr/>
    </dgm:pt>
    <dgm:pt modelId="{B67CD0C1-445D-416A-8361-D7ADFA1985D2}" type="pres">
      <dgm:prSet presAssocID="{0C777528-5EE2-4BD3-B39A-942557BD4F2F}" presName="circ2" presStyleLbl="vennNode1" presStyleIdx="1" presStyleCnt="3"/>
      <dgm:spPr/>
    </dgm:pt>
    <dgm:pt modelId="{DCB9CB11-5887-4C7C-9B52-EC9EE103CB0E}" type="pres">
      <dgm:prSet presAssocID="{0C777528-5EE2-4BD3-B39A-942557BD4F2F}" presName="circ2Tx" presStyleLbl="revTx" presStyleIdx="0" presStyleCnt="0">
        <dgm:presLayoutVars>
          <dgm:chMax val="0"/>
          <dgm:chPref val="0"/>
          <dgm:bulletEnabled val="1"/>
        </dgm:presLayoutVars>
      </dgm:prSet>
      <dgm:spPr/>
    </dgm:pt>
    <dgm:pt modelId="{F7E4EE5C-FF96-4BE3-97FA-99BF2ACF37C0}" type="pres">
      <dgm:prSet presAssocID="{47996DBF-7DA4-4237-B531-91F9110FEAA5}" presName="circ3" presStyleLbl="vennNode1" presStyleIdx="2" presStyleCnt="3" custLinFactNeighborX="3410" custLinFactNeighborY="3096"/>
      <dgm:spPr/>
    </dgm:pt>
    <dgm:pt modelId="{D8B83C8F-59F4-4413-95A7-F728CC53F795}" type="pres">
      <dgm:prSet presAssocID="{47996DBF-7DA4-4237-B531-91F9110FEAA5}" presName="circ3Tx" presStyleLbl="revTx" presStyleIdx="0" presStyleCnt="0">
        <dgm:presLayoutVars>
          <dgm:chMax val="0"/>
          <dgm:chPref val="0"/>
          <dgm:bulletEnabled val="1"/>
        </dgm:presLayoutVars>
      </dgm:prSet>
      <dgm:spPr/>
    </dgm:pt>
  </dgm:ptLst>
  <dgm:cxnLst>
    <dgm:cxn modelId="{E1FDAD1E-9031-4CC0-AE8A-5BF4D2A6E161}" type="presOf" srcId="{47996DBF-7DA4-4237-B531-91F9110FEAA5}" destId="{F7E4EE5C-FF96-4BE3-97FA-99BF2ACF37C0}" srcOrd="0" destOrd="0" presId="urn:microsoft.com/office/officeart/2005/8/layout/venn1"/>
    <dgm:cxn modelId="{636D263B-D483-4D6E-8952-007EDDBDE437}" type="presOf" srcId="{82A8948D-DA7E-4F6C-A4FA-85D87A8C2404}" destId="{72E48027-53D2-4577-AB5A-D2A13795057B}" srcOrd="1" destOrd="0" presId="urn:microsoft.com/office/officeart/2005/8/layout/venn1"/>
    <dgm:cxn modelId="{73C79445-56AC-483E-8F34-FE05758713CF}" srcId="{58E890CD-CE63-4ED2-B519-2BAE8E496710}" destId="{47996DBF-7DA4-4237-B531-91F9110FEAA5}" srcOrd="2" destOrd="0" parTransId="{7BD8FC24-3ADF-4DA8-BF8B-EA1F6B403294}" sibTransId="{6973ADF5-DB05-4CE5-8AA5-AC27F7A82C87}"/>
    <dgm:cxn modelId="{94E34956-4D66-4BAE-8B2C-F1AD3B732523}" type="presOf" srcId="{82A8948D-DA7E-4F6C-A4FA-85D87A8C2404}" destId="{59A45106-BF84-41E7-9CBF-973A5D74A811}" srcOrd="0" destOrd="0" presId="urn:microsoft.com/office/officeart/2005/8/layout/venn1"/>
    <dgm:cxn modelId="{6F71BB78-6284-473E-B397-1CB37D468212}" srcId="{58E890CD-CE63-4ED2-B519-2BAE8E496710}" destId="{0C777528-5EE2-4BD3-B39A-942557BD4F2F}" srcOrd="1" destOrd="0" parTransId="{E7613805-1DA2-47F7-A2B5-0D00E92A425B}" sibTransId="{5843B34A-B5F6-4CDE-9687-BB7139FD4BDC}"/>
    <dgm:cxn modelId="{7B470680-63F6-4840-90B3-B5D3921297F2}" type="presOf" srcId="{47996DBF-7DA4-4237-B531-91F9110FEAA5}" destId="{D8B83C8F-59F4-4413-95A7-F728CC53F795}" srcOrd="1" destOrd="0" presId="urn:microsoft.com/office/officeart/2005/8/layout/venn1"/>
    <dgm:cxn modelId="{D0C3F9AC-BC0B-4965-A459-07BF4E5E9B93}" type="presOf" srcId="{58E890CD-CE63-4ED2-B519-2BAE8E496710}" destId="{808EC5CF-C6D8-4EB5-AFA1-6CF6592BFEDD}" srcOrd="0" destOrd="0" presId="urn:microsoft.com/office/officeart/2005/8/layout/venn1"/>
    <dgm:cxn modelId="{C3F8B1C9-42AE-4B16-AB25-4788C9951A09}" type="presOf" srcId="{0C777528-5EE2-4BD3-B39A-942557BD4F2F}" destId="{B67CD0C1-445D-416A-8361-D7ADFA1985D2}" srcOrd="0" destOrd="0" presId="urn:microsoft.com/office/officeart/2005/8/layout/venn1"/>
    <dgm:cxn modelId="{98FFBCC9-5758-4EE0-93CA-A6FE1796228E}" type="presOf" srcId="{0C777528-5EE2-4BD3-B39A-942557BD4F2F}" destId="{DCB9CB11-5887-4C7C-9B52-EC9EE103CB0E}" srcOrd="1" destOrd="0" presId="urn:microsoft.com/office/officeart/2005/8/layout/venn1"/>
    <dgm:cxn modelId="{000D1DE4-27F6-4CC6-9121-276362C3180F}" srcId="{58E890CD-CE63-4ED2-B519-2BAE8E496710}" destId="{82A8948D-DA7E-4F6C-A4FA-85D87A8C2404}" srcOrd="0" destOrd="0" parTransId="{4CB70BEC-BFA4-4464-9CA8-7230EEDA0047}" sibTransId="{6E31E8C1-D390-4E7F-B258-8FF216F9C031}"/>
    <dgm:cxn modelId="{C2799948-0548-403E-B750-9018D6FD603E}" type="presParOf" srcId="{808EC5CF-C6D8-4EB5-AFA1-6CF6592BFEDD}" destId="{59A45106-BF84-41E7-9CBF-973A5D74A811}" srcOrd="0" destOrd="0" presId="urn:microsoft.com/office/officeart/2005/8/layout/venn1"/>
    <dgm:cxn modelId="{079E1420-7E86-45BA-9241-3F95259EA7AD}" type="presParOf" srcId="{808EC5CF-C6D8-4EB5-AFA1-6CF6592BFEDD}" destId="{72E48027-53D2-4577-AB5A-D2A13795057B}" srcOrd="1" destOrd="0" presId="urn:microsoft.com/office/officeart/2005/8/layout/venn1"/>
    <dgm:cxn modelId="{180FCACC-952F-45AA-858E-275840736007}" type="presParOf" srcId="{808EC5CF-C6D8-4EB5-AFA1-6CF6592BFEDD}" destId="{B67CD0C1-445D-416A-8361-D7ADFA1985D2}" srcOrd="2" destOrd="0" presId="urn:microsoft.com/office/officeart/2005/8/layout/venn1"/>
    <dgm:cxn modelId="{CF619A8E-3D32-4B32-9A09-7EE22762A6D0}" type="presParOf" srcId="{808EC5CF-C6D8-4EB5-AFA1-6CF6592BFEDD}" destId="{DCB9CB11-5887-4C7C-9B52-EC9EE103CB0E}" srcOrd="3" destOrd="0" presId="urn:microsoft.com/office/officeart/2005/8/layout/venn1"/>
    <dgm:cxn modelId="{3089439A-4E79-4924-B0CD-693F7C03A2EF}" type="presParOf" srcId="{808EC5CF-C6D8-4EB5-AFA1-6CF6592BFEDD}" destId="{F7E4EE5C-FF96-4BE3-97FA-99BF2ACF37C0}" srcOrd="4" destOrd="0" presId="urn:microsoft.com/office/officeart/2005/8/layout/venn1"/>
    <dgm:cxn modelId="{E71F4746-3CAC-4D1E-8E88-AED856849F4A}" type="presParOf" srcId="{808EC5CF-C6D8-4EB5-AFA1-6CF6592BFEDD}" destId="{D8B83C8F-59F4-4413-95A7-F728CC53F795}"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A45106-BF84-41E7-9CBF-973A5D74A811}">
      <dsp:nvSpPr>
        <dsp:cNvPr id="0" name=""/>
        <dsp:cNvSpPr/>
      </dsp:nvSpPr>
      <dsp:spPr>
        <a:xfrm>
          <a:off x="2438399" y="67733"/>
          <a:ext cx="3251200" cy="3251200"/>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pl-PL" sz="2800" kern="1200" dirty="0"/>
            <a:t>Wiedza dziedzinowa</a:t>
          </a:r>
          <a:endParaRPr lang="en-US" sz="2800" kern="1200" dirty="0"/>
        </a:p>
      </dsp:txBody>
      <dsp:txXfrm>
        <a:off x="2871893" y="636693"/>
        <a:ext cx="2384213" cy="1463040"/>
      </dsp:txXfrm>
    </dsp:sp>
    <dsp:sp modelId="{B67CD0C1-445D-416A-8361-D7ADFA1985D2}">
      <dsp:nvSpPr>
        <dsp:cNvPr id="0" name=""/>
        <dsp:cNvSpPr/>
      </dsp:nvSpPr>
      <dsp:spPr>
        <a:xfrm>
          <a:off x="3611541" y="2099733"/>
          <a:ext cx="3251200" cy="3251200"/>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pl-PL" sz="2400" kern="1200" dirty="0"/>
            <a:t>Wiedza matematyczna</a:t>
          </a:r>
          <a:endParaRPr lang="en-US" sz="2400" kern="1200" dirty="0"/>
        </a:p>
      </dsp:txBody>
      <dsp:txXfrm>
        <a:off x="4605866" y="2939626"/>
        <a:ext cx="1950720" cy="1788160"/>
      </dsp:txXfrm>
    </dsp:sp>
    <dsp:sp modelId="{F7E4EE5C-FF96-4BE3-97FA-99BF2ACF37C0}">
      <dsp:nvSpPr>
        <dsp:cNvPr id="0" name=""/>
        <dsp:cNvSpPr/>
      </dsp:nvSpPr>
      <dsp:spPr>
        <a:xfrm>
          <a:off x="1376124" y="2167466"/>
          <a:ext cx="3251200" cy="3251200"/>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pl-PL" sz="2200" kern="1200" dirty="0"/>
            <a:t>Programowanie</a:t>
          </a:r>
          <a:endParaRPr lang="en-US" sz="2200" kern="1200" dirty="0"/>
        </a:p>
      </dsp:txBody>
      <dsp:txXfrm>
        <a:off x="1682279" y="3007360"/>
        <a:ext cx="1950720" cy="1788160"/>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a:extLst>
              <a:ext uri="{FF2B5EF4-FFF2-40B4-BE49-F238E27FC236}">
                <a16:creationId xmlns:a16="http://schemas.microsoft.com/office/drawing/2014/main" id="{8EEF123B-749B-C4AF-4A0A-E60C333D225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ymbol zastępczy daty 2">
            <a:extLst>
              <a:ext uri="{FF2B5EF4-FFF2-40B4-BE49-F238E27FC236}">
                <a16:creationId xmlns:a16="http://schemas.microsoft.com/office/drawing/2014/main" id="{D588C39A-961B-3565-D0A4-E7DC8FA6480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CA696D-F3C0-47CF-9F04-C3AC5832C9EF}" type="datetimeFigureOut">
              <a:rPr lang="en-US" smtClean="0"/>
              <a:t>10/18/2026</a:t>
            </a:fld>
            <a:endParaRPr lang="en-US"/>
          </a:p>
        </p:txBody>
      </p:sp>
      <p:sp>
        <p:nvSpPr>
          <p:cNvPr id="4" name="Symbol zastępczy stopki 3">
            <a:extLst>
              <a:ext uri="{FF2B5EF4-FFF2-40B4-BE49-F238E27FC236}">
                <a16:creationId xmlns:a16="http://schemas.microsoft.com/office/drawing/2014/main" id="{93CBE681-9141-61E3-DBD9-C0224EFDEA9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ymbol zastępczy numeru slajdu 4">
            <a:extLst>
              <a:ext uri="{FF2B5EF4-FFF2-40B4-BE49-F238E27FC236}">
                <a16:creationId xmlns:a16="http://schemas.microsoft.com/office/drawing/2014/main" id="{1512D21D-39FE-2518-1B4C-CABFA684291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7D3FAD-3781-4178-A558-0BEBD77F8F1E}" type="slidenum">
              <a:rPr lang="en-US" smtClean="0"/>
              <a:t>‹#›</a:t>
            </a:fld>
            <a:endParaRPr lang="en-US"/>
          </a:p>
        </p:txBody>
      </p:sp>
    </p:spTree>
    <p:extLst>
      <p:ext uri="{BB962C8B-B14F-4D97-AF65-F5344CB8AC3E}">
        <p14:creationId xmlns:p14="http://schemas.microsoft.com/office/powerpoint/2010/main" val="429179458"/>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38:35.029"/>
    </inkml:context>
    <inkml:brush xml:id="br0">
      <inkml:brushProperty name="width" value="0.1" units="cm"/>
      <inkml:brushProperty name="height" value="0.1" units="cm"/>
      <inkml:brushProperty name="color" value="#008C3A"/>
    </inkml:brush>
  </inkml:definitions>
  <inkml:trace contextRef="#ctx0" brushRef="#br0">2242 97 9830,'0'-2'22,"-1"0"0,1-1 0,0 1 0,0 0 0,-1 0 0,0 0 0,1 0-1,-1 0 1,0 0 0,0 0 0,0 0 0,0 0 0,0 0 0,0 0 0,-1 0 0,1 1 0,-1-1 0,1 1 0,-1-1 0,0 1-1,1-1 1,-1 1 0,0 0 0,0 0 0,0 0 0,0 0 0,-2-1 0,-7-1 189,0 0 1,-1 0 0,1 1-1,-14-1 1,-2-1 81,-81-10 941,-1 4 0,0 4 1,-117 11-1,103 4 289,1 6 1,-156 40-1,233-40-791,0 2-1,1 2 0,-66 38 1,89-46-420,-68 42 246,2 3 0,-114 97 0,127-95-558,35-29 0,1 1 0,-64 69 0,86-79 0,0 0 0,1 2 0,1 0 0,1 0 0,1 1 0,1 1 0,1 0 0,-11 42 0,17-51 0,2-1 0,-1 0 0,2 0 0,0 1 0,1-1 0,0 1 0,1-1 0,1 1 0,0-1 0,1 0 0,0 0 0,2 0 0,-1 0 0,2-1 0,-1 0 0,2 0 0,9 15 0,-3-12 0,-1 0 0,2-2 0,0 1 0,0-2 0,1 0 0,1-1 0,0 0 0,1-1 0,19 9 0,104 74 0,-3-11 0,48 26 0,-39-42 0,194 61 0,-219-90 0,170 31 0,130-8 0,-226-47 0,195-13 0,-185-3 0,146 3 0,314-4 0,-568-1 0,0-4 0,-1-4 0,141-38 0,-103 21 0,190-17 0,-109 19 0,-175 22 0,164-25 0,228-5 0,829 35 0,-545 3 0,-43 28 0,-4 38 0,59 4 0,-259-43 0,113-18 0,-436-13 0,-108 1-92,0-1 1,0-2 0,-1-2 0,1-1 0,-1-2-1,-1-1 1,0-2 0,0-2 0,-1-1 0,0-2-1,41-26 1,-70 37 17,-1 0 0,1-1-1,-1 0 1,0 0 0,0 0-1,-1-1 1,0 0 0,0 1 0,0-2-1,-1 1 1,0 0 0,0-1-1,-1 1 1,0-1 0,1-12-1,2-16-493,2-72 0,-7 100 510,0-7-103,-1 0 0,0 0 0,-1 0 1,-1 0-1,0 0 0,-1 1 0,-1 0 1,0 0-1,-1 0 0,0 0 0,-1 1 0,-1 0 1,0 0-1,-1 1 0,0 0 0,-16-16 0,-13-12-513,-2 2-1,-2 1 0,-1 2 1,-2 2-1,-1 2 1,-50-25-1,-21-4-1408,-174-61-1,47 38 1646,-310-63-1,-269 8 33,-365 54 8499,-9 75 194,1178 9-8283,-505-16-4,52 1 0,-684-52 0,796 33 0,17 3 0,292 25 0,-536-41 0,482 42 0,-125-21 0,124 12 0,-119-2 0,183 16 0,-58-1 0,-122 16 0,177-9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38:40.956"/>
    </inkml:context>
    <inkml:brush xml:id="br0">
      <inkml:brushProperty name="width" value="0.1" units="cm"/>
      <inkml:brushProperty name="height" value="0.1" units="cm"/>
      <inkml:brushProperty name="color" value="#008C3A"/>
    </inkml:brush>
  </inkml:definitions>
  <inkml:trace contextRef="#ctx0" brushRef="#br0">2054 0 9830,'-109'1'2205,"0"4"-1,-153 26 1,-176 67 1948,-264 42 929,649-133-4890,-75 19 0,110-21-174,0 1 1,1 0 0,-1 2 0,1 0 0,0 1 0,1 0 0,-23 19 0,31-20-19,0 0 0,1 1 0,0 0 0,1 0 0,0 0 0,0 1 0,1 0 0,1 0 0,0 0 0,0 1 0,1 0 0,0 0 0,-2 11 0,-1 18 0,1 0 0,0 49 0,4-54 0,2 0 0,1 0 0,13 66 0,-13-90 0,1 1 0,1-1 0,0 0 0,1 0 0,0 0 0,1 0 0,0-1 0,0 0 0,1 0 0,0-1 0,1 0 0,0 0 0,1-1 0,0 0 0,10 8 0,4-1 0,1-2 0,1 0 0,0-1 0,50 15 0,111 19 0,-52-16 0,264 49 0,-334-68 0,142 10 0,-138-17 0,115 21 0,124 26 0,-123-25 0,42 3 0,8 1 0,571 73 0,265-61 0,15-42 0,-1026 3 0,0 3 0,73 16 0,-65-9 0,85 5 0,72-4 0,130 3 0,-273-16 0,-39 1 0,1-2 0,78-10 0,-110 7-87,-1 0 1,1-1 0,-1 0 0,1-1 0,-2 0-1,1-1 1,0 0 0,-1-1 0,0 1-1,10-11 1,12-14-514,33-41-1,-57 63 566,11-14-288,-1-2 0,-1 0 0,-2 0 0,0-2 0,-1 0 0,-2 0 0,-1-1 0,-1-1 0,9-49 0,2-9-427,-10 50 139,-2-1 0,7-71-1,-13 71 376,1-4-332,-2 1-1,-2-1 1,-11-75 0,9 106 578,0 1 1,0 0-1,-1 0 1,-1 1 0,1-1-1,-1 1 1,-1 0-1,0 1 1,0-1 0,-1 1-1,0 0 1,-1 1 0,1-1-1,-16-10 1,-6-1 265,-1 2-1,-1 0 1,-37-13 0,3 1-589,-302-111 257,-154 6 3019,475 126-2772,32 6-82,-1 0 0,0-1 0,1-1 0,0 0 0,0-1 0,-22-11 0,21 6-82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39:21.093"/>
    </inkml:context>
    <inkml:brush xml:id="br0">
      <inkml:brushProperty name="width" value="0.1" units="cm"/>
      <inkml:brushProperty name="height" value="0.1" units="cm"/>
      <inkml:brushProperty name="color" value="#008C3A"/>
    </inkml:brush>
  </inkml:definitions>
  <inkml:trace contextRef="#ctx0" brushRef="#br0">0 0 9830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39:21.486"/>
    </inkml:context>
    <inkml:brush xml:id="br0">
      <inkml:brushProperty name="width" value="0.1" units="cm"/>
      <inkml:brushProperty name="height" value="0.1" units="cm"/>
      <inkml:brushProperty name="color" value="#008C3A"/>
    </inkml:brush>
  </inkml:definitions>
  <inkml:trace contextRef="#ctx0" brushRef="#br0">1 1 9830,'0'0'0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39:22.253"/>
    </inkml:context>
    <inkml:brush xml:id="br0">
      <inkml:brushProperty name="width" value="0.1" units="cm"/>
      <inkml:brushProperty name="height" value="0.1" units="cm"/>
      <inkml:brushProperty name="color" value="#008C3A"/>
    </inkml:brush>
  </inkml:definitions>
  <inkml:trace contextRef="#ctx0" brushRef="#br0">1 1 9830,'0'0'0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40:01.358"/>
    </inkml:context>
    <inkml:brush xml:id="br0">
      <inkml:brushProperty name="width" value="0.1" units="cm"/>
      <inkml:brushProperty name="height" value="0.1" units="cm"/>
      <inkml:brushProperty name="color" value="#008C3A"/>
    </inkml:brush>
  </inkml:definitions>
  <inkml:trace contextRef="#ctx0" brushRef="#br0">0 1 9830,'0'0'0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39:05.678"/>
    </inkml:context>
    <inkml:brush xml:id="br0">
      <inkml:brushProperty name="width" value="0.1" units="cm"/>
      <inkml:brushProperty name="height" value="0.1" units="cm"/>
      <inkml:brushProperty name="color" value="#008C3A"/>
    </inkml:brush>
  </inkml:definitions>
  <inkml:trace contextRef="#ctx0" brushRef="#br0">1 0 9830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39:06.230"/>
    </inkml:context>
    <inkml:brush xml:id="br0">
      <inkml:brushProperty name="width" value="0.1" units="cm"/>
      <inkml:brushProperty name="height" value="0.1" units="cm"/>
      <inkml:brushProperty name="color" value="#008C3A"/>
    </inkml:brush>
  </inkml:definitions>
  <inkml:trace contextRef="#ctx0" brushRef="#br0">0 1 9830,'0'0'0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39:06.673"/>
    </inkml:context>
    <inkml:brush xml:id="br0">
      <inkml:brushProperty name="width" value="0.1" units="cm"/>
      <inkml:brushProperty name="height" value="0.1" units="cm"/>
      <inkml:brushProperty name="color" value="#008C3A"/>
    </inkml:brush>
  </inkml:definitions>
  <inkml:trace contextRef="#ctx0" brushRef="#br0">1 0 9830,'0'0'0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39:06.815"/>
    </inkml:context>
    <inkml:brush xml:id="br0">
      <inkml:brushProperty name="width" value="0.1" units="cm"/>
      <inkml:brushProperty name="height" value="0.1" units="cm"/>
      <inkml:brushProperty name="color" value="#008C3A"/>
    </inkml:brush>
  </inkml:definitions>
  <inkml:trace contextRef="#ctx0" brushRef="#br0">1 0 9830,'0'0'0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39:09.621"/>
    </inkml:context>
    <inkml:brush xml:id="br0">
      <inkml:brushProperty name="width" value="0.1" units="cm"/>
      <inkml:brushProperty name="height" value="0.1" units="cm"/>
      <inkml:brushProperty name="color" value="#008C3A"/>
    </inkml:brush>
  </inkml:definitions>
  <inkml:trace contextRef="#ctx0" brushRef="#br0">0 0 9830,'0'0'0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39:15.656"/>
    </inkml:context>
    <inkml:brush xml:id="br0">
      <inkml:brushProperty name="width" value="0.1" units="cm"/>
      <inkml:brushProperty name="height" value="0.1" units="cm"/>
      <inkml:brushProperty name="color" value="#008C3A"/>
    </inkml:brush>
  </inkml:definitions>
  <inkml:trace contextRef="#ctx0" brushRef="#br0">1 0 9830,'0'0'0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39:34.255"/>
    </inkml:context>
    <inkml:brush xml:id="br0">
      <inkml:brushProperty name="width" value="0.1" units="cm"/>
      <inkml:brushProperty name="height" value="0.1" units="cm"/>
      <inkml:brushProperty name="color" value="#008C3A"/>
    </inkml:brush>
  </inkml:definitions>
  <inkml:trace contextRef="#ctx0" brushRef="#br0">0 1 9830,'0'0'0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39:34.918"/>
    </inkml:context>
    <inkml:brush xml:id="br0">
      <inkml:brushProperty name="width" value="0.1" units="cm"/>
      <inkml:brushProperty name="height" value="0.1" units="cm"/>
      <inkml:brushProperty name="color" value="#008C3A"/>
    </inkml:brush>
  </inkml:definitions>
  <inkml:trace contextRef="#ctx0" brushRef="#br0">13 1 9830,'0'5'273,"-5"2"0,-2 0-273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45:15.999"/>
    </inkml:context>
    <inkml:brush xml:id="br0">
      <inkml:brushProperty name="width" value="0.035" units="cm"/>
      <inkml:brushProperty name="height" value="0.035" units="cm"/>
      <inkml:brushProperty name="color" value="#E71224"/>
    </inkml:brush>
  </inkml:definitions>
  <inkml:trace contextRef="#ctx0" brushRef="#br0">14072 612 24575,'-470'-38'18,"205"9"-389,-1587-102-3440,1108 84 2319,-84-8-1374,-2111-105 863,-10 89-864,2491 71 2869,-35 5 749,-191-1 5957,49-51-898,230 9-5689,-271 34-121,600 6 0,-80 14 0,131-12 0,0 1 0,1 1 0,0 1 0,0 1 0,1 1 0,0 2 0,-28 16 0,43-22 0,1 1 0,-1 1 0,1 0 0,0 0 0,0 0 0,1 1 0,0-1 0,1 2 0,-1-1 0,-6 16 0,-2 8 0,-16 58 0,5-16 0,9-26 58,-13 70-1,5-17-1537,18-79-5346</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45:16.779"/>
    </inkml:context>
    <inkml:brush xml:id="br0">
      <inkml:brushProperty name="width" value="0.035" units="cm"/>
      <inkml:brushProperty name="height" value="0.035" units="cm"/>
      <inkml:brushProperty name="color" value="#E71224"/>
    </inkml:brush>
  </inkml:definitions>
  <inkml:trace contextRef="#ctx0" brushRef="#br0">1 1 24575,'1'11'0,"1"0"0,0 0 0,0 0 0,1 0 0,1-1 0,0 1 0,8 15 0,6 18 0,191 579 0,-204-605 0,1 0 0,1 0 0,1-1 0,0 1 0,14 19 0,-18-32 0,0 0 0,-1-1 0,2 1 0,-1-1 0,1 0 0,-1 0 0,1 0 0,0-1 0,0 0 0,1 0 0,-1 0 0,1 0 0,-1-1 0,1 0 0,0 0 0,0-1 0,0 0 0,0 0 0,0 0 0,7 0 0,14-2 0,-1 0 0,0-2 0,0-1 0,0-1 0,-1-2 0,47-17 0,143-77 0,-168 76 0,-22 12-151,-1-1-1,0-1 0,-1-1 0,0-1 1,-1-1-1,-2-1 0,0-1 1,21-27-1,-17 14-6674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45:17.938"/>
    </inkml:context>
    <inkml:brush xml:id="br0">
      <inkml:brushProperty name="width" value="0.035" units="cm"/>
      <inkml:brushProperty name="height" value="0.035" units="cm"/>
      <inkml:brushProperty name="color" value="#E71224"/>
    </inkml:brush>
  </inkml:definitions>
  <inkml:trace contextRef="#ctx0" brushRef="#br0">0 1147 24575,'12'-1'0,"0"0"0,0-1 0,-1 0 0,1-1 0,19-8 0,17-4 0,368-101 0,-72 18 0,145-41 0,-332 91 0,78-28 0,-190 58 0,-23 11 0,0-2 0,-1 0 0,0-2 0,31-20 0,-10 0 0,2 1 0,1 2 0,50-22 0,1 7 0,-2-4 0,128-83 0,63-39-1365,-243 147-5461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4:45:19.262"/>
    </inkml:context>
    <inkml:brush xml:id="br0">
      <inkml:brushProperty name="width" value="0.035" units="cm"/>
      <inkml:brushProperty name="height" value="0.035" units="cm"/>
      <inkml:brushProperty name="color" value="#E71224"/>
    </inkml:brush>
  </inkml:definitions>
  <inkml:trace contextRef="#ctx0" brushRef="#br0">433 1 24575,'-2'1'0,"0"0"0,-1 1 0,1-1 0,0 1 0,0 0 0,0-1 0,0 1 0,0 0 0,0 0 0,1 1 0,-1-1 0,1 0 0,-3 5 0,-5 5 0,-45 53 0,-23 26 0,-72 114 0,116-158 0,16-23 0,-26 46 0,40-63 0,0 0 0,0 0 0,0 0 0,1 1 0,0-1 0,0 0 0,1 1 0,0 0 0,0-1 0,1 1 0,1 13 0,0-16 0,0-1 0,1 0 0,0 1 0,0-1 0,0 0 0,0 0 0,1 0 0,0 0 0,0 0 0,0-1 0,0 1 0,0-1 0,1 0 0,-1 0 0,1 0 0,0 0 0,0-1 0,4 3 0,12 6 0,1-1 0,28 10 0,-40-17 0,38 11 0,2-2 0,-1-2 0,71 6 0,-86-12 0,118 7 0,186-10 0,-147-4 0,-28 3-1365,-137 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22F2B7-FFDB-41E1-B739-B66F34EE0C67}" type="datetimeFigureOut">
              <a:rPr lang="en-US" smtClean="0"/>
              <a:t>10/18/2026</a:t>
            </a:fld>
            <a:endParaRPr lang="en-US"/>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13BC41-52AF-424E-A0D0-23104C8B5E2E}" type="slidenum">
              <a:rPr lang="en-US" smtClean="0"/>
              <a:t>‹#›</a:t>
            </a:fld>
            <a:endParaRPr lang="en-US"/>
          </a:p>
        </p:txBody>
      </p:sp>
    </p:spTree>
    <p:extLst>
      <p:ext uri="{BB962C8B-B14F-4D97-AF65-F5344CB8AC3E}">
        <p14:creationId xmlns:p14="http://schemas.microsoft.com/office/powerpoint/2010/main" val="92642322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D44C4-2F18-E8AA-2596-199B79272B15}"/>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0A303B4E-79D3-FFDC-7EB6-E8D868F88426}"/>
              </a:ext>
            </a:extLst>
          </p:cNvPr>
          <p:cNvSpPr>
            <a:spLocks noGrp="1" noRot="1" noChangeAspect="1"/>
          </p:cNvSpPr>
          <p:nvPr>
            <p:ph type="sldImg"/>
          </p:nvPr>
        </p:nvSpPr>
        <p:spPr>
          <a:xfrm>
            <a:off x="-44450" y="1543050"/>
            <a:ext cx="7404100" cy="4165600"/>
          </a:xfrm>
          <a:prstGeom prst="rect">
            <a:avLst/>
          </a:prstGeom>
        </p:spPr>
        <p:txBody>
          <a:bodyPr/>
          <a:lstStyle/>
          <a:p>
            <a:endParaRPr lang="en-US"/>
          </a:p>
        </p:txBody>
      </p:sp>
      <p:sp>
        <p:nvSpPr>
          <p:cNvPr id="3" name="Symbol zastępczy notatek 2">
            <a:extLst>
              <a:ext uri="{FF2B5EF4-FFF2-40B4-BE49-F238E27FC236}">
                <a16:creationId xmlns:a16="http://schemas.microsoft.com/office/drawing/2014/main" id="{28C37341-6D2E-B639-27EF-47C952EBF7D6}"/>
              </a:ext>
            </a:extLst>
          </p:cNvPr>
          <p:cNvSpPr>
            <a:spLocks noGrp="1"/>
          </p:cNvSpPr>
          <p:nvPr>
            <p:ph type="body" idx="1"/>
          </p:nvPr>
        </p:nvSpPr>
        <p:spPr>
          <a:xfrm>
            <a:off x="731520" y="5940742"/>
            <a:ext cx="5852160" cy="4860608"/>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b="1" u="sng" dirty="0"/>
              <a:t>Prezentacja (39 slajdów)</a:t>
            </a:r>
            <a:endParaRPr lang="pl-PL" b="0" dirty="0"/>
          </a:p>
          <a:p>
            <a:endParaRPr lang="pl-PL" b="0" dirty="0"/>
          </a:p>
          <a:p>
            <a:r>
              <a:rPr lang="pl-PL" b="0" dirty="0"/>
              <a:t>######################## </a:t>
            </a:r>
          </a:p>
          <a:p>
            <a:r>
              <a:rPr lang="pl-PL" b="0" dirty="0"/>
              <a:t>Dzień Dobry. Miło mi Państwa przywitać na mojej prezentacji. Będziemy dzisiaj rozmawiać o uczenie maszynowym, które jest jedną z dziedzin sztucznej inteligencji.</a:t>
            </a:r>
          </a:p>
          <a:p>
            <a:r>
              <a:rPr lang="pl-PL" b="0" dirty="0"/>
              <a:t>Ja nazywam się Tomasz Ziss i pracuję w firmie Accenture.</a:t>
            </a:r>
            <a:endParaRPr lang="pl-PL" b="1" dirty="0"/>
          </a:p>
          <a:p>
            <a:endParaRPr lang="pl-PL" b="1" dirty="0"/>
          </a:p>
        </p:txBody>
      </p:sp>
    </p:spTree>
    <p:extLst>
      <p:ext uri="{BB962C8B-B14F-4D97-AF65-F5344CB8AC3E}">
        <p14:creationId xmlns:p14="http://schemas.microsoft.com/office/powerpoint/2010/main" val="3880484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Kilka słów o mnie. Jestem absolwentem tego liceum w którym się teraz znajdujemy. </a:t>
            </a:r>
          </a:p>
          <a:p>
            <a:r>
              <a:rPr lang="pl-PL" dirty="0"/>
              <a:t>Maturę zdałem w 2004 roku. Była to ostatnia tzw. stara matura, gdzie egzaminy składały się z części pisemnej i ustnej.</a:t>
            </a:r>
          </a:p>
          <a:p>
            <a:r>
              <a:rPr lang="pl-PL" dirty="0"/>
              <a:t>Uczęszczałem do klasy matematyczno-fizycznej. Moim wychowawcą był obecny z nami profesor Kleban. </a:t>
            </a:r>
          </a:p>
          <a:p>
            <a:r>
              <a:rPr lang="pl-PL" dirty="0"/>
              <a:t>Pracuję w branży IT od około 15 lat, mieszkam w Warszawie. Jestem absolwentem informatyki na wydziale Elektroniki i Technik Informacyjnych.</a:t>
            </a:r>
            <a:endParaRPr lang="en-US" dirty="0"/>
          </a:p>
        </p:txBody>
      </p:sp>
    </p:spTree>
    <p:extLst>
      <p:ext uri="{BB962C8B-B14F-4D97-AF65-F5344CB8AC3E}">
        <p14:creationId xmlns:p14="http://schemas.microsoft.com/office/powerpoint/2010/main" val="3625802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Większość z nas w sposób bezpośredni ze sztuczną inteligencją ma kontakt w swoim telefonie.</a:t>
            </a:r>
          </a:p>
          <a:p>
            <a:r>
              <a:rPr lang="pl-PL" dirty="0"/>
              <a:t>Mam na myśli bardzo popularne aplikacje jak </a:t>
            </a:r>
            <a:r>
              <a:rPr lang="pl-PL" dirty="0" err="1"/>
              <a:t>ChatGPT</a:t>
            </a:r>
            <a:r>
              <a:rPr lang="pl-PL" dirty="0"/>
              <a:t>, Claude, </a:t>
            </a:r>
            <a:r>
              <a:rPr lang="pl-PL" dirty="0" err="1"/>
              <a:t>Perplexity</a:t>
            </a:r>
            <a:r>
              <a:rPr lang="pl-PL" dirty="0"/>
              <a:t>.</a:t>
            </a:r>
          </a:p>
          <a:p>
            <a:r>
              <a:rPr lang="pl-PL" dirty="0"/>
              <a:t>To są tak zwane duże modele językowe, które pozwalają generować </a:t>
            </a:r>
            <a:r>
              <a:rPr lang="pl-PL" dirty="0" err="1"/>
              <a:t>text</a:t>
            </a:r>
            <a:r>
              <a:rPr lang="pl-PL" dirty="0"/>
              <a:t> na podstawie podanego wcześniej. </a:t>
            </a:r>
          </a:p>
          <a:p>
            <a:r>
              <a:rPr lang="pl-PL" dirty="0"/>
              <a:t>Odpowiadają na nasze pytania albo generują tekst/pliki/obrazy na naszą prośbę.</a:t>
            </a:r>
          </a:p>
          <a:p>
            <a:r>
              <a:rPr lang="pl-PL" dirty="0"/>
              <a:t>Przykładowo dla zdania kot lub … dokończeniem przez </a:t>
            </a:r>
            <a:r>
              <a:rPr lang="pl-PL" dirty="0" err="1"/>
              <a:t>ChatGPT</a:t>
            </a:r>
            <a:r>
              <a:rPr lang="pl-PL" dirty="0"/>
              <a:t> będzie mleko. Model obliczył że słowo „mleko” jest najbardziej prawdopodobne </a:t>
            </a:r>
          </a:p>
          <a:p>
            <a:r>
              <a:rPr lang="pl-PL" dirty="0"/>
              <a:t>(prawdopodobieństwo to że jest właściwe wynosi 72%). </a:t>
            </a:r>
          </a:p>
          <a:p>
            <a:r>
              <a:rPr lang="pl-PL" dirty="0"/>
              <a:t>Modele językowe wykorzystują inne model uczenia maszynowego do swojego działania w tym sieci neuronowe, o których dzisiaj troszkę więcej Państwu opowiem.</a:t>
            </a:r>
            <a:endParaRPr lang="en-US" dirty="0"/>
          </a:p>
        </p:txBody>
      </p:sp>
    </p:spTree>
    <p:extLst>
      <p:ext uri="{BB962C8B-B14F-4D97-AF65-F5344CB8AC3E}">
        <p14:creationId xmlns:p14="http://schemas.microsoft.com/office/powerpoint/2010/main" val="3231954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Jedną z dziedzin Sztucznej Inteligencji, w której zawierają się wspomniane sieci neuronowe jest Uczenie Maszynowe.</a:t>
            </a:r>
          </a:p>
          <a:p>
            <a:r>
              <a:rPr lang="pl-PL" dirty="0"/>
              <a:t>Czym jest Uczenie Maszynowe? Najprościej będzie je porównać z pisaniem programów komputerowych.</a:t>
            </a:r>
          </a:p>
          <a:p>
            <a:r>
              <a:rPr lang="pl-PL" dirty="0"/>
              <a:t>Wyobraźmy sobie program komputerowy, który rozpoznaje czy dany email jest spamem czy nie. Programista piszący taki program</a:t>
            </a:r>
          </a:p>
          <a:p>
            <a:r>
              <a:rPr lang="pl-PL" dirty="0"/>
              <a:t>tworzy skomplikowane reguły w programie, np.: tworzy listę słów zakazanych słów i warunków (np. błędy ortograficzne, nieznany nadawca, pilność tematu, </a:t>
            </a:r>
          </a:p>
          <a:p>
            <a:r>
              <a:rPr lang="pl-PL" dirty="0"/>
              <a:t>ponawianie maila w krótkim czasie). Odpowiedzią program jest dla prawdopodobieństwo że dany email to spam. </a:t>
            </a:r>
          </a:p>
          <a:p>
            <a:r>
              <a:rPr lang="pl-PL" dirty="0"/>
              <a:t>Uczenie maszynowe rozwiązuje ten problem dwustopniowo:</a:t>
            </a:r>
          </a:p>
          <a:p>
            <a:endParaRPr lang="pl-PL" dirty="0"/>
          </a:p>
          <a:p>
            <a:pPr marL="228600" indent="-228600">
              <a:buAutoNum type="alphaLcParenR"/>
            </a:pPr>
            <a:r>
              <a:rPr lang="pl-PL" dirty="0"/>
              <a:t>Kroki pierwszy to budowa modelu. Podajemy mu przykłady (tysiące, miliony, miliardy). Model uczy się reguł.</a:t>
            </a:r>
          </a:p>
          <a:p>
            <a:pPr marL="228600" indent="-228600">
              <a:buAutoNum type="alphaLcParenR"/>
            </a:pPr>
            <a:r>
              <a:rPr lang="pl-PL" dirty="0"/>
              <a:t>Drugi krok to użycie modelu. Model dostaje na wejściu nowe dane. Na podstawie nauczonych reguł zwraca wyniki.</a:t>
            </a:r>
          </a:p>
        </p:txBody>
      </p:sp>
    </p:spTree>
    <p:extLst>
      <p:ext uri="{BB962C8B-B14F-4D97-AF65-F5344CB8AC3E}">
        <p14:creationId xmlns:p14="http://schemas.microsoft.com/office/powerpoint/2010/main" val="1245113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2F62A-C6A1-E249-32BC-9253FA367493}"/>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61DC8F0C-D703-B80C-B08C-6E5A5EFA6C36}"/>
              </a:ext>
            </a:extLst>
          </p:cNvPr>
          <p:cNvSpPr>
            <a:spLocks noGrp="1" noRot="1" noChangeAspect="1"/>
          </p:cNvSpPr>
          <p:nvPr>
            <p:ph type="sldImg"/>
          </p:nvPr>
        </p:nvSpPr>
        <p:spPr>
          <a:xfrm>
            <a:off x="-44450" y="1543050"/>
            <a:ext cx="7404100" cy="4165600"/>
          </a:xfrm>
          <a:prstGeom prst="rect">
            <a:avLst/>
          </a:prstGeom>
        </p:spPr>
        <p:txBody>
          <a:bodyPr/>
          <a:lstStyle/>
          <a:p>
            <a:endParaRPr lang="en-US"/>
          </a:p>
        </p:txBody>
      </p:sp>
      <p:sp>
        <p:nvSpPr>
          <p:cNvPr id="3" name="Symbol zastępczy notatek 2">
            <a:extLst>
              <a:ext uri="{FF2B5EF4-FFF2-40B4-BE49-F238E27FC236}">
                <a16:creationId xmlns:a16="http://schemas.microsoft.com/office/drawing/2014/main" id="{F90FCDE0-8A76-400C-7516-54BCDFBF0958}"/>
              </a:ext>
            </a:extLst>
          </p:cNvPr>
          <p:cNvSpPr>
            <a:spLocks noGrp="1"/>
          </p:cNvSpPr>
          <p:nvPr>
            <p:ph type="body" idx="1"/>
          </p:nvPr>
        </p:nvSpPr>
        <p:spPr>
          <a:xfrm>
            <a:off x="731520" y="5940742"/>
            <a:ext cx="5852160" cy="4860608"/>
          </a:xfrm>
          <a:prstGeom prst="rect">
            <a:avLst/>
          </a:prstGeom>
        </p:spPr>
        <p:txBody>
          <a:bodyPr/>
          <a:lstStyle/>
          <a:p>
            <a:r>
              <a:rPr lang="pl-PL" b="0" dirty="0"/>
              <a:t>W uczeniu maszynowym wyróżnia się dwie kategorii problemów.</a:t>
            </a:r>
          </a:p>
          <a:p>
            <a:r>
              <a:rPr lang="pl-PL" b="0" dirty="0"/>
              <a:t>Nadzorowane lub nienadzorowane. </a:t>
            </a:r>
          </a:p>
          <a:p>
            <a:r>
              <a:rPr lang="pl-PL" b="0" dirty="0"/>
              <a:t>Nadzorowane są wtedy kiedy zbiór treningowy zawiera etykiety przypisane do próbek czy też nie.</a:t>
            </a:r>
          </a:p>
          <a:p>
            <a:r>
              <a:rPr lang="pl-PL" b="0" dirty="0"/>
              <a:t>W nienadzorowanym dane treningowe nie zawierają takich etykiet.</a:t>
            </a:r>
            <a:br>
              <a:rPr lang="pl-PL" b="0" dirty="0"/>
            </a:br>
            <a:r>
              <a:rPr lang="pl-PL" b="0" dirty="0"/>
              <a:t>Klasyfikacja to problemy gdzie finalnie nowe dane przypisujemy do skończonej liczby możliwości z dane zbioru. Spam/Zwykły Email. Mamy tutaj dwie możliwości.</a:t>
            </a:r>
          </a:p>
          <a:p>
            <a:r>
              <a:rPr lang="pl-PL" b="0" dirty="0"/>
              <a:t>Regresja to problem gdzie wynikiem dla danych jest wartość liczbowa. Wartości liczbowych jest nieskończenie wiele. Przykład to przewidzenie ceny danej nieruchomości.</a:t>
            </a:r>
          </a:p>
          <a:p>
            <a:r>
              <a:rPr lang="pl-PL" b="0" dirty="0"/>
              <a:t>Problemy nienadzorowane są troszkę trudniejsze. </a:t>
            </a:r>
            <a:r>
              <a:rPr lang="pl-PL" b="0" dirty="0" err="1"/>
              <a:t>Klastrowanie</a:t>
            </a:r>
            <a:r>
              <a:rPr lang="pl-PL" b="0" dirty="0"/>
              <a:t> to podzielenie danych na kilka zbiorów (nie znamy ich wcześniej), gdzie dane o podobnej charakterystyce są bliżej siebie niż inne.</a:t>
            </a:r>
          </a:p>
          <a:p>
            <a:r>
              <a:rPr lang="pl-PL" b="0" dirty="0"/>
              <a:t>Przykładowo może to być problem segmentacji klientów. Czy klient jest w grupie, która będzie u Nas kupować czy raczej jego zakup był jednorazowy i raczej do nas już nie wróci.</a:t>
            </a:r>
          </a:p>
          <a:p>
            <a:r>
              <a:rPr lang="pl-PL" b="0" dirty="0"/>
              <a:t>Redukcja wymiarowości to problem gdzie spośród wielkiej liczby atrybutów danych chcemy uprościć do kilku. Pozwala to odfiltrować nieistotne cechy dla naszego problemu i zachować maksimum</a:t>
            </a:r>
          </a:p>
          <a:p>
            <a:r>
              <a:rPr lang="pl-PL" b="0" dirty="0"/>
              <a:t>Informacji w jak najmniejszej liczbie atrybutów. Ograniczamy szum i wspomagamy proces uczenia maszynowego.</a:t>
            </a:r>
          </a:p>
          <a:p>
            <a:endParaRPr lang="pl-PL" b="0" dirty="0"/>
          </a:p>
          <a:p>
            <a:endParaRPr lang="pl-PL" b="0" dirty="0"/>
          </a:p>
        </p:txBody>
      </p:sp>
    </p:spTree>
    <p:extLst>
      <p:ext uri="{BB962C8B-B14F-4D97-AF65-F5344CB8AC3E}">
        <p14:creationId xmlns:p14="http://schemas.microsoft.com/office/powerpoint/2010/main" val="623111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Tutaj możemy zaobserwować przykład redukcji wymiarów. Mamy tutaj zdjęcia wybranych polityków z okolic roku 2000. </a:t>
            </a:r>
          </a:p>
          <a:p>
            <a:r>
              <a:rPr lang="pl-PL" dirty="0"/>
              <a:t>Redukcja wymiarowości pozwolił bardzo mocno </a:t>
            </a:r>
            <a:r>
              <a:rPr lang="pl-PL" dirty="0" err="1"/>
              <a:t>odszumić</a:t>
            </a:r>
            <a:r>
              <a:rPr lang="pl-PL" dirty="0"/>
              <a:t> obraz.</a:t>
            </a:r>
          </a:p>
        </p:txBody>
      </p:sp>
    </p:spTree>
    <p:extLst>
      <p:ext uri="{BB962C8B-B14F-4D97-AF65-F5344CB8AC3E}">
        <p14:creationId xmlns:p14="http://schemas.microsoft.com/office/powerpoint/2010/main" val="1160688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Klasyfikacja. Dane trening zawierają zdjęcie polityka wraz z jego imieniem i nazwiskiem.</a:t>
            </a:r>
          </a:p>
          <a:p>
            <a:r>
              <a:rPr lang="pl-PL" dirty="0"/>
              <a:t>Nasz model dostaje nowe zdjęcie i podać imię i nazwisko polityka na zdjęciu.</a:t>
            </a:r>
            <a:endParaRPr lang="en-US" dirty="0"/>
          </a:p>
        </p:txBody>
      </p:sp>
    </p:spTree>
    <p:extLst>
      <p:ext uri="{BB962C8B-B14F-4D97-AF65-F5344CB8AC3E}">
        <p14:creationId xmlns:p14="http://schemas.microsoft.com/office/powerpoint/2010/main" val="28526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err="1"/>
              <a:t>Klastrowanie</a:t>
            </a:r>
            <a:r>
              <a:rPr lang="pl-PL" dirty="0"/>
              <a:t>. Wejściowy obraz ma 16 milionów kolorów i jest bardzo duży. Kilkanaście megabajtów. </a:t>
            </a:r>
            <a:r>
              <a:rPr lang="pl-PL" dirty="0" err="1"/>
              <a:t>Klastrowanie</a:t>
            </a:r>
            <a:r>
              <a:rPr lang="pl-PL" dirty="0"/>
              <a:t> pozwala zmniejszyć ilość kolorów do 16.</a:t>
            </a:r>
          </a:p>
          <a:p>
            <a:r>
              <a:rPr lang="pl-PL" dirty="0"/>
              <a:t>Kosztem pewnej utraty jakości udało się go zmniejszyć do kilku kilobajtów. Mniej miejsce i szybsze przesyłanie.</a:t>
            </a:r>
            <a:endParaRPr lang="en-US" dirty="0"/>
          </a:p>
        </p:txBody>
      </p:sp>
    </p:spTree>
    <p:extLst>
      <p:ext uri="{BB962C8B-B14F-4D97-AF65-F5344CB8AC3E}">
        <p14:creationId xmlns:p14="http://schemas.microsoft.com/office/powerpoint/2010/main" val="2670390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144B3-0926-F947-0F31-B578793C7A18}"/>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0EB4A9D4-4051-FD32-EB96-F91A20BDDF8C}"/>
              </a:ext>
            </a:extLst>
          </p:cNvPr>
          <p:cNvSpPr>
            <a:spLocks noGrp="1" noRot="1" noChangeAspect="1"/>
          </p:cNvSpPr>
          <p:nvPr>
            <p:ph type="sldImg"/>
          </p:nvPr>
        </p:nvSpPr>
        <p:spPr>
          <a:xfrm>
            <a:off x="-44450" y="1543050"/>
            <a:ext cx="7404100" cy="4165600"/>
          </a:xfrm>
          <a:prstGeom prst="rect">
            <a:avLst/>
          </a:prstGeom>
        </p:spPr>
        <p:txBody>
          <a:bodyPr/>
          <a:lstStyle/>
          <a:p>
            <a:endParaRPr lang="en-US"/>
          </a:p>
        </p:txBody>
      </p:sp>
      <p:sp>
        <p:nvSpPr>
          <p:cNvPr id="3" name="Symbol zastępczy notatek 2">
            <a:extLst>
              <a:ext uri="{FF2B5EF4-FFF2-40B4-BE49-F238E27FC236}">
                <a16:creationId xmlns:a16="http://schemas.microsoft.com/office/drawing/2014/main" id="{EA647BD8-9BBE-3A8D-71C5-C276A332D9DD}"/>
              </a:ext>
            </a:extLst>
          </p:cNvPr>
          <p:cNvSpPr>
            <a:spLocks noGrp="1"/>
          </p:cNvSpPr>
          <p:nvPr>
            <p:ph type="body" idx="1"/>
          </p:nvPr>
        </p:nvSpPr>
        <p:spPr>
          <a:xfrm>
            <a:off x="731520" y="5940742"/>
            <a:ext cx="5852160" cy="4860608"/>
          </a:xfrm>
          <a:prstGeom prst="rect">
            <a:avLst/>
          </a:prstGeom>
        </p:spPr>
        <p:txBody>
          <a:bodyPr/>
          <a:lstStyle/>
          <a:p>
            <a:r>
              <a:rPr lang="pl-PL" b="0" dirty="0"/>
              <a:t>W dzisiejszej prezentacji skupimy się na uczeniu maszynowym w zakresie nadzorowanym. Jest z rozwiązań tam stosowanych są sieci neuronowych.</a:t>
            </a:r>
          </a:p>
          <a:p>
            <a:r>
              <a:rPr lang="pl-PL" b="0" dirty="0"/>
              <a:t>Sieci neuronowe to model, który uczy się na własnych błędach i występuje w większość używanych przez Nas usług – </a:t>
            </a:r>
            <a:r>
              <a:rPr lang="pl-PL" b="0" dirty="0" err="1"/>
              <a:t>ChatGPT</a:t>
            </a:r>
            <a:r>
              <a:rPr lang="pl-PL" b="0" dirty="0"/>
              <a:t>, filtry na Instagramie i </a:t>
            </a:r>
            <a:r>
              <a:rPr lang="pl-PL" b="0" dirty="0" err="1"/>
              <a:t>rekomtenacje</a:t>
            </a:r>
            <a:r>
              <a:rPr lang="pl-PL" b="0" dirty="0"/>
              <a:t> filmów i seriali na platformach </a:t>
            </a:r>
            <a:r>
              <a:rPr lang="pl-PL" b="0" dirty="0" err="1"/>
              <a:t>streamingowych</a:t>
            </a:r>
            <a:endParaRPr lang="pl-PL" b="0" dirty="0"/>
          </a:p>
          <a:p>
            <a:r>
              <a:rPr lang="pl-PL" b="0" dirty="0"/>
              <a:t>takich jak </a:t>
            </a:r>
            <a:r>
              <a:rPr lang="pl-PL" b="0" dirty="0" err="1"/>
              <a:t>Netflix</a:t>
            </a:r>
            <a:r>
              <a:rPr lang="pl-PL" b="0" dirty="0"/>
              <a:t>.</a:t>
            </a:r>
          </a:p>
        </p:txBody>
      </p:sp>
    </p:spTree>
    <p:extLst>
      <p:ext uri="{BB962C8B-B14F-4D97-AF65-F5344CB8AC3E}">
        <p14:creationId xmlns:p14="http://schemas.microsoft.com/office/powerpoint/2010/main" val="1434988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6F91D-9741-7AE9-E80B-8ED63B8483C5}"/>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74148605-504E-2557-A6B7-69ED22B79C31}"/>
              </a:ext>
            </a:extLst>
          </p:cNvPr>
          <p:cNvSpPr>
            <a:spLocks noGrp="1" noRot="1" noChangeAspect="1"/>
          </p:cNvSpPr>
          <p:nvPr>
            <p:ph type="sldImg"/>
          </p:nvPr>
        </p:nvSpPr>
        <p:spPr>
          <a:xfrm>
            <a:off x="-44450" y="1543050"/>
            <a:ext cx="7404100" cy="4165600"/>
          </a:xfrm>
          <a:prstGeom prst="rect">
            <a:avLst/>
          </a:prstGeom>
        </p:spPr>
        <p:txBody>
          <a:bodyPr/>
          <a:lstStyle/>
          <a:p>
            <a:endParaRPr lang="en-US"/>
          </a:p>
        </p:txBody>
      </p:sp>
      <p:sp>
        <p:nvSpPr>
          <p:cNvPr id="3" name="Symbol zastępczy notatek 2">
            <a:extLst>
              <a:ext uri="{FF2B5EF4-FFF2-40B4-BE49-F238E27FC236}">
                <a16:creationId xmlns:a16="http://schemas.microsoft.com/office/drawing/2014/main" id="{14C59F5E-0F8D-22CD-8EE9-098484910E7C}"/>
              </a:ext>
            </a:extLst>
          </p:cNvPr>
          <p:cNvSpPr>
            <a:spLocks noGrp="1"/>
          </p:cNvSpPr>
          <p:nvPr>
            <p:ph type="body" idx="1"/>
          </p:nvPr>
        </p:nvSpPr>
        <p:spPr>
          <a:xfrm>
            <a:off x="731520" y="5940742"/>
            <a:ext cx="5852160" cy="4860608"/>
          </a:xfrm>
          <a:prstGeom prst="rect">
            <a:avLst/>
          </a:prstGeom>
        </p:spPr>
        <p:txBody>
          <a:bodyPr/>
          <a:lstStyle/>
          <a:p>
            <a:r>
              <a:rPr lang="pl-PL" b="0" dirty="0"/>
              <a:t>Gdybyśmy chcieli sobie wyobrazić jak taka sieć działa wybralibyśmy sobie salę lekcyjną.</a:t>
            </a:r>
          </a:p>
          <a:p>
            <a:r>
              <a:rPr lang="pl-PL" b="0" dirty="0"/>
              <a:t>Wyobraźmy sobie że na tablicy jest obraz zwierzęcia. Sieć składa się z warstw, czyli z poszczególnych rzędów uczniów.</a:t>
            </a:r>
          </a:p>
          <a:p>
            <a:r>
              <a:rPr lang="pl-PL" b="0" dirty="0"/>
              <a:t>Wszystkie rzędów uczniów analizują obraz, starają się znaleźć charakterystyczne cechy dla danego obrazu – jakie jest tło, jakie są krawędzie, jakie kształty, kształt pyska.</a:t>
            </a:r>
          </a:p>
          <a:p>
            <a:r>
              <a:rPr lang="pl-PL" b="0" dirty="0"/>
              <a:t>Ostatni rząd uczniów to warstwa wyjściowa sieci. I ona na podstawie informacji przekazywanej od poprzednich uczniów odpowiada co jest na zdjęciu.</a:t>
            </a:r>
          </a:p>
          <a:p>
            <a:r>
              <a:rPr lang="pl-PL" b="0" dirty="0"/>
              <a:t>Odpowiedzi mogą być jednoznaczne, np.: „To jest pies” albo bardziej złożone np.” To jest pies na 97%,pewności i kot z prawdopodobieństwem 3”</a:t>
            </a:r>
          </a:p>
        </p:txBody>
      </p:sp>
    </p:spTree>
    <p:extLst>
      <p:ext uri="{BB962C8B-B14F-4D97-AF65-F5344CB8AC3E}">
        <p14:creationId xmlns:p14="http://schemas.microsoft.com/office/powerpoint/2010/main" val="2316742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Sieci neuronowa podlega procesowi uczenia. Stan początkowy to totalny chaos. Wiedza jakie posiadają warstwy uczniów jest losowa.</a:t>
            </a:r>
          </a:p>
          <a:p>
            <a:r>
              <a:rPr lang="pl-PL" dirty="0"/>
              <a:t>Sieć będzie się uczyć w taki sposób że będzie trenować ją na bardzo dużej liczbie zdjęć. O których będzie wiadomo jakie to zwierzę.</a:t>
            </a:r>
          </a:p>
          <a:p>
            <a:r>
              <a:rPr lang="pl-PL" dirty="0"/>
              <a:t>Po wytrenowaniu będzie taką sieć testować i finalnie gdy będzie zadowoleni z rezultatów będziemy ją używać na nowo powstałych zdjęciach.</a:t>
            </a:r>
            <a:endParaRPr lang="en-US" dirty="0"/>
          </a:p>
        </p:txBody>
      </p:sp>
    </p:spTree>
    <p:extLst>
      <p:ext uri="{BB962C8B-B14F-4D97-AF65-F5344CB8AC3E}">
        <p14:creationId xmlns:p14="http://schemas.microsoft.com/office/powerpoint/2010/main" val="3812139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ED574-CD3B-6EB0-7939-9F81047A226F}"/>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5A080A3E-AF4C-9E2B-3E26-7ABB9404E3B7}"/>
              </a:ext>
            </a:extLst>
          </p:cNvPr>
          <p:cNvSpPr>
            <a:spLocks noGrp="1" noRot="1" noChangeAspect="1"/>
          </p:cNvSpPr>
          <p:nvPr>
            <p:ph type="sldImg"/>
          </p:nvPr>
        </p:nvSpPr>
        <p:spPr>
          <a:xfrm>
            <a:off x="-44450" y="1543050"/>
            <a:ext cx="7404100" cy="4165600"/>
          </a:xfrm>
          <a:prstGeom prst="rect">
            <a:avLst/>
          </a:prstGeom>
        </p:spPr>
        <p:txBody>
          <a:bodyPr/>
          <a:lstStyle/>
          <a:p>
            <a:endParaRPr lang="en-US"/>
          </a:p>
        </p:txBody>
      </p:sp>
      <p:sp>
        <p:nvSpPr>
          <p:cNvPr id="3" name="Symbol zastępczy notatek 2">
            <a:extLst>
              <a:ext uri="{FF2B5EF4-FFF2-40B4-BE49-F238E27FC236}">
                <a16:creationId xmlns:a16="http://schemas.microsoft.com/office/drawing/2014/main" id="{A42DC398-BD66-8CBE-7E8D-DF9DBE7617F1}"/>
              </a:ext>
            </a:extLst>
          </p:cNvPr>
          <p:cNvSpPr>
            <a:spLocks noGrp="1"/>
          </p:cNvSpPr>
          <p:nvPr>
            <p:ph type="body" idx="1"/>
          </p:nvPr>
        </p:nvSpPr>
        <p:spPr>
          <a:xfrm>
            <a:off x="731520" y="5940742"/>
            <a:ext cx="5852160" cy="4860608"/>
          </a:xfrm>
          <a:prstGeom prst="rect">
            <a:avLst/>
          </a:prstGeom>
        </p:spPr>
        <p:txBody>
          <a:bodyPr/>
          <a:lstStyle/>
          <a:p>
            <a:r>
              <a:rPr lang="pl-PL" b="0" dirty="0"/>
              <a:t>Sieci neuronowe składają się z wielu warstw. Wyróżnia się warstwę wejściową, wyjściową a wszystkie warstwy pomiędzy to warstwy ukryte.</a:t>
            </a:r>
          </a:p>
          <a:p>
            <a:r>
              <a:rPr lang="pl-PL" b="0" dirty="0"/>
              <a:t>Każda warstwa składa się z neuronów, które mają przypisane pewne liczny czyli wagi. Pojedynczy neuron otrzymuje informacje z co najmniej jednego wejścia i produkuje wartość na swoim wyjściu w pewnie sposób.</a:t>
            </a:r>
          </a:p>
          <a:p>
            <a:r>
              <a:rPr lang="pl-PL" b="0" dirty="0"/>
              <a:t>Waga jaką posiada ma wpływ na to wyjście.</a:t>
            </a:r>
          </a:p>
        </p:txBody>
      </p:sp>
    </p:spTree>
    <p:extLst>
      <p:ext uri="{BB962C8B-B14F-4D97-AF65-F5344CB8AC3E}">
        <p14:creationId xmlns:p14="http://schemas.microsoft.com/office/powerpoint/2010/main" val="15544341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AEFA6-9C73-0695-1108-30535227FE71}"/>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66FC471D-2DE1-619F-28D6-2C3C56B041B7}"/>
              </a:ext>
            </a:extLst>
          </p:cNvPr>
          <p:cNvSpPr>
            <a:spLocks noGrp="1" noRot="1" noChangeAspect="1"/>
          </p:cNvSpPr>
          <p:nvPr>
            <p:ph type="sldImg"/>
          </p:nvPr>
        </p:nvSpPr>
        <p:spPr>
          <a:xfrm>
            <a:off x="-44450" y="1543050"/>
            <a:ext cx="7404100" cy="4165600"/>
          </a:xfrm>
          <a:prstGeom prst="rect">
            <a:avLst/>
          </a:prstGeom>
        </p:spPr>
        <p:txBody>
          <a:bodyPr/>
          <a:lstStyle/>
          <a:p>
            <a:endParaRPr lang="en-US"/>
          </a:p>
        </p:txBody>
      </p:sp>
      <p:sp>
        <p:nvSpPr>
          <p:cNvPr id="3" name="Symbol zastępczy notatek 2">
            <a:extLst>
              <a:ext uri="{FF2B5EF4-FFF2-40B4-BE49-F238E27FC236}">
                <a16:creationId xmlns:a16="http://schemas.microsoft.com/office/drawing/2014/main" id="{FB47A5E8-666C-1E48-262A-B150375FF497}"/>
              </a:ext>
            </a:extLst>
          </p:cNvPr>
          <p:cNvSpPr>
            <a:spLocks noGrp="1"/>
          </p:cNvSpPr>
          <p:nvPr>
            <p:ph type="body" idx="1"/>
          </p:nvPr>
        </p:nvSpPr>
        <p:spPr>
          <a:xfrm>
            <a:off x="731520" y="5940742"/>
            <a:ext cx="5852160" cy="4860608"/>
          </a:xfrm>
          <a:prstGeom prst="rect">
            <a:avLst/>
          </a:prstGeom>
        </p:spPr>
        <p:txBody>
          <a:bodyPr/>
          <a:lstStyle/>
          <a:p>
            <a:r>
              <a:rPr lang="pl-PL" b="0" dirty="0"/>
              <a:t>Na czym polega uczenie w sieci neuronowej. Sieć porównuje swoją odpowiedź z odpowiedzią jaka powinna być. </a:t>
            </a:r>
            <a:br>
              <a:rPr lang="pl-PL" b="0" dirty="0"/>
            </a:br>
            <a:r>
              <a:rPr lang="pl-PL" b="0" dirty="0"/>
              <a:t>Następnie cofa się poprzez wszystkie warstwy i aktualizuje wartości wag każdego neuronu. Taki proces aktualizacja nazywa się propagacja wsteczną.</a:t>
            </a:r>
          </a:p>
          <a:p>
            <a:r>
              <a:rPr lang="pl-PL" b="0" dirty="0"/>
              <a:t>Powtórzenie tego procesu kilka tysięcy, kilkanaście tysięcy lub miliony razy powoduje że nasz sieć neuronowa z zółtodzioba staje się ekspertem.</a:t>
            </a:r>
          </a:p>
        </p:txBody>
      </p:sp>
    </p:spTree>
    <p:extLst>
      <p:ext uri="{BB962C8B-B14F-4D97-AF65-F5344CB8AC3E}">
        <p14:creationId xmlns:p14="http://schemas.microsoft.com/office/powerpoint/2010/main" val="2355531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Jak wygląda taki pojedynczy neuron. Na wejściu neuronu mamy wartości wejściowe X i wagi W. Skoro jest ich wiele to możemy zapisać jako macierze o </a:t>
            </a:r>
            <a:r>
              <a:rPr lang="pl-PL" dirty="0" err="1"/>
              <a:t>wymierach</a:t>
            </a:r>
            <a:r>
              <a:rPr lang="pl-PL" dirty="0"/>
              <a:t> m x 1. Mnożymy odpowiednie wartości z tych dwóch macierzy. Pamiętamy że aby mnożyć macierze muszą zgadzać się wymiary, dlatego macierz wag takiego neuronów zamieniamy z kolumny na rząd – jest to operacja transpozycji. Wynikiem takiej operacji jest całkowite pobudzenie układu z. </a:t>
            </a:r>
          </a:p>
          <a:p>
            <a:r>
              <a:rPr lang="pl-PL" dirty="0"/>
              <a:t>Następnie pobudzenie układu jest argumentem wejściowym do funkcji skoku jednostkowego. Która zwraca 1 lub -1 w zależności czy z jest co najmniej dodatnie, czy ujemne. Możemy to sobie wyobrazić jako odpowiedź czy neuron jest aktywny czy nie. Jeżeli jest powyżej zera to taki neuron jest aktywny i jego wyjście jest uwzględniane w sieci. Proces uczenia się w sieci neuronowej to aktualizacja wartości wag takiego neuronu. A miarą postępu procesu uczenia jest funkcja błędu, </a:t>
            </a:r>
          </a:p>
          <a:p>
            <a:r>
              <a:rPr lang="pl-PL" dirty="0"/>
              <a:t>która mierzymy na koniec procesu uczenia się. Im mniejsza wartość tym sieć lepiej się uczy.</a:t>
            </a:r>
            <a:endParaRPr lang="en-US" dirty="0"/>
          </a:p>
        </p:txBody>
      </p:sp>
    </p:spTree>
    <p:extLst>
      <p:ext uri="{BB962C8B-B14F-4D97-AF65-F5344CB8AC3E}">
        <p14:creationId xmlns:p14="http://schemas.microsoft.com/office/powerpoint/2010/main" val="38065183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Przejdźmy do bardziej formalnego opisu takiej sieci. Pomoże nam w tym matematyka. Wszystko w sieciach neuronową jest macierzą. Czyli wielowymiarową tablicą z liczbami.</a:t>
            </a:r>
          </a:p>
          <a:p>
            <a:r>
              <a:rPr lang="pl-PL" dirty="0"/>
              <a:t>Operacje jakie przeprowadza się w macierzy to mnożenie macierzy, działanie pewnej funkcji gdzie wejściem jest macierz a wyjściem inna macierz lub liczba.</a:t>
            </a:r>
          </a:p>
          <a:p>
            <a:r>
              <a:rPr lang="pl-PL" dirty="0"/>
              <a:t>Widzimy też jak połączone są neurony. Przykładowo drugi neuron w drugiej warstwie na wejściu otrzymuje wejścia ze wszystkich neuronów z warstwy pierwszej. </a:t>
            </a:r>
          </a:p>
          <a:p>
            <a:r>
              <a:rPr lang="pl-PL" dirty="0"/>
              <a:t>Nie każdy neuron musi mieć takie samo wejście jak inne. Przykładowo w tym konkretnym modelu. Pierwsze neurony w warstwie ukrytej nie ma żadnego wejścia. </a:t>
            </a:r>
          </a:p>
          <a:p>
            <a:r>
              <a:rPr lang="pl-PL" dirty="0"/>
              <a:t>Nie ma jednego modelu dla sieci neuronowych. Różnią się od w zależności od problemu jaki chcemy rozwiązać.</a:t>
            </a:r>
          </a:p>
          <a:p>
            <a:r>
              <a:rPr lang="pl-PL" dirty="0"/>
              <a:t>Na wyjściu tej sieci mam neurony, które odpowiadają za daną kategorię. Przykładowo pierwszy może zapalać się jak obraz jest danej kategorii. Zwraca prawdopodobieństwo tego.</a:t>
            </a:r>
          </a:p>
          <a:p>
            <a:r>
              <a:rPr lang="pl-PL" dirty="0"/>
              <a:t>Finalna odpowiedź to kategoria, że dany obraz jest danej kategorii.</a:t>
            </a:r>
          </a:p>
          <a:p>
            <a:r>
              <a:rPr lang="pl-PL" dirty="0"/>
              <a:t>Dlaczego używa się macierzy? Bo pozwalają przeprowadzać operacja na wielu liczbach na raz.</a:t>
            </a:r>
            <a:endParaRPr lang="en-US" dirty="0"/>
          </a:p>
        </p:txBody>
      </p:sp>
    </p:spTree>
    <p:extLst>
      <p:ext uri="{BB962C8B-B14F-4D97-AF65-F5344CB8AC3E}">
        <p14:creationId xmlns:p14="http://schemas.microsoft.com/office/powerpoint/2010/main" val="7757326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Jak uczą się sieci neuronowe? </a:t>
            </a:r>
          </a:p>
          <a:p>
            <a:r>
              <a:rPr lang="pl-PL" dirty="0"/>
              <a:t>Sieć neuronowa jako modeli zawiera wiele parametrów, które nazywa się hiperparamtrami (aby nie pomieszało nam się z wagami neuronów, które często zamiennie nazywa się parametrami).</a:t>
            </a:r>
          </a:p>
          <a:p>
            <a:r>
              <a:rPr lang="pl-PL" dirty="0"/>
              <a:t>Jakie są przykładowo wartości takich hiperparametrów? Liczba warstw ukrytych, liczba neuronów w warstwach, tempo uczenia się i tak dalej.</a:t>
            </a:r>
          </a:p>
          <a:p>
            <a:r>
              <a:rPr lang="pl-PL" dirty="0"/>
              <a:t>Uczenie się sieci odbywa się z konkretnymi wartościami tych parametrów. </a:t>
            </a:r>
          </a:p>
          <a:p>
            <a:endParaRPr lang="pl-PL" dirty="0"/>
          </a:p>
          <a:p>
            <a:r>
              <a:rPr lang="pl-PL" dirty="0"/>
              <a:t>Uczymy sieć neuronową na podstawie danych treningowych. </a:t>
            </a:r>
          </a:p>
          <a:p>
            <a:r>
              <a:rPr lang="pl-PL" dirty="0"/>
              <a:t>Następnie testujemy naszą sieć na zbiorze testowym. </a:t>
            </a:r>
          </a:p>
          <a:p>
            <a:r>
              <a:rPr lang="pl-PL" dirty="0"/>
              <a:t>Jeżeli jesteśmy zadowoleniu z rezultatów wdrażamy naszą sieć do prawdziwego użycia. Gdy uznamy, że nie</a:t>
            </a:r>
          </a:p>
          <a:p>
            <a:r>
              <a:rPr lang="pl-PL" dirty="0"/>
              <a:t>to trenujemy naszą sieć dalej. Z innymi wartościami hiperparametrów. A które trzeba zmienić? </a:t>
            </a:r>
          </a:p>
          <a:p>
            <a:r>
              <a:rPr lang="pl-PL" dirty="0"/>
              <a:t>To już doświadczenie z sieciami i kategorią problemu z jakim mamy do czynienia (tzw. wiedza ekspercka).</a:t>
            </a:r>
          </a:p>
          <a:p>
            <a:endParaRPr lang="pl-PL" dirty="0"/>
          </a:p>
          <a:p>
            <a:r>
              <a:rPr lang="pl-PL" dirty="0"/>
              <a:t>Gdy wdrożyliśmy taki model, użytkownicy końcowi używają nowych danych w modelu do otrzymania odpowiedzi.</a:t>
            </a:r>
          </a:p>
          <a:p>
            <a:endParaRPr lang="pl-PL" dirty="0"/>
          </a:p>
          <a:p>
            <a:endParaRPr lang="en-US" dirty="0"/>
          </a:p>
        </p:txBody>
      </p:sp>
    </p:spTree>
    <p:extLst>
      <p:ext uri="{BB962C8B-B14F-4D97-AF65-F5344CB8AC3E}">
        <p14:creationId xmlns:p14="http://schemas.microsoft.com/office/powerpoint/2010/main" val="2070333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Ktoś z Państwa mógłby zadać pytanie. Dlaczego nie dać modelowi tyle danych i trenować go tak długo aby przewidywał etykiety obrazka z dokładnością 100% ?</a:t>
            </a:r>
          </a:p>
          <a:p>
            <a:r>
              <a:rPr lang="pl-PL" dirty="0"/>
              <a:t>Jest jeden problem, ponieważ istnieję tak zwane zjawisko przeuczenia się. Jak to wygląda?</a:t>
            </a:r>
          </a:p>
          <a:p>
            <a:r>
              <a:rPr lang="pl-PL" dirty="0"/>
              <a:t>Gdybyśmy wyobrazili sobie problem taki że musimy odróżnić czy nowy punkt to krzyżyk czy kółko to jeżeli nasz model nie jest wystarczająco dobrze wytrenowany to będziemy mieli kiepskie wyniki.</a:t>
            </a:r>
          </a:p>
          <a:p>
            <a:r>
              <a:rPr lang="pl-PL" dirty="0"/>
              <a:t>Na obrazku po lewej stronie widzimy ten problem. </a:t>
            </a:r>
          </a:p>
          <a:p>
            <a:r>
              <a:rPr lang="pl-PL" dirty="0"/>
              <a:t>Jeżeli nasz model zbyt dobrze dostosuje się do danych treningowych nastąpi zjawisko przeuczenia. Nasz model będzie miał bardzo dobre wyniki na danych testowych, ale na nowych danych będzie zachowywał się bardzo źle.</a:t>
            </a:r>
          </a:p>
          <a:p>
            <a:r>
              <a:rPr lang="pl-PL" dirty="0"/>
              <a:t>Pokazuje to środkowy rysunek. Gdybyśmy chcieli sobie wyobrazić taki przykład takiego przeuczenia w naszym świecie to przykładowo mogłoby to być pytanie ucznia do profesora podczas klasówki:</a:t>
            </a:r>
          </a:p>
          <a:p>
            <a:endParaRPr lang="pl-PL" dirty="0"/>
          </a:p>
          <a:p>
            <a:r>
              <a:rPr lang="pl-PL" dirty="0"/>
              <a:t>„Panie </a:t>
            </a:r>
            <a:r>
              <a:rPr lang="pl-PL" sz="1200" dirty="0"/>
              <a:t>Profesorze, na której stronie książki ten temat był przedstawiony?</a:t>
            </a:r>
          </a:p>
          <a:p>
            <a:endParaRPr lang="pl-PL" sz="1200" dirty="0"/>
          </a:p>
          <a:p>
            <a:r>
              <a:rPr lang="pl-PL" sz="1200" dirty="0"/>
              <a:t>Dobry model, to taki które zachowuję pewną elastyczność. Dobrze zachowuje się na danych testowych, ale się do nich nie przywiązuje na 100%.</a:t>
            </a:r>
            <a:endParaRPr lang="pl-PL" dirty="0"/>
          </a:p>
        </p:txBody>
      </p:sp>
    </p:spTree>
    <p:extLst>
      <p:ext uri="{BB962C8B-B14F-4D97-AF65-F5344CB8AC3E}">
        <p14:creationId xmlns:p14="http://schemas.microsoft.com/office/powerpoint/2010/main" val="28345885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C582D-EB7B-51FF-8DB5-A74C87050EF1}"/>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414DE9BE-1453-60A4-8CA0-6B838A50CD30}"/>
              </a:ext>
            </a:extLst>
          </p:cNvPr>
          <p:cNvSpPr>
            <a:spLocks noGrp="1" noRot="1" noChangeAspect="1"/>
          </p:cNvSpPr>
          <p:nvPr>
            <p:ph type="sldImg"/>
          </p:nvPr>
        </p:nvSpPr>
        <p:spPr>
          <a:xfrm>
            <a:off x="-44450" y="1543050"/>
            <a:ext cx="7404100" cy="4165600"/>
          </a:xfrm>
          <a:prstGeom prst="rect">
            <a:avLst/>
          </a:prstGeom>
        </p:spPr>
        <p:txBody>
          <a:bodyPr/>
          <a:lstStyle/>
          <a:p>
            <a:endParaRPr lang="en-US"/>
          </a:p>
        </p:txBody>
      </p:sp>
      <p:sp>
        <p:nvSpPr>
          <p:cNvPr id="3" name="Symbol zastępczy notatek 2">
            <a:extLst>
              <a:ext uri="{FF2B5EF4-FFF2-40B4-BE49-F238E27FC236}">
                <a16:creationId xmlns:a16="http://schemas.microsoft.com/office/drawing/2014/main" id="{D8253DB5-3648-22ED-182E-701C5D485EEF}"/>
              </a:ext>
            </a:extLst>
          </p:cNvPr>
          <p:cNvSpPr>
            <a:spLocks noGrp="1"/>
          </p:cNvSpPr>
          <p:nvPr>
            <p:ph type="body" idx="1"/>
          </p:nvPr>
        </p:nvSpPr>
        <p:spPr>
          <a:xfrm>
            <a:off x="731520" y="5940742"/>
            <a:ext cx="5852160" cy="4860608"/>
          </a:xfrm>
          <a:prstGeom prst="rect">
            <a:avLst/>
          </a:prstGeom>
        </p:spPr>
        <p:txBody>
          <a:bodyPr/>
          <a:lstStyle/>
          <a:p>
            <a:r>
              <a:rPr lang="pl-PL" b="0" dirty="0"/>
              <a:t>Sieci neuronowe są w rozwiązaniach, które wykorzystujemy codziennie. </a:t>
            </a:r>
          </a:p>
          <a:p>
            <a:r>
              <a:rPr lang="pl-PL" b="0" dirty="0"/>
              <a:t>Za zasadą ich działania stoi matematyka, która Państwo się uczą podczas lekcji. </a:t>
            </a:r>
            <a:br>
              <a:rPr lang="pl-PL" b="0" dirty="0"/>
            </a:br>
            <a:r>
              <a:rPr lang="pl-PL" b="0" dirty="0"/>
              <a:t>Aplikacje/Serwisy, w których wykorzystuje się sieci neuronowe to między innymi </a:t>
            </a:r>
            <a:r>
              <a:rPr lang="pl-PL" b="0" dirty="0" err="1"/>
              <a:t>Netflix</a:t>
            </a:r>
            <a:r>
              <a:rPr lang="pl-PL" b="0" dirty="0"/>
              <a:t>, Instagram, </a:t>
            </a:r>
            <a:r>
              <a:rPr lang="pl-PL" b="0" dirty="0" err="1"/>
              <a:t>FaceID</a:t>
            </a:r>
            <a:r>
              <a:rPr lang="pl-PL" b="0" dirty="0"/>
              <a:t>, </a:t>
            </a:r>
            <a:r>
              <a:rPr lang="pl-PL" b="0" dirty="0" err="1"/>
              <a:t>ChatGPT</a:t>
            </a:r>
            <a:r>
              <a:rPr lang="pl-PL" b="0" dirty="0"/>
              <a:t>.</a:t>
            </a:r>
          </a:p>
        </p:txBody>
      </p:sp>
    </p:spTree>
    <p:extLst>
      <p:ext uri="{BB962C8B-B14F-4D97-AF65-F5344CB8AC3E}">
        <p14:creationId xmlns:p14="http://schemas.microsoft.com/office/powerpoint/2010/main" val="38580777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Rozwiązania troszkę dalsze, skoncentrowane na konkretnych sektorach to np.</a:t>
            </a:r>
          </a:p>
          <a:p>
            <a:endParaRPr lang="pl-PL" dirty="0"/>
          </a:p>
          <a:p>
            <a:pPr marL="228600" indent="-228600">
              <a:buAutoNum type="arabicParenR"/>
            </a:pPr>
            <a:r>
              <a:rPr lang="pl-PL" dirty="0"/>
              <a:t>Przetwarzanie sygnałów – usuwanie zakłóceń na liniach telekomunikacyjnych między kontynentami</a:t>
            </a:r>
          </a:p>
          <a:p>
            <a:pPr marL="228600" indent="-228600">
              <a:buAutoNum type="arabicParenR"/>
            </a:pPr>
            <a:r>
              <a:rPr lang="pl-PL" dirty="0"/>
              <a:t>Medycyna – drugi lekarz diagnosta do oceny schorzenia</a:t>
            </a:r>
          </a:p>
          <a:p>
            <a:pPr marL="228600" indent="-228600">
              <a:buAutoNum type="arabicParenR"/>
            </a:pPr>
            <a:r>
              <a:rPr lang="pl-PL" dirty="0"/>
              <a:t>Bankowość – ryzyko kredytowe (tzw. </a:t>
            </a:r>
            <a:r>
              <a:rPr lang="pl-PL" dirty="0" err="1"/>
              <a:t>scoring</a:t>
            </a:r>
            <a:r>
              <a:rPr lang="pl-PL" dirty="0"/>
              <a:t>) osoby, która chce uzyskać kredyt od banku</a:t>
            </a:r>
          </a:p>
          <a:p>
            <a:pPr marL="228600" indent="-228600">
              <a:buAutoNum type="arabicParenR"/>
            </a:pPr>
            <a:r>
              <a:rPr lang="pl-PL" dirty="0"/>
              <a:t>Rozpoznawanie wzorów – np. kody pocztowe w celu automatycznego przekierowywanie listów i paczek do paczkomatów, placówek kurierskich i poczt</a:t>
            </a:r>
            <a:endParaRPr lang="en-US" dirty="0"/>
          </a:p>
        </p:txBody>
      </p:sp>
    </p:spTree>
    <p:extLst>
      <p:ext uri="{BB962C8B-B14F-4D97-AF65-F5344CB8AC3E}">
        <p14:creationId xmlns:p14="http://schemas.microsoft.com/office/powerpoint/2010/main" val="20691599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E54A5-6181-6ADE-F645-B2335A7878E2}"/>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EE1C9FE6-D342-5D37-40A7-7CFB51841CBC}"/>
              </a:ext>
            </a:extLst>
          </p:cNvPr>
          <p:cNvSpPr>
            <a:spLocks noGrp="1" noRot="1" noChangeAspect="1"/>
          </p:cNvSpPr>
          <p:nvPr>
            <p:ph type="sldImg"/>
          </p:nvPr>
        </p:nvSpPr>
        <p:spPr>
          <a:xfrm>
            <a:off x="-44450" y="1543050"/>
            <a:ext cx="7404100" cy="4165600"/>
          </a:xfrm>
          <a:prstGeom prst="rect">
            <a:avLst/>
          </a:prstGeom>
        </p:spPr>
        <p:txBody>
          <a:bodyPr/>
          <a:lstStyle/>
          <a:p>
            <a:endParaRPr lang="en-US"/>
          </a:p>
        </p:txBody>
      </p:sp>
      <p:sp>
        <p:nvSpPr>
          <p:cNvPr id="3" name="Symbol zastępczy notatek 2">
            <a:extLst>
              <a:ext uri="{FF2B5EF4-FFF2-40B4-BE49-F238E27FC236}">
                <a16:creationId xmlns:a16="http://schemas.microsoft.com/office/drawing/2014/main" id="{ABAA1F47-E768-0D5B-E254-E429CA97B311}"/>
              </a:ext>
            </a:extLst>
          </p:cNvPr>
          <p:cNvSpPr>
            <a:spLocks noGrp="1"/>
          </p:cNvSpPr>
          <p:nvPr>
            <p:ph type="body" idx="1"/>
          </p:nvPr>
        </p:nvSpPr>
        <p:spPr>
          <a:xfrm>
            <a:off x="731520" y="5940742"/>
            <a:ext cx="5852160" cy="4860608"/>
          </a:xfrm>
          <a:prstGeom prst="rect">
            <a:avLst/>
          </a:prstGeom>
        </p:spPr>
        <p:txBody>
          <a:bodyPr/>
          <a:lstStyle/>
          <a:p>
            <a:r>
              <a:rPr lang="pl-PL" b="0" dirty="0"/>
              <a:t>Na następnych 3 slajdach zajmiemy się matematycznymi koncepcjami, które musimy znać i rozumieć gdy chcemy zrozumieć sieci neuronowe.</a:t>
            </a:r>
          </a:p>
          <a:p>
            <a:r>
              <a:rPr lang="pl-PL" b="0" dirty="0"/>
              <a:t>Pierwszym z nich jest funkcja kwadratów. Na zajęciach matematyki zajmujemy się takimi zagadnieniami jak:</a:t>
            </a:r>
          </a:p>
          <a:p>
            <a:endParaRPr lang="pl-PL" b="0" dirty="0"/>
          </a:p>
          <a:p>
            <a:pPr marL="228600" indent="-228600">
              <a:buAutoNum type="alphaLcParenR"/>
            </a:pPr>
            <a:r>
              <a:rPr lang="pl-PL" b="0" dirty="0"/>
              <a:t>Rozwiązywanie równań kwadratowych</a:t>
            </a:r>
          </a:p>
          <a:p>
            <a:pPr marL="228600" indent="-228600">
              <a:buAutoNum type="alphaLcParenR"/>
            </a:pPr>
            <a:r>
              <a:rPr lang="pl-PL" b="0" dirty="0"/>
              <a:t>Optymalizacja – równanie kwadratowe i znajdowane wierzchołka paraboli</a:t>
            </a:r>
          </a:p>
          <a:p>
            <a:pPr marL="228600" indent="-228600">
              <a:buAutoNum type="alphaLcParenR"/>
            </a:pPr>
            <a:r>
              <a:rPr lang="pl-PL" b="0" dirty="0"/>
              <a:t>Nierówności kwadratowe</a:t>
            </a:r>
          </a:p>
          <a:p>
            <a:pPr marL="228600" indent="-228600">
              <a:buAutoNum type="alphaLcParenR" startAt="4"/>
            </a:pPr>
            <a:r>
              <a:rPr lang="pl-PL" b="0" dirty="0"/>
              <a:t>Wykresy funkcji kwadratowych</a:t>
            </a:r>
          </a:p>
          <a:p>
            <a:pPr marL="0" indent="0">
              <a:buNone/>
            </a:pPr>
            <a:endParaRPr lang="pl-PL" b="0" dirty="0"/>
          </a:p>
          <a:p>
            <a:pPr marL="0" indent="0">
              <a:buNone/>
            </a:pPr>
            <a:endParaRPr lang="pl-PL" b="0" dirty="0"/>
          </a:p>
          <a:p>
            <a:pPr marL="0" indent="0">
              <a:buNone/>
            </a:pPr>
            <a:endParaRPr lang="pl-PL" b="0" dirty="0"/>
          </a:p>
        </p:txBody>
      </p:sp>
    </p:spTree>
    <p:extLst>
      <p:ext uri="{BB962C8B-B14F-4D97-AF65-F5344CB8AC3E}">
        <p14:creationId xmlns:p14="http://schemas.microsoft.com/office/powerpoint/2010/main" val="27925957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Drugie pojęcie to pochodna funkcji. Ci z Państwa, który wybiorą się na studia przyrodnicze albo techniczne będą ją używali bardzo dużo na studiach.</a:t>
            </a:r>
          </a:p>
          <a:p>
            <a:r>
              <a:rPr lang="pl-PL" dirty="0"/>
              <a:t>Na zajęcia z matematyki zagadnienia gdzie występuje pochodna to:</a:t>
            </a:r>
          </a:p>
          <a:p>
            <a:endParaRPr lang="pl-PL" dirty="0"/>
          </a:p>
          <a:p>
            <a:pPr marL="228600" indent="-228600">
              <a:buAutoNum type="alphaLcParenR"/>
            </a:pPr>
            <a:r>
              <a:rPr lang="pl-PL" dirty="0"/>
              <a:t>Badanie monotoniczności funkcji (czy maleje czy rośnie i gdzie)</a:t>
            </a:r>
          </a:p>
          <a:p>
            <a:pPr marL="228600" indent="-228600">
              <a:buAutoNum type="alphaLcParenR"/>
            </a:pPr>
            <a:r>
              <a:rPr lang="pl-PL" dirty="0"/>
              <a:t>Szukanie maksimum funkcji</a:t>
            </a:r>
          </a:p>
          <a:p>
            <a:pPr marL="228600" indent="-228600">
              <a:buAutoNum type="alphaLcParenR"/>
            </a:pPr>
            <a:r>
              <a:rPr lang="pl-PL" dirty="0"/>
              <a:t>Wyznaczenie stycznej do wykresu</a:t>
            </a:r>
          </a:p>
          <a:p>
            <a:pPr marL="228600" indent="-228600">
              <a:buAutoNum type="alphaLcParenR" startAt="4"/>
            </a:pPr>
            <a:r>
              <a:rPr lang="pl-PL" dirty="0"/>
              <a:t>Prędkość chwilowa (to już zajęcia fizyki)</a:t>
            </a:r>
          </a:p>
          <a:p>
            <a:pPr marL="228600" indent="-228600">
              <a:buAutoNum type="alphaLcParenR" startAt="4"/>
            </a:pPr>
            <a:endParaRPr lang="pl-PL" dirty="0"/>
          </a:p>
          <a:p>
            <a:pPr marL="0" indent="0">
              <a:buNone/>
            </a:pPr>
            <a:endParaRPr lang="pl-PL" dirty="0"/>
          </a:p>
          <a:p>
            <a:pPr marL="228600" indent="-228600">
              <a:buAutoNum type="alphaLcParenR"/>
            </a:pPr>
            <a:endParaRPr lang="pl-PL" dirty="0"/>
          </a:p>
        </p:txBody>
      </p:sp>
    </p:spTree>
    <p:extLst>
      <p:ext uri="{BB962C8B-B14F-4D97-AF65-F5344CB8AC3E}">
        <p14:creationId xmlns:p14="http://schemas.microsoft.com/office/powerpoint/2010/main" val="19922417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Macierze to prostokątna tablica liczb. </a:t>
            </a:r>
          </a:p>
          <a:p>
            <a:r>
              <a:rPr lang="pl-PL" dirty="0"/>
              <a:t>Jeżeli takie macierze w wiele wymiarów to już tensory.</a:t>
            </a:r>
          </a:p>
          <a:p>
            <a:r>
              <a:rPr lang="pl-PL" dirty="0"/>
              <a:t>Na macierzach można wykonywać wiele operacji w tym na przykład mnożenie.</a:t>
            </a:r>
          </a:p>
          <a:p>
            <a:r>
              <a:rPr lang="pl-PL" dirty="0"/>
              <a:t>Co jest pokazane w prawej części tego slajdu.</a:t>
            </a:r>
            <a:endParaRPr lang="en-US" dirty="0"/>
          </a:p>
        </p:txBody>
      </p:sp>
    </p:spTree>
    <p:extLst>
      <p:ext uri="{BB962C8B-B14F-4D97-AF65-F5344CB8AC3E}">
        <p14:creationId xmlns:p14="http://schemas.microsoft.com/office/powerpoint/2010/main" val="18034374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2944F-6520-2A67-7B4E-D6A040B11680}"/>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C966C846-59D2-FE80-6B74-76A657360F75}"/>
              </a:ext>
            </a:extLst>
          </p:cNvPr>
          <p:cNvSpPr>
            <a:spLocks noGrp="1" noRot="1" noChangeAspect="1"/>
          </p:cNvSpPr>
          <p:nvPr>
            <p:ph type="sldImg"/>
          </p:nvPr>
        </p:nvSpPr>
        <p:spPr>
          <a:xfrm>
            <a:off x="-44450" y="1543050"/>
            <a:ext cx="7404100" cy="4165600"/>
          </a:xfrm>
          <a:prstGeom prst="rect">
            <a:avLst/>
          </a:prstGeom>
        </p:spPr>
        <p:txBody>
          <a:bodyPr/>
          <a:lstStyle/>
          <a:p>
            <a:endParaRPr lang="en-US"/>
          </a:p>
        </p:txBody>
      </p:sp>
      <p:sp>
        <p:nvSpPr>
          <p:cNvPr id="3" name="Symbol zastępczy notatek 2">
            <a:extLst>
              <a:ext uri="{FF2B5EF4-FFF2-40B4-BE49-F238E27FC236}">
                <a16:creationId xmlns:a16="http://schemas.microsoft.com/office/drawing/2014/main" id="{DDC7D175-38E3-5475-A930-BF06AF3B37DB}"/>
              </a:ext>
            </a:extLst>
          </p:cNvPr>
          <p:cNvSpPr>
            <a:spLocks noGrp="1"/>
          </p:cNvSpPr>
          <p:nvPr>
            <p:ph type="body" idx="1"/>
          </p:nvPr>
        </p:nvSpPr>
        <p:spPr>
          <a:xfrm>
            <a:off x="731520" y="5940742"/>
            <a:ext cx="5852160" cy="4860608"/>
          </a:xfrm>
          <a:prstGeom prst="rect">
            <a:avLst/>
          </a:prstGeom>
        </p:spPr>
        <p:txBody>
          <a:bodyPr/>
          <a:lstStyle/>
          <a:p>
            <a:r>
              <a:rPr lang="pl-PL" b="0" dirty="0"/>
              <a:t>W przypadku sieci neuronowej błąd to rzecz, która chcemy zminimalizować w procesie uczenia się. Chcemy aby błąd był wartością nieujemną. </a:t>
            </a:r>
          </a:p>
          <a:p>
            <a:r>
              <a:rPr lang="pl-PL" b="0" dirty="0"/>
              <a:t>Chcemy aby też duży błąd był szybko karany dlatego używamy funkcji kwadratowej. </a:t>
            </a:r>
          </a:p>
          <a:p>
            <a:r>
              <a:rPr lang="pl-PL" b="0" dirty="0"/>
              <a:t>Uczenie się to też proces optymalizacji, czyli na język matematyki znalezienie minimum funkcji. W naszym przypadku to funkcja błędu. </a:t>
            </a:r>
            <a:br>
              <a:rPr lang="pl-PL" b="0" dirty="0"/>
            </a:br>
            <a:r>
              <a:rPr lang="pl-PL" b="0" dirty="0"/>
              <a:t>Pochodna określa tempo uczenia się i jego kierunek. </a:t>
            </a:r>
          </a:p>
        </p:txBody>
      </p:sp>
    </p:spTree>
    <p:extLst>
      <p:ext uri="{BB962C8B-B14F-4D97-AF65-F5344CB8AC3E}">
        <p14:creationId xmlns:p14="http://schemas.microsoft.com/office/powerpoint/2010/main" val="21182731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Tutaj mamy wizualny przykład minimalizacji. Funkcja błędu to funkcja kwadratowa. Znajdujemy minimum funkcji błędu przesuwając się w stronę wierzchołka parabol.</a:t>
            </a:r>
          </a:p>
          <a:p>
            <a:r>
              <a:rPr lang="pl-PL" dirty="0"/>
              <a:t>Celem zadania jest wyznaczenie wartości wag, które minimalizują funkcję błędu.</a:t>
            </a:r>
          </a:p>
          <a:p>
            <a:r>
              <a:rPr lang="pl-PL" dirty="0"/>
              <a:t>Długość wektora jest proporcjonalna do tempa uczenia.</a:t>
            </a:r>
          </a:p>
        </p:txBody>
      </p:sp>
    </p:spTree>
    <p:extLst>
      <p:ext uri="{BB962C8B-B14F-4D97-AF65-F5344CB8AC3E}">
        <p14:creationId xmlns:p14="http://schemas.microsoft.com/office/powerpoint/2010/main" val="34605948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F9B0D-CB69-1AD2-B042-9B9246843773}"/>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247AF33B-7294-1DC8-1532-7393A0D12BDB}"/>
              </a:ext>
            </a:extLst>
          </p:cNvPr>
          <p:cNvSpPr>
            <a:spLocks noGrp="1" noRot="1" noChangeAspect="1"/>
          </p:cNvSpPr>
          <p:nvPr>
            <p:ph type="sldImg"/>
          </p:nvPr>
        </p:nvSpPr>
        <p:spPr>
          <a:xfrm>
            <a:off x="-44450" y="1543050"/>
            <a:ext cx="7404100" cy="4165600"/>
          </a:xfrm>
          <a:prstGeom prst="rect">
            <a:avLst/>
          </a:prstGeom>
        </p:spPr>
        <p:txBody>
          <a:bodyPr/>
          <a:lstStyle/>
          <a:p>
            <a:endParaRPr lang="en-US"/>
          </a:p>
        </p:txBody>
      </p:sp>
      <p:sp>
        <p:nvSpPr>
          <p:cNvPr id="3" name="Symbol zastępczy notatek 2">
            <a:extLst>
              <a:ext uri="{FF2B5EF4-FFF2-40B4-BE49-F238E27FC236}">
                <a16:creationId xmlns:a16="http://schemas.microsoft.com/office/drawing/2014/main" id="{664E4477-D442-8A93-0D84-769575ECAD8D}"/>
              </a:ext>
            </a:extLst>
          </p:cNvPr>
          <p:cNvSpPr>
            <a:spLocks noGrp="1"/>
          </p:cNvSpPr>
          <p:nvPr>
            <p:ph type="body" idx="1"/>
          </p:nvPr>
        </p:nvSpPr>
        <p:spPr>
          <a:xfrm>
            <a:off x="731520" y="5940742"/>
            <a:ext cx="5852160" cy="4860608"/>
          </a:xfrm>
          <a:prstGeom prst="rect">
            <a:avLst/>
          </a:prstGeom>
        </p:spPr>
        <p:txBody>
          <a:bodyPr/>
          <a:lstStyle/>
          <a:p>
            <a:r>
              <a:rPr lang="pl-PL" b="0" dirty="0"/>
              <a:t>Oczywiście funkcja błędu w rzeczywistych problemach to najprostszy przypadek.</a:t>
            </a:r>
          </a:p>
          <a:p>
            <a:r>
              <a:rPr lang="pl-PL" b="0" dirty="0"/>
              <a:t>W rzeczywistości funkcja ta może wyglądać tak i ma więcej niż 3 wymiary i nie da się jej zwizualizować.</a:t>
            </a:r>
          </a:p>
          <a:p>
            <a:r>
              <a:rPr lang="pl-PL" b="0" dirty="0"/>
              <a:t>Tutaj mamy przykład, gdy sieć uczy się zbyt szybko – może nie znaleźć globalne minimum tej funkcji. Uczenie będzie szybkie, ale z dość kiepskim rezultatem.</a:t>
            </a:r>
          </a:p>
          <a:p>
            <a:r>
              <a:rPr lang="pl-PL" b="0" dirty="0"/>
              <a:t>Jeżeli będzie wolniej się uczyć to znajdziemy globalne minimum funkcji, ale uczenie może trwać tygodnie zamiast dni. Często czas ma kluczowe znaczenie, bo jesteśmy wstanie zaakceptować </a:t>
            </a:r>
          </a:p>
          <a:p>
            <a:r>
              <a:rPr lang="pl-PL" b="0" dirty="0"/>
              <a:t>mniejszą dokładność kosztem mniejszego czasu uczenia.</a:t>
            </a:r>
          </a:p>
        </p:txBody>
      </p:sp>
    </p:spTree>
    <p:extLst>
      <p:ext uri="{BB962C8B-B14F-4D97-AF65-F5344CB8AC3E}">
        <p14:creationId xmlns:p14="http://schemas.microsoft.com/office/powerpoint/2010/main" val="24545810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Jedną z typów sieci neuronowej jest </a:t>
            </a:r>
            <a:r>
              <a:rPr lang="pl-PL" dirty="0" err="1"/>
              <a:t>konwolucyjna</a:t>
            </a:r>
            <a:r>
              <a:rPr lang="pl-PL" dirty="0"/>
              <a:t> sieć neuronowa (ang. </a:t>
            </a:r>
            <a:r>
              <a:rPr lang="pl-PL" dirty="0" err="1"/>
              <a:t>Convolution</a:t>
            </a:r>
            <a:r>
              <a:rPr lang="pl-PL" dirty="0"/>
              <a:t> </a:t>
            </a:r>
            <a:r>
              <a:rPr lang="pl-PL" dirty="0" err="1"/>
              <a:t>Neural</a:t>
            </a:r>
            <a:r>
              <a:rPr lang="pl-PL" dirty="0"/>
              <a:t> Network). </a:t>
            </a:r>
          </a:p>
          <a:p>
            <a:r>
              <a:rPr lang="pl-PL" dirty="0"/>
              <a:t>Służą one do rozpoznawania obrazów z </a:t>
            </a:r>
            <a:r>
              <a:rPr lang="pl-PL" dirty="0" err="1"/>
              <a:t>wykorzytaniem</a:t>
            </a:r>
            <a:r>
              <a:rPr lang="pl-PL" dirty="0"/>
              <a:t> kilku dodatkowych operacji.</a:t>
            </a:r>
          </a:p>
          <a:p>
            <a:r>
              <a:rPr lang="pl-PL" dirty="0"/>
              <a:t>Te operacja to </a:t>
            </a:r>
            <a:r>
              <a:rPr lang="pl-PL" dirty="0" err="1"/>
              <a:t>konwolucja</a:t>
            </a:r>
            <a:r>
              <a:rPr lang="pl-PL" dirty="0"/>
              <a:t> i próbkowanie/łączenie. </a:t>
            </a:r>
            <a:br>
              <a:rPr lang="pl-PL" dirty="0"/>
            </a:br>
            <a:r>
              <a:rPr lang="pl-PL" dirty="0"/>
              <a:t>Na czym polegają te operacje dowiemy się za chwilę. </a:t>
            </a:r>
          </a:p>
          <a:p>
            <a:r>
              <a:rPr lang="pl-PL" dirty="0"/>
              <a:t>Na wejściu takiej sieci jest obraz. Obraz to macierz, np. o wymiarze 28x28. Każda wartość mieści się w przedziale (0,255). Są to tak zwane piksele.</a:t>
            </a:r>
          </a:p>
          <a:p>
            <a:r>
              <a:rPr lang="pl-PL" dirty="0"/>
              <a:t>Następnie przeprowadzamy kilka </a:t>
            </a:r>
            <a:r>
              <a:rPr lang="pl-PL" dirty="0" err="1"/>
              <a:t>operacjia</a:t>
            </a:r>
            <a:r>
              <a:rPr lang="pl-PL" dirty="0"/>
              <a:t> </a:t>
            </a:r>
            <a:r>
              <a:rPr lang="pl-PL" dirty="0" err="1"/>
              <a:t>konwolucji</a:t>
            </a:r>
            <a:r>
              <a:rPr lang="pl-PL" dirty="0"/>
              <a:t> i łączenia, aby finalnie uczyć sieć neuronową.</a:t>
            </a:r>
          </a:p>
          <a:p>
            <a:r>
              <a:rPr lang="pl-PL" dirty="0"/>
              <a:t>Wynikiem jest prawdopodobieństwo, że dany obraz należy do danej kategorii. Np. dany obraz to cyfra 3.</a:t>
            </a:r>
          </a:p>
          <a:p>
            <a:endParaRPr lang="pl-PL" dirty="0"/>
          </a:p>
        </p:txBody>
      </p:sp>
    </p:spTree>
    <p:extLst>
      <p:ext uri="{BB962C8B-B14F-4D97-AF65-F5344CB8AC3E}">
        <p14:creationId xmlns:p14="http://schemas.microsoft.com/office/powerpoint/2010/main" val="40723254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Do czego służy operacja </a:t>
            </a:r>
            <a:r>
              <a:rPr lang="pl-PL" dirty="0" err="1"/>
              <a:t>konwolucja</a:t>
            </a:r>
            <a:r>
              <a:rPr lang="pl-PL" dirty="0"/>
              <a:t>? Operacja </a:t>
            </a:r>
            <a:r>
              <a:rPr lang="pl-PL" dirty="0" err="1"/>
              <a:t>konwolucji</a:t>
            </a:r>
            <a:r>
              <a:rPr lang="pl-PL" dirty="0"/>
              <a:t> służy to sprawdzenia czy obraz zawiera dane kształty. Służą do tego filtry. Np. tutaj używamy filtr do wykrywania krawędzi skośnych, ale tylko z północy-zachodu na </a:t>
            </a:r>
            <a:r>
              <a:rPr lang="pl-PL" dirty="0" err="1"/>
              <a:t>południowy-wschód</a:t>
            </a:r>
            <a:r>
              <a:rPr lang="pl-PL" dirty="0"/>
              <a:t>.</a:t>
            </a:r>
          </a:p>
          <a:p>
            <a:r>
              <a:rPr lang="pl-PL" dirty="0"/>
              <a:t>Operacja </a:t>
            </a:r>
            <a:r>
              <a:rPr lang="pl-PL" dirty="0" err="1"/>
              <a:t>konwolucji</a:t>
            </a:r>
            <a:r>
              <a:rPr lang="pl-PL" dirty="0"/>
              <a:t> działa troszkę jak mnożenie macierzy. Ale wykonujemy ją krok po kroku, a wynikiem jest konkretna liczba. Tutaj mamy filtra, który jest macierzą o rozmiarach 3 na 3. </a:t>
            </a:r>
          </a:p>
          <a:p>
            <a:r>
              <a:rPr lang="pl-PL" dirty="0"/>
              <a:t>Jeżeli przyłożymy ten filtr w lewym górnym rogu obrazu to otrzymamy w wyniki liczbę. Mnożymy odpowiadające sobie liczby w filtrze i kawałku macierzy które wzięliśmy. Wyniki dodajemy. Wynik to 3. Zapisujemy ją w macierzy wynikowej, </a:t>
            </a:r>
          </a:p>
          <a:p>
            <a:r>
              <a:rPr lang="pl-PL" dirty="0" err="1"/>
              <a:t>tóra</a:t>
            </a:r>
            <a:r>
              <a:rPr lang="pl-PL" dirty="0"/>
              <a:t> ma taki sam wymiar jak filtr. Robimy tak dla pozostałej części macierzy, która pozostała. Tutaj to będzie łącznie 9 razy. Im wyższy wartość w finalnej macierzy tym wyraźniejsza krawędź została wykryta.</a:t>
            </a:r>
          </a:p>
        </p:txBody>
      </p:sp>
    </p:spTree>
    <p:extLst>
      <p:ext uri="{BB962C8B-B14F-4D97-AF65-F5344CB8AC3E}">
        <p14:creationId xmlns:p14="http://schemas.microsoft.com/office/powerpoint/2010/main" val="37163014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Operacja łączenia to działanie na macierzy, gdzie zwraca się pewną liczbę na podstawie liczb której są.</a:t>
            </a:r>
          </a:p>
          <a:p>
            <a:r>
              <a:rPr lang="pl-PL" dirty="0"/>
              <a:t>Istnieją różne operacje łączenia, np. takie które wybierają najwyższą liczbę z macierzy, albo takie które wyznaczają średnią z danej macierzy.</a:t>
            </a:r>
          </a:p>
          <a:p>
            <a:r>
              <a:rPr lang="pl-PL" dirty="0"/>
              <a:t>Po co wykonujemy tą operację? Po to, aby zmniejszyć liczbę danych którymi modeli musi się zajmować.</a:t>
            </a:r>
            <a:endParaRPr lang="en-US" dirty="0"/>
          </a:p>
        </p:txBody>
      </p:sp>
    </p:spTree>
    <p:extLst>
      <p:ext uri="{BB962C8B-B14F-4D97-AF65-F5344CB8AC3E}">
        <p14:creationId xmlns:p14="http://schemas.microsoft.com/office/powerpoint/2010/main" val="26447622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Jaka taka operacje </a:t>
            </a:r>
            <a:r>
              <a:rPr lang="pl-PL" dirty="0" err="1"/>
              <a:t>konwolucji</a:t>
            </a:r>
            <a:r>
              <a:rPr lang="pl-PL" dirty="0"/>
              <a:t> wyglądają w praktyce?</a:t>
            </a:r>
          </a:p>
          <a:p>
            <a:r>
              <a:rPr lang="pl-PL" dirty="0"/>
              <a:t>Tutaj mamy przykład. Po lewej mamy obraz kota w odcieniach szarości a </a:t>
            </a:r>
            <a:r>
              <a:rPr lang="pl-PL" dirty="0" err="1"/>
              <a:t>poprawej</a:t>
            </a:r>
            <a:r>
              <a:rPr lang="pl-PL" dirty="0"/>
              <a:t> przykład działania różnych filtrów.</a:t>
            </a:r>
          </a:p>
          <a:p>
            <a:r>
              <a:rPr lang="pl-PL" dirty="0"/>
              <a:t>Widzimy, że pierwszy z nich wykrywa bardziej pionowe krawędzie, drugi bardziej poziomie.</a:t>
            </a:r>
          </a:p>
          <a:p>
            <a:r>
              <a:rPr lang="pl-PL" dirty="0"/>
              <a:t>Ostatni krawędzie o przeciwstawnych kierunkach (tutaj są nimi </a:t>
            </a:r>
            <a:r>
              <a:rPr lang="pl-PL" dirty="0" err="1"/>
              <a:t>wibrysy</a:t>
            </a:r>
            <a:r>
              <a:rPr lang="pl-PL" dirty="0"/>
              <a:t>).</a:t>
            </a:r>
            <a:endParaRPr lang="en-US" dirty="0"/>
          </a:p>
        </p:txBody>
      </p:sp>
    </p:spTree>
    <p:extLst>
      <p:ext uri="{BB962C8B-B14F-4D97-AF65-F5344CB8AC3E}">
        <p14:creationId xmlns:p14="http://schemas.microsoft.com/office/powerpoint/2010/main" val="12134146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Tutaj mamy przykład jak działa taka sieć neuronowa działa.</a:t>
            </a:r>
          </a:p>
          <a:p>
            <a:r>
              <a:rPr lang="pl-PL" dirty="0"/>
              <a:t>Wytrenowaliśmy ją na zbiorze 70 tysięcy ręcznie napisanych cyfr.</a:t>
            </a:r>
          </a:p>
          <a:p>
            <a:r>
              <a:rPr lang="pl-PL" dirty="0"/>
              <a:t>Wyniki testów są poniżej. Widzimy, że sieć poradziła sobie całkiem dobrze.</a:t>
            </a:r>
          </a:p>
          <a:p>
            <a:r>
              <a:rPr lang="pl-PL" dirty="0"/>
              <a:t>Po przetestowaniu wdrożyliśmy ją i sprawdziliśmy jaka to cyfra. Wyszło, że 0 czyli całkiem dobrze.</a:t>
            </a:r>
            <a:endParaRPr lang="en-US" dirty="0"/>
          </a:p>
        </p:txBody>
      </p:sp>
    </p:spTree>
    <p:extLst>
      <p:ext uri="{BB962C8B-B14F-4D97-AF65-F5344CB8AC3E}">
        <p14:creationId xmlns:p14="http://schemas.microsoft.com/office/powerpoint/2010/main" val="41593550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C5BCE-E01C-85D7-1EB3-D15D9A54E66C}"/>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0EEBCCCA-4B1F-E8E0-15EA-61979035901A}"/>
              </a:ext>
            </a:extLst>
          </p:cNvPr>
          <p:cNvSpPr>
            <a:spLocks noGrp="1" noRot="1" noChangeAspect="1"/>
          </p:cNvSpPr>
          <p:nvPr>
            <p:ph type="sldImg"/>
          </p:nvPr>
        </p:nvSpPr>
        <p:spPr/>
        <p:txBody>
          <a:bodyPr/>
          <a:lstStyle/>
          <a:p>
            <a:endParaRPr lang="en-US"/>
          </a:p>
        </p:txBody>
      </p:sp>
      <p:sp>
        <p:nvSpPr>
          <p:cNvPr id="3" name="Symbol zastępczy notatek 2">
            <a:extLst>
              <a:ext uri="{FF2B5EF4-FFF2-40B4-BE49-F238E27FC236}">
                <a16:creationId xmlns:a16="http://schemas.microsoft.com/office/drawing/2014/main" id="{EC08C7C2-C2D7-0845-324F-9F173A526CD8}"/>
              </a:ext>
            </a:extLst>
          </p:cNvPr>
          <p:cNvSpPr>
            <a:spLocks noGrp="1"/>
          </p:cNvSpPr>
          <p:nvPr>
            <p:ph type="body" idx="1"/>
          </p:nvPr>
        </p:nvSpPr>
        <p:spPr/>
        <p:txBody>
          <a:bodyPr/>
          <a:lstStyle/>
          <a:p>
            <a:r>
              <a:rPr lang="pl-PL" dirty="0"/>
              <a:t>Program, który jest załączony do tej prezentacji daje możliwość narysowania swojej cyfry i przetestowania jak działa.</a:t>
            </a:r>
          </a:p>
          <a:p>
            <a:r>
              <a:rPr lang="pl-PL" dirty="0"/>
              <a:t>Ja wygenerowałem kilka koślawych przykładów – jeden okazał się ok. To cyfra 8 (prawdopodobieństwo prawie 90%).</a:t>
            </a:r>
          </a:p>
          <a:p>
            <a:r>
              <a:rPr lang="pl-PL" dirty="0"/>
              <a:t>Druga przykład to jakiś koszmar. Według mojej sieci to na 100% cyfra 3.</a:t>
            </a:r>
          </a:p>
          <a:p>
            <a:r>
              <a:rPr lang="pl-PL" dirty="0"/>
              <a:t>Mamy jeszcze nad czym pracować z tą siecią. </a:t>
            </a:r>
          </a:p>
          <a:p>
            <a:r>
              <a:rPr lang="pl-PL" dirty="0"/>
              <a:t>Zachęcam Państwa to zapoznania się z programem i spróbowania swoich sił. Może Państwu uda się wytrenować sieć, która będzie lepsza niż moja.</a:t>
            </a:r>
          </a:p>
        </p:txBody>
      </p:sp>
    </p:spTree>
    <p:extLst>
      <p:ext uri="{BB962C8B-B14F-4D97-AF65-F5344CB8AC3E}">
        <p14:creationId xmlns:p14="http://schemas.microsoft.com/office/powerpoint/2010/main" val="38267134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D</a:t>
            </a:r>
            <a:r>
              <a:rPr lang="en-US" dirty="0" err="1"/>
              <a:t>uże</a:t>
            </a:r>
            <a:r>
              <a:rPr lang="en-US" dirty="0"/>
              <a:t> </a:t>
            </a:r>
            <a:r>
              <a:rPr lang="en-US" dirty="0" err="1"/>
              <a:t>sieci</a:t>
            </a:r>
            <a:r>
              <a:rPr lang="en-US" dirty="0"/>
              <a:t> </a:t>
            </a:r>
            <a:r>
              <a:rPr lang="pl-PL" dirty="0"/>
              <a:t>neuronowe </a:t>
            </a:r>
            <a:r>
              <a:rPr lang="en-US" dirty="0" err="1"/>
              <a:t>mogą</a:t>
            </a:r>
            <a:r>
              <a:rPr lang="en-US" dirty="0"/>
              <a:t> </a:t>
            </a:r>
            <a:r>
              <a:rPr lang="en-US" dirty="0" err="1"/>
              <a:t>łatwo</a:t>
            </a:r>
            <a:r>
              <a:rPr lang="en-US" dirty="0"/>
              <a:t> </a:t>
            </a:r>
            <a:r>
              <a:rPr lang="en-US" dirty="0" err="1"/>
              <a:t>ulegać</a:t>
            </a:r>
            <a:r>
              <a:rPr lang="en-US" dirty="0"/>
              <a:t> </a:t>
            </a:r>
            <a:r>
              <a:rPr lang="en-US" dirty="0" err="1"/>
              <a:t>przetrenowaniu</a:t>
            </a:r>
            <a:r>
              <a:rPr lang="en-US" dirty="0"/>
              <a:t>; </a:t>
            </a:r>
            <a:r>
              <a:rPr lang="en-US" dirty="0" err="1"/>
              <a:t>będą</a:t>
            </a:r>
            <a:r>
              <a:rPr lang="en-US" dirty="0"/>
              <a:t> </a:t>
            </a:r>
            <a:r>
              <a:rPr lang="en-US" dirty="0" err="1"/>
              <a:t>zapamiętywać</a:t>
            </a:r>
            <a:r>
              <a:rPr lang="en-US" dirty="0"/>
              <a:t> </a:t>
            </a:r>
            <a:r>
              <a:rPr lang="en-US" dirty="0" err="1"/>
              <a:t>dane</a:t>
            </a:r>
            <a:r>
              <a:rPr lang="en-US" dirty="0"/>
              <a:t> </a:t>
            </a:r>
            <a:r>
              <a:rPr lang="en-US" dirty="0" err="1"/>
              <a:t>uczące</a:t>
            </a:r>
            <a:r>
              <a:rPr lang="en-US" dirty="0"/>
              <a:t> </a:t>
            </a:r>
            <a:r>
              <a:rPr lang="en-US" dirty="0" err="1"/>
              <a:t>i</a:t>
            </a:r>
            <a:r>
              <a:rPr lang="en-US" dirty="0"/>
              <a:t> </a:t>
            </a:r>
            <a:r>
              <a:rPr lang="en-US" dirty="0" err="1"/>
              <a:t>radzić</a:t>
            </a:r>
            <a:r>
              <a:rPr lang="en-US" dirty="0"/>
              <a:t> </a:t>
            </a:r>
            <a:r>
              <a:rPr lang="en-US" dirty="0" err="1"/>
              <a:t>sobie</a:t>
            </a:r>
            <a:r>
              <a:rPr lang="en-US" dirty="0"/>
              <a:t> </a:t>
            </a:r>
            <a:r>
              <a:rPr lang="en-US" dirty="0" err="1"/>
              <a:t>doskonale</a:t>
            </a:r>
            <a:r>
              <a:rPr lang="en-US" dirty="0"/>
              <a:t> z </a:t>
            </a:r>
            <a:r>
              <a:rPr lang="en-US" dirty="0" err="1"/>
              <a:t>zestawami</a:t>
            </a:r>
            <a:r>
              <a:rPr lang="en-US" dirty="0"/>
              <a:t> </a:t>
            </a:r>
            <a:r>
              <a:rPr lang="en-US" dirty="0" err="1"/>
              <a:t>uczącymi</a:t>
            </a:r>
            <a:r>
              <a:rPr lang="en-US" dirty="0"/>
              <a:t>, </a:t>
            </a:r>
            <a:r>
              <a:rPr lang="en-US" dirty="0" err="1"/>
              <a:t>podczas</a:t>
            </a:r>
            <a:r>
              <a:rPr lang="en-US" dirty="0"/>
              <a:t> </a:t>
            </a:r>
            <a:r>
              <a:rPr lang="en-US" dirty="0" err="1"/>
              <a:t>gdy</a:t>
            </a:r>
            <a:r>
              <a:rPr lang="en-US" dirty="0"/>
              <a:t> </a:t>
            </a:r>
            <a:r>
              <a:rPr lang="en-US" dirty="0" err="1"/>
              <a:t>będą</a:t>
            </a:r>
            <a:r>
              <a:rPr lang="en-US" dirty="0"/>
              <a:t> </a:t>
            </a:r>
            <a:r>
              <a:rPr lang="en-US" dirty="0" err="1"/>
              <a:t>miały</a:t>
            </a:r>
            <a:r>
              <a:rPr lang="en-US" dirty="0"/>
              <a:t> problem z </a:t>
            </a:r>
            <a:r>
              <a:rPr lang="en-US" dirty="0" err="1"/>
              <a:t>zesta</a:t>
            </a:r>
            <a:r>
              <a:rPr lang="en-US" dirty="0"/>
              <a:t> </a:t>
            </a:r>
            <a:r>
              <a:rPr lang="en-US" dirty="0" err="1"/>
              <a:t>wem</a:t>
            </a:r>
            <a:r>
              <a:rPr lang="en-US" dirty="0"/>
              <a:t> </a:t>
            </a:r>
            <a:r>
              <a:rPr lang="en-US" dirty="0" err="1"/>
              <a:t>testowym</a:t>
            </a:r>
            <a:r>
              <a:rPr lang="en-US" dirty="0"/>
              <a:t>. </a:t>
            </a:r>
            <a:endParaRPr lang="pl-PL" dirty="0"/>
          </a:p>
          <a:p>
            <a:r>
              <a:rPr lang="en-US" dirty="0" err="1"/>
              <a:t>Gdy</a:t>
            </a:r>
            <a:r>
              <a:rPr lang="en-US" dirty="0"/>
              <a:t> </a:t>
            </a:r>
            <a:r>
              <a:rPr lang="en-US" dirty="0" err="1"/>
              <a:t>staramy</a:t>
            </a:r>
            <a:r>
              <a:rPr lang="en-US" dirty="0"/>
              <a:t> </a:t>
            </a:r>
            <a:r>
              <a:rPr lang="en-US" dirty="0" err="1"/>
              <a:t>się</a:t>
            </a:r>
            <a:r>
              <a:rPr lang="en-US" dirty="0"/>
              <a:t> </a:t>
            </a:r>
            <a:r>
              <a:rPr lang="en-US" dirty="0" err="1"/>
              <a:t>rozwiązywać</a:t>
            </a:r>
            <a:r>
              <a:rPr lang="en-US" dirty="0"/>
              <a:t> </a:t>
            </a:r>
            <a:r>
              <a:rPr lang="en-US" dirty="0" err="1"/>
              <a:t>rzeczywiste</a:t>
            </a:r>
            <a:r>
              <a:rPr lang="en-US" dirty="0"/>
              <a:t> problem</a:t>
            </a:r>
            <a:endParaRPr lang="pl-PL" dirty="0"/>
          </a:p>
          <a:p>
            <a:r>
              <a:rPr lang="en-US" dirty="0" err="1"/>
              <a:t>Metoda</a:t>
            </a:r>
            <a:r>
              <a:rPr lang="en-US" dirty="0"/>
              <a:t> </a:t>
            </a:r>
            <a:r>
              <a:rPr lang="en-US" dirty="0" err="1"/>
              <a:t>porzucania</a:t>
            </a:r>
            <a:r>
              <a:rPr lang="en-US" dirty="0"/>
              <a:t> jest </a:t>
            </a:r>
            <a:r>
              <a:rPr lang="en-US" dirty="0" err="1"/>
              <a:t>zazwyczaj</a:t>
            </a:r>
            <a:r>
              <a:rPr lang="en-US" dirty="0"/>
              <a:t> </a:t>
            </a:r>
            <a:r>
              <a:rPr lang="en-US" dirty="0" err="1"/>
              <a:t>wprowadzana</a:t>
            </a:r>
            <a:r>
              <a:rPr lang="en-US" dirty="0"/>
              <a:t> w </a:t>
            </a:r>
            <a:r>
              <a:rPr lang="en-US" dirty="0" err="1"/>
              <a:t>dalszych</a:t>
            </a:r>
            <a:r>
              <a:rPr lang="en-US" dirty="0"/>
              <a:t> </a:t>
            </a:r>
            <a:r>
              <a:rPr lang="en-US" dirty="0" err="1"/>
              <a:t>warstwach</a:t>
            </a:r>
            <a:r>
              <a:rPr lang="en-US" dirty="0"/>
              <a:t> </a:t>
            </a:r>
            <a:r>
              <a:rPr lang="en-US" dirty="0" err="1"/>
              <a:t>ukrytych</a:t>
            </a:r>
            <a:r>
              <a:rPr lang="en-US" dirty="0"/>
              <a:t>. </a:t>
            </a:r>
            <a:endParaRPr lang="pl-PL" dirty="0"/>
          </a:p>
          <a:p>
            <a:endParaRPr lang="pl-PL" dirty="0"/>
          </a:p>
          <a:p>
            <a:r>
              <a:rPr lang="en-US" dirty="0"/>
              <a:t>W </a:t>
            </a:r>
            <a:r>
              <a:rPr lang="en-US" dirty="0" err="1"/>
              <a:t>czasie</a:t>
            </a:r>
            <a:r>
              <a:rPr lang="en-US" dirty="0"/>
              <a:t> </a:t>
            </a:r>
            <a:r>
              <a:rPr lang="en-US" dirty="0" err="1"/>
              <a:t>uczenia</a:t>
            </a:r>
            <a:r>
              <a:rPr lang="en-US" dirty="0"/>
              <a:t> </a:t>
            </a:r>
            <a:r>
              <a:rPr lang="en-US" dirty="0" err="1"/>
              <a:t>sieci</a:t>
            </a:r>
            <a:r>
              <a:rPr lang="en-US" dirty="0"/>
              <a:t> </a:t>
            </a:r>
            <a:r>
              <a:rPr lang="en-US" dirty="0" err="1"/>
              <a:t>neuronowej</a:t>
            </a:r>
            <a:r>
              <a:rPr lang="en-US" dirty="0"/>
              <a:t> </a:t>
            </a:r>
            <a:r>
              <a:rPr lang="en-US" dirty="0" err="1"/>
              <a:t>pewna</a:t>
            </a:r>
            <a:r>
              <a:rPr lang="en-US" dirty="0"/>
              <a:t> </a:t>
            </a:r>
            <a:r>
              <a:rPr lang="en-US" dirty="0" err="1"/>
              <a:t>część</a:t>
            </a:r>
            <a:r>
              <a:rPr lang="en-US" dirty="0"/>
              <a:t> </a:t>
            </a:r>
            <a:r>
              <a:rPr lang="en-US" dirty="0" err="1"/>
              <a:t>jednostek</a:t>
            </a:r>
            <a:r>
              <a:rPr lang="en-US" dirty="0"/>
              <a:t> </a:t>
            </a:r>
            <a:r>
              <a:rPr lang="en-US" dirty="0" err="1"/>
              <a:t>ukrytych</a:t>
            </a:r>
            <a:r>
              <a:rPr lang="en-US" dirty="0"/>
              <a:t> </a:t>
            </a:r>
            <a:r>
              <a:rPr lang="en-US" dirty="0" err="1"/>
              <a:t>zostaje</a:t>
            </a:r>
            <a:r>
              <a:rPr lang="en-US" dirty="0"/>
              <a:t> </a:t>
            </a:r>
            <a:r>
              <a:rPr lang="en-US" dirty="0" err="1"/>
              <a:t>losowo</a:t>
            </a:r>
            <a:r>
              <a:rPr lang="en-US" dirty="0"/>
              <a:t> </a:t>
            </a:r>
            <a:r>
              <a:rPr lang="en-US" dirty="0" err="1"/>
              <a:t>porzucona</a:t>
            </a:r>
            <a:r>
              <a:rPr lang="en-US" dirty="0"/>
              <a:t> w </a:t>
            </a:r>
            <a:r>
              <a:rPr lang="en-US" dirty="0" err="1"/>
              <a:t>każdym</a:t>
            </a:r>
            <a:r>
              <a:rPr lang="en-US" dirty="0"/>
              <a:t> </a:t>
            </a:r>
            <a:r>
              <a:rPr lang="en-US" dirty="0" err="1"/>
              <a:t>przebiegu</a:t>
            </a:r>
            <a:r>
              <a:rPr lang="en-US" dirty="0"/>
              <a:t> z </a:t>
            </a:r>
            <a:r>
              <a:rPr lang="en-US" dirty="0" err="1"/>
              <a:t>prawdopodobieństwem</a:t>
            </a:r>
            <a:r>
              <a:rPr lang="en-US" dirty="0"/>
              <a:t> p</a:t>
            </a:r>
            <a:r>
              <a:rPr lang="pl-PL" dirty="0"/>
              <a:t> </a:t>
            </a:r>
            <a:r>
              <a:rPr lang="en-US" dirty="0" err="1"/>
              <a:t>porzucanie</a:t>
            </a:r>
            <a:r>
              <a:rPr lang="en-US" dirty="0"/>
              <a:t> </a:t>
            </a:r>
            <a:endParaRPr lang="pl-PL" dirty="0"/>
          </a:p>
          <a:p>
            <a:r>
              <a:rPr lang="pl-PL" dirty="0"/>
              <a:t>W</a:t>
            </a:r>
            <a:r>
              <a:rPr lang="en-US" dirty="0"/>
              <a:t> </a:t>
            </a:r>
            <a:r>
              <a:rPr lang="en-US" dirty="0" err="1"/>
              <a:t>dziedzinie</a:t>
            </a:r>
            <a:r>
              <a:rPr lang="en-US" dirty="0"/>
              <a:t> </a:t>
            </a:r>
            <a:r>
              <a:rPr lang="en-US" dirty="0" err="1"/>
              <a:t>uczenia</a:t>
            </a:r>
            <a:r>
              <a:rPr lang="en-US" dirty="0"/>
              <a:t> </a:t>
            </a:r>
            <a:r>
              <a:rPr lang="en-US" dirty="0" err="1"/>
              <a:t>maszynowego</a:t>
            </a:r>
            <a:r>
              <a:rPr lang="en-US" dirty="0"/>
              <a:t>, </a:t>
            </a:r>
            <a:r>
              <a:rPr lang="en-US" dirty="0" err="1"/>
              <a:t>nie</a:t>
            </a:r>
            <a:r>
              <a:rPr lang="en-US" dirty="0"/>
              <a:t> </a:t>
            </a:r>
            <a:r>
              <a:rPr lang="en-US" dirty="0" err="1"/>
              <a:t>wiemy</a:t>
            </a:r>
            <a:r>
              <a:rPr lang="en-US" dirty="0"/>
              <a:t> z </a:t>
            </a:r>
            <a:r>
              <a:rPr lang="en-US" dirty="0" err="1"/>
              <a:t>góry</a:t>
            </a:r>
            <a:r>
              <a:rPr lang="en-US" dirty="0"/>
              <a:t>, jak </a:t>
            </a:r>
            <a:r>
              <a:rPr lang="en-US" dirty="0" err="1"/>
              <a:t>duża</a:t>
            </a:r>
            <a:r>
              <a:rPr lang="en-US" dirty="0"/>
              <a:t> </a:t>
            </a:r>
            <a:r>
              <a:rPr lang="en-US" dirty="0" err="1"/>
              <a:t>powinna</a:t>
            </a:r>
            <a:r>
              <a:rPr lang="en-US" dirty="0"/>
              <a:t> </a:t>
            </a:r>
            <a:r>
              <a:rPr lang="en-US" dirty="0" err="1"/>
              <a:t>być</a:t>
            </a:r>
            <a:r>
              <a:rPr lang="en-US" dirty="0"/>
              <a:t> dana </a:t>
            </a:r>
            <a:r>
              <a:rPr lang="en-US" dirty="0" err="1"/>
              <a:t>sieć</a:t>
            </a:r>
            <a:r>
              <a:rPr lang="en-US" dirty="0"/>
              <a:t> </a:t>
            </a:r>
            <a:r>
              <a:rPr lang="en-US" dirty="0" err="1"/>
              <a:t>neuronowa</a:t>
            </a:r>
            <a:endParaRPr lang="pl-PL" dirty="0"/>
          </a:p>
          <a:p>
            <a:endParaRPr lang="pl-PL" dirty="0"/>
          </a:p>
          <a:p>
            <a:r>
              <a:rPr lang="en-US" dirty="0" err="1"/>
              <a:t>Takie</a:t>
            </a:r>
            <a:r>
              <a:rPr lang="en-US" dirty="0"/>
              <a:t> </a:t>
            </a:r>
            <a:r>
              <a:rPr lang="en-US" dirty="0" err="1"/>
              <a:t>losowe</a:t>
            </a:r>
            <a:r>
              <a:rPr lang="en-US" dirty="0"/>
              <a:t> </a:t>
            </a:r>
            <a:r>
              <a:rPr lang="en-US" dirty="0" err="1"/>
              <a:t>porzucanie</a:t>
            </a:r>
            <a:r>
              <a:rPr lang="en-US" dirty="0"/>
              <a:t> </a:t>
            </a:r>
            <a:r>
              <a:rPr lang="en-US" dirty="0" err="1"/>
              <a:t>zmusza</a:t>
            </a:r>
            <a:r>
              <a:rPr lang="en-US" dirty="0"/>
              <a:t> </a:t>
            </a:r>
            <a:r>
              <a:rPr lang="en-US" dirty="0" err="1"/>
              <a:t>sieć</a:t>
            </a:r>
            <a:r>
              <a:rPr lang="en-US" dirty="0"/>
              <a:t> do </a:t>
            </a:r>
            <a:r>
              <a:rPr lang="en-US" dirty="0" err="1"/>
              <a:t>nadmiarowego</a:t>
            </a:r>
            <a:r>
              <a:rPr lang="en-US" dirty="0"/>
              <a:t> </a:t>
            </a:r>
            <a:r>
              <a:rPr lang="en-US" dirty="0" err="1"/>
              <a:t>reprezentowania</a:t>
            </a:r>
            <a:r>
              <a:rPr lang="en-US" dirty="0"/>
              <a:t> </a:t>
            </a:r>
            <a:r>
              <a:rPr lang="en-US" dirty="0" err="1"/>
              <a:t>danych</a:t>
            </a:r>
            <a:r>
              <a:rPr lang="en-US" dirty="0"/>
              <a:t>. </a:t>
            </a:r>
            <a:r>
              <a:rPr lang="en-US" dirty="0" err="1"/>
              <a:t>Zatem</a:t>
            </a:r>
            <a:r>
              <a:rPr lang="en-US" dirty="0"/>
              <a:t> </a:t>
            </a:r>
            <a:r>
              <a:rPr lang="en-US" dirty="0" err="1"/>
              <a:t>nie</a:t>
            </a:r>
            <a:r>
              <a:rPr lang="en-US" dirty="0"/>
              <a:t> </a:t>
            </a:r>
            <a:r>
              <a:rPr lang="en-US" dirty="0" err="1"/>
              <a:t>może</a:t>
            </a:r>
            <a:r>
              <a:rPr lang="en-US" dirty="0"/>
              <a:t> </a:t>
            </a:r>
            <a:r>
              <a:rPr lang="en-US" dirty="0" err="1"/>
              <a:t>być</a:t>
            </a:r>
            <a:r>
              <a:rPr lang="en-US" dirty="0"/>
              <a:t> </a:t>
            </a:r>
            <a:r>
              <a:rPr lang="en-US" dirty="0" err="1"/>
              <a:t>ona</a:t>
            </a:r>
            <a:r>
              <a:rPr lang="en-US" dirty="0"/>
              <a:t> </a:t>
            </a:r>
            <a:r>
              <a:rPr lang="en-US" dirty="0" err="1"/>
              <a:t>uzależniona</a:t>
            </a:r>
            <a:r>
              <a:rPr lang="en-US" dirty="0"/>
              <a:t> od </a:t>
            </a:r>
            <a:r>
              <a:rPr lang="en-US" dirty="0" err="1"/>
              <a:t>aktywacji</a:t>
            </a:r>
            <a:r>
              <a:rPr lang="en-US" dirty="0"/>
              <a:t> </a:t>
            </a:r>
            <a:r>
              <a:rPr lang="en-US" dirty="0" err="1"/>
              <a:t>dowolnego</a:t>
            </a:r>
            <a:r>
              <a:rPr lang="en-US" dirty="0"/>
              <a:t> </a:t>
            </a:r>
            <a:r>
              <a:rPr lang="en-US" dirty="0" err="1"/>
              <a:t>zbioru</a:t>
            </a:r>
            <a:r>
              <a:rPr lang="en-US" dirty="0"/>
              <a:t> </a:t>
            </a:r>
            <a:r>
              <a:rPr lang="en-US" dirty="0" err="1"/>
              <a:t>jednostek</a:t>
            </a:r>
            <a:r>
              <a:rPr lang="en-US" dirty="0"/>
              <a:t> </a:t>
            </a:r>
            <a:r>
              <a:rPr lang="en-US" dirty="0" err="1"/>
              <a:t>ukrytych</a:t>
            </a:r>
            <a:r>
              <a:rPr lang="en-US" dirty="0"/>
              <a:t>, </a:t>
            </a:r>
            <a:endParaRPr lang="pl-PL" dirty="0"/>
          </a:p>
          <a:p>
            <a:r>
              <a:rPr lang="en-US" dirty="0" err="1"/>
              <a:t>ponieważ</a:t>
            </a:r>
            <a:r>
              <a:rPr lang="en-US" dirty="0"/>
              <a:t> </a:t>
            </a:r>
            <a:r>
              <a:rPr lang="en-US" dirty="0" err="1"/>
              <a:t>te</a:t>
            </a:r>
            <a:r>
              <a:rPr lang="en-US" dirty="0"/>
              <a:t> </a:t>
            </a:r>
            <a:r>
              <a:rPr lang="en-US" dirty="0" err="1"/>
              <a:t>mogą</a:t>
            </a:r>
            <a:r>
              <a:rPr lang="en-US" dirty="0"/>
              <a:t> </a:t>
            </a:r>
            <a:r>
              <a:rPr lang="en-US" dirty="0" err="1"/>
              <a:t>zostać</a:t>
            </a:r>
            <a:r>
              <a:rPr lang="en-US" dirty="0"/>
              <a:t> </a:t>
            </a:r>
            <a:r>
              <a:rPr lang="en-US" dirty="0" err="1"/>
              <a:t>wyłączone</a:t>
            </a:r>
            <a:r>
              <a:rPr lang="en-US" dirty="0"/>
              <a:t> w </a:t>
            </a:r>
            <a:r>
              <a:rPr lang="en-US" dirty="0" err="1"/>
              <a:t>dowolnym</a:t>
            </a:r>
            <a:r>
              <a:rPr lang="en-US" dirty="0"/>
              <a:t> </a:t>
            </a:r>
            <a:r>
              <a:rPr lang="en-US" dirty="0" err="1"/>
              <a:t>przebiegu</a:t>
            </a:r>
            <a:r>
              <a:rPr lang="en-US" dirty="0"/>
              <a:t> </a:t>
            </a:r>
            <a:r>
              <a:rPr lang="en-US" dirty="0" err="1"/>
              <a:t>podczas</a:t>
            </a:r>
            <a:r>
              <a:rPr lang="en-US" dirty="0"/>
              <a:t> </a:t>
            </a:r>
            <a:r>
              <a:rPr lang="en-US" dirty="0" err="1"/>
              <a:t>uczenia</a:t>
            </a:r>
            <a:r>
              <a:rPr lang="en-US" dirty="0"/>
              <a:t>, </a:t>
            </a:r>
            <a:r>
              <a:rPr lang="en-US" dirty="0" err="1"/>
              <a:t>przez</a:t>
            </a:r>
            <a:r>
              <a:rPr lang="en-US" dirty="0"/>
              <a:t> co </a:t>
            </a:r>
            <a:r>
              <a:rPr lang="en-US" dirty="0" err="1"/>
              <a:t>sieć</a:t>
            </a:r>
            <a:r>
              <a:rPr lang="en-US" dirty="0"/>
              <a:t> </a:t>
            </a:r>
            <a:r>
              <a:rPr lang="en-US" dirty="0" err="1"/>
              <a:t>zostaje</a:t>
            </a:r>
            <a:r>
              <a:rPr lang="en-US" dirty="0"/>
              <a:t> </a:t>
            </a:r>
            <a:r>
              <a:rPr lang="en-US" dirty="0" err="1"/>
              <a:t>zmu</a:t>
            </a:r>
            <a:r>
              <a:rPr lang="en-US" dirty="0"/>
              <a:t> </a:t>
            </a:r>
            <a:r>
              <a:rPr lang="en-US" dirty="0" err="1"/>
              <a:t>szona</a:t>
            </a:r>
            <a:r>
              <a:rPr lang="en-US" dirty="0"/>
              <a:t> do </a:t>
            </a:r>
            <a:r>
              <a:rPr lang="en-US" dirty="0" err="1"/>
              <a:t>ogólniejszego</a:t>
            </a:r>
            <a:r>
              <a:rPr lang="en-US" dirty="0"/>
              <a:t> </a:t>
            </a:r>
            <a:r>
              <a:rPr lang="en-US" dirty="0" err="1"/>
              <a:t>i</a:t>
            </a:r>
            <a:r>
              <a:rPr lang="en-US" dirty="0"/>
              <a:t> </a:t>
            </a:r>
            <a:r>
              <a:rPr lang="en-US" dirty="0" err="1"/>
              <a:t>bardziej</a:t>
            </a:r>
            <a:r>
              <a:rPr lang="en-US" dirty="0"/>
              <a:t> </a:t>
            </a:r>
            <a:r>
              <a:rPr lang="en-US" dirty="0" err="1"/>
              <a:t>wszechstronnego</a:t>
            </a:r>
            <a:r>
              <a:rPr lang="en-US" dirty="0"/>
              <a:t> </a:t>
            </a:r>
            <a:r>
              <a:rPr lang="en-US" dirty="0" err="1"/>
              <a:t>rozpoznawania</a:t>
            </a:r>
            <a:r>
              <a:rPr lang="en-US" dirty="0"/>
              <a:t> </a:t>
            </a:r>
            <a:r>
              <a:rPr lang="en-US" dirty="0" err="1"/>
              <a:t>wzorców</a:t>
            </a:r>
            <a:r>
              <a:rPr lang="en-US" dirty="0"/>
              <a:t> w </a:t>
            </a:r>
            <a:r>
              <a:rPr lang="en-US" dirty="0" err="1"/>
              <a:t>danych</a:t>
            </a:r>
            <a:r>
              <a:rPr lang="pl-PL" dirty="0"/>
              <a:t>.</a:t>
            </a:r>
          </a:p>
          <a:p>
            <a:endParaRPr lang="pl-PL" dirty="0"/>
          </a:p>
          <a:p>
            <a:r>
              <a:rPr lang="pl-PL" dirty="0"/>
              <a:t>Jak to wygląda w praktyce prezentuje dwa rysunki na slajdzie. </a:t>
            </a:r>
            <a:endParaRPr lang="en-US" dirty="0"/>
          </a:p>
        </p:txBody>
      </p:sp>
    </p:spTree>
    <p:extLst>
      <p:ext uri="{BB962C8B-B14F-4D97-AF65-F5344CB8AC3E}">
        <p14:creationId xmlns:p14="http://schemas.microsoft.com/office/powerpoint/2010/main" val="16278725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Projektowanie takich sieci to jednak bardzo dużo problemów, które należy się zmierzyć.</a:t>
            </a:r>
          </a:p>
          <a:p>
            <a:r>
              <a:rPr lang="pl-PL" dirty="0"/>
              <a:t>W rzeczywistych problemach trenowanie takich sieci może zabierać dnia a nawet miesiące i kosztować bardzo dużo mocy obliczeniowej.</a:t>
            </a:r>
          </a:p>
          <a:p>
            <a:r>
              <a:rPr lang="pl-PL" dirty="0"/>
              <a:t>Czyli finalnie pieniędzy. Chcemy przemyśleć pewny rzeczy na etapie projektowanie, aby zminimalizować przykre niespodzianki.</a:t>
            </a:r>
          </a:p>
          <a:p>
            <a:r>
              <a:rPr lang="pl-PL" dirty="0"/>
              <a:t>Uczenie maszynowe to temat, w którym trzeba mieć wiele doświadczenia, nie tyko z problemami ściśle związanymi z siecią ale także z dziedziną która się jej używa.</a:t>
            </a:r>
          </a:p>
          <a:p>
            <a:r>
              <a:rPr lang="pl-PL" dirty="0"/>
              <a:t>Tylko wtedy będziemy wstanie ocenić jej pracę i modyfikować w kierunku, który wydaje się nam najlepszy.</a:t>
            </a:r>
            <a:endParaRPr lang="en-US" dirty="0"/>
          </a:p>
        </p:txBody>
      </p:sp>
    </p:spTree>
    <p:extLst>
      <p:ext uri="{BB962C8B-B14F-4D97-AF65-F5344CB8AC3E}">
        <p14:creationId xmlns:p14="http://schemas.microsoft.com/office/powerpoint/2010/main" val="23527293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Dziedzina, która ja się zajmuje to nauka o danych. Jest to dziedzina, gdzie używa się wiedzy i umiejętności z trzech głównych obszarów – programowanie, wiedzy matematycznej i wiedzy dziedzinowej -</a:t>
            </a:r>
          </a:p>
          <a:p>
            <a:r>
              <a:rPr lang="pl-PL" dirty="0"/>
              <a:t>Ja konkretnie pomagam w rozpoznawaniu elementów samochodu w fabryce, aby część samochodu została poprawnie zamontowana w finalnej wersji samochodu.</a:t>
            </a:r>
          </a:p>
          <a:p>
            <a:endParaRPr lang="en-US" dirty="0"/>
          </a:p>
        </p:txBody>
      </p:sp>
    </p:spTree>
    <p:extLst>
      <p:ext uri="{BB962C8B-B14F-4D97-AF65-F5344CB8AC3E}">
        <p14:creationId xmlns:p14="http://schemas.microsoft.com/office/powerpoint/2010/main" val="3105159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W praktyce budowanie takiego modelu to jeden z etapów pracy.</a:t>
            </a:r>
          </a:p>
          <a:p>
            <a:r>
              <a:rPr lang="pl-PL" dirty="0"/>
              <a:t>Budowanie modelu zaczynamy od zdefiniowanie problemu i zdefiniowania danych - format, źródła, czy musimy z nich stworzyć nowe.</a:t>
            </a:r>
          </a:p>
          <a:p>
            <a:r>
              <a:rPr lang="pl-PL" dirty="0"/>
              <a:t>Następnie przeprocesujemy te dane i wydobywany cechy, czyli wartości do naszych macierzy. </a:t>
            </a:r>
          </a:p>
          <a:p>
            <a:r>
              <a:rPr lang="pl-PL" dirty="0"/>
              <a:t>Wybieramy jaki algorytm chcemy użyć, może też być ich kilka. I wybierzemy ten, który będzie najlepiej działał.</a:t>
            </a:r>
          </a:p>
          <a:p>
            <a:r>
              <a:rPr lang="pl-PL" dirty="0"/>
              <a:t>Trenujemy modelu, testujemy, poprawiamy go przez modyfikację parametrów. </a:t>
            </a:r>
          </a:p>
          <a:p>
            <a:r>
              <a:rPr lang="pl-PL" dirty="0"/>
              <a:t>Wdrażamy go i używamy. Po pewnym czasie może być tak, że musimy go uzupełnić i przeprowadzamy cały cykl od nowa.</a:t>
            </a:r>
          </a:p>
        </p:txBody>
      </p:sp>
    </p:spTree>
    <p:extLst>
      <p:ext uri="{BB962C8B-B14F-4D97-AF65-F5344CB8AC3E}">
        <p14:creationId xmlns:p14="http://schemas.microsoft.com/office/powerpoint/2010/main" val="24086677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Już wiemy jak uczą się neuronowy w sieci neuronowej. A co z nami?</a:t>
            </a:r>
          </a:p>
          <a:p>
            <a:r>
              <a:rPr lang="pl-PL" dirty="0"/>
              <a:t>My mamy nawet więcej neuronów  i jesteśmy bardziej kreatywni. </a:t>
            </a:r>
          </a:p>
          <a:p>
            <a:r>
              <a:rPr lang="pl-PL" dirty="0"/>
              <a:t>Obecny świat w dziedzinach umysłowych jest bardziej wymagający niż poprzednie. </a:t>
            </a:r>
          </a:p>
          <a:p>
            <a:r>
              <a:rPr lang="pl-PL" dirty="0"/>
              <a:t>W szczególności gdy wszystko walczy o naszą uwagę. Mamy też wiele rzeczy, które nam przeszkadzają.</a:t>
            </a:r>
          </a:p>
          <a:p>
            <a:r>
              <a:rPr lang="pl-PL" dirty="0"/>
              <a:t>Jak sobie z tym poradzić? Jest na to odpowiedź – trzeba ćwiczyć koncentrację, bo to jest podstawa uczenia się (i to nie tylko w szkole).</a:t>
            </a:r>
          </a:p>
          <a:p>
            <a:r>
              <a:rPr lang="pl-PL" dirty="0"/>
              <a:t>Pomagam nam też zrobić to co mamy zrobić i chcemy zrobić w najkrótszym czasie, aby mieć więcej wolnego.</a:t>
            </a:r>
          </a:p>
          <a:p>
            <a:r>
              <a:rPr lang="pl-PL" dirty="0"/>
              <a:t>Najlepsi potrafią skoncentrować się nawet do 1h, wytrąceniu z koncentracji dość szybko potrafią do niej wrócić.</a:t>
            </a:r>
          </a:p>
          <a:p>
            <a:r>
              <a:rPr lang="pl-PL" dirty="0"/>
              <a:t>Polecam Państwu przedstawione tutaj ćwiczenia. Chociaż jedno z nich raz dziennie.</a:t>
            </a:r>
            <a:endParaRPr lang="en-US" dirty="0"/>
          </a:p>
        </p:txBody>
      </p:sp>
    </p:spTree>
    <p:extLst>
      <p:ext uri="{BB962C8B-B14F-4D97-AF65-F5344CB8AC3E}">
        <p14:creationId xmlns:p14="http://schemas.microsoft.com/office/powerpoint/2010/main" val="2128945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r>
              <a:rPr lang="pl-PL" dirty="0"/>
              <a:t>Przejdźmy do podsumowanie tego co się dzisiaj nauczyliśmy. </a:t>
            </a:r>
            <a:endParaRPr lang="en-US" dirty="0"/>
          </a:p>
        </p:txBody>
      </p:sp>
    </p:spTree>
    <p:extLst>
      <p:ext uri="{BB962C8B-B14F-4D97-AF65-F5344CB8AC3E}">
        <p14:creationId xmlns:p14="http://schemas.microsoft.com/office/powerpoint/2010/main" val="13962205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82383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BBAC8A5-903E-45F4-5687-27221AEF0501}"/>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endParaRPr lang="en-US"/>
          </a:p>
        </p:txBody>
      </p:sp>
      <p:sp>
        <p:nvSpPr>
          <p:cNvPr id="3" name="Podtytuł 2">
            <a:extLst>
              <a:ext uri="{FF2B5EF4-FFF2-40B4-BE49-F238E27FC236}">
                <a16:creationId xmlns:a16="http://schemas.microsoft.com/office/drawing/2014/main" id="{A9A396AB-F99C-31D0-14A6-94F6E941A6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endParaRPr lang="en-US"/>
          </a:p>
        </p:txBody>
      </p:sp>
      <p:sp>
        <p:nvSpPr>
          <p:cNvPr id="4" name="Symbol zastępczy daty 3">
            <a:extLst>
              <a:ext uri="{FF2B5EF4-FFF2-40B4-BE49-F238E27FC236}">
                <a16:creationId xmlns:a16="http://schemas.microsoft.com/office/drawing/2014/main" id="{E8FEAC77-4DE2-3675-5A3C-9E8E62019830}"/>
              </a:ext>
            </a:extLst>
          </p:cNvPr>
          <p:cNvSpPr>
            <a:spLocks noGrp="1"/>
          </p:cNvSpPr>
          <p:nvPr>
            <p:ph type="dt" sz="half" idx="10"/>
          </p:nvPr>
        </p:nvSpPr>
        <p:spPr/>
        <p:txBody>
          <a:bodyPr/>
          <a:lstStyle/>
          <a:p>
            <a:endParaRPr lang="en-US"/>
          </a:p>
        </p:txBody>
      </p:sp>
      <p:sp>
        <p:nvSpPr>
          <p:cNvPr id="5" name="Symbol zastępczy stopki 4">
            <a:extLst>
              <a:ext uri="{FF2B5EF4-FFF2-40B4-BE49-F238E27FC236}">
                <a16:creationId xmlns:a16="http://schemas.microsoft.com/office/drawing/2014/main" id="{AED0FDCB-EC40-92E7-48C2-51DA74FABCB6}"/>
              </a:ext>
            </a:extLst>
          </p:cNvPr>
          <p:cNvSpPr>
            <a:spLocks noGrp="1"/>
          </p:cNvSpPr>
          <p:nvPr>
            <p:ph type="ftr" sz="quarter" idx="11"/>
          </p:nvPr>
        </p:nvSpPr>
        <p:spPr/>
        <p:txBody>
          <a:bodyPr/>
          <a:lstStyle/>
          <a:p>
            <a:r>
              <a:rPr lang="en-US"/>
              <a:t>ace.oracle.com</a:t>
            </a:r>
          </a:p>
        </p:txBody>
      </p:sp>
      <p:sp>
        <p:nvSpPr>
          <p:cNvPr id="6" name="Symbol zastępczy numeru slajdu 5">
            <a:extLst>
              <a:ext uri="{FF2B5EF4-FFF2-40B4-BE49-F238E27FC236}">
                <a16:creationId xmlns:a16="http://schemas.microsoft.com/office/drawing/2014/main" id="{6E1C7845-FF63-DCE4-147F-B55C2DD73ED6}"/>
              </a:ext>
            </a:extLst>
          </p:cNvPr>
          <p:cNvSpPr>
            <a:spLocks noGrp="1"/>
          </p:cNvSpPr>
          <p:nvPr>
            <p:ph type="sldNum" sz="quarter" idx="12"/>
          </p:nvPr>
        </p:nvSpPr>
        <p:spPr/>
        <p:txBody>
          <a:bodyPr/>
          <a:lstStyle/>
          <a:p>
            <a:fld id="{59EE002E-3E46-486E-AA6C-735F03B6F9C6}" type="slidenum">
              <a:rPr lang="en-US" smtClean="0"/>
              <a:t>‹#›</a:t>
            </a:fld>
            <a:endParaRPr lang="en-US"/>
          </a:p>
        </p:txBody>
      </p:sp>
    </p:spTree>
    <p:extLst>
      <p:ext uri="{BB962C8B-B14F-4D97-AF65-F5344CB8AC3E}">
        <p14:creationId xmlns:p14="http://schemas.microsoft.com/office/powerpoint/2010/main" val="1372621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A5E9673-CECF-8C0B-CB91-3AD1BEAD86C4}"/>
              </a:ext>
            </a:extLst>
          </p:cNvPr>
          <p:cNvSpPr>
            <a:spLocks noGrp="1"/>
          </p:cNvSpPr>
          <p:nvPr>
            <p:ph type="title"/>
          </p:nvPr>
        </p:nvSpPr>
        <p:spPr/>
        <p:txBody>
          <a:bodyPr/>
          <a:lstStyle/>
          <a:p>
            <a:r>
              <a:rPr lang="pl-PL"/>
              <a:t>Kliknij, aby edytować styl</a:t>
            </a:r>
            <a:endParaRPr lang="en-US"/>
          </a:p>
        </p:txBody>
      </p:sp>
      <p:sp>
        <p:nvSpPr>
          <p:cNvPr id="3" name="Symbol zastępczy zawartości 2">
            <a:extLst>
              <a:ext uri="{FF2B5EF4-FFF2-40B4-BE49-F238E27FC236}">
                <a16:creationId xmlns:a16="http://schemas.microsoft.com/office/drawing/2014/main" id="{6F9F1A72-1A27-F833-01F9-334EF4746908}"/>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Symbol zastępczy daty 3">
            <a:extLst>
              <a:ext uri="{FF2B5EF4-FFF2-40B4-BE49-F238E27FC236}">
                <a16:creationId xmlns:a16="http://schemas.microsoft.com/office/drawing/2014/main" id="{80C0B8A8-33A6-7080-257F-098CC115805B}"/>
              </a:ext>
            </a:extLst>
          </p:cNvPr>
          <p:cNvSpPr>
            <a:spLocks noGrp="1"/>
          </p:cNvSpPr>
          <p:nvPr>
            <p:ph type="dt" sz="half" idx="10"/>
          </p:nvPr>
        </p:nvSpPr>
        <p:spPr/>
        <p:txBody>
          <a:bodyPr/>
          <a:lstStyle/>
          <a:p>
            <a:endParaRPr lang="en-US"/>
          </a:p>
        </p:txBody>
      </p:sp>
      <p:sp>
        <p:nvSpPr>
          <p:cNvPr id="5" name="Symbol zastępczy stopki 4">
            <a:extLst>
              <a:ext uri="{FF2B5EF4-FFF2-40B4-BE49-F238E27FC236}">
                <a16:creationId xmlns:a16="http://schemas.microsoft.com/office/drawing/2014/main" id="{D927F8D7-CE90-6E9D-F4CD-91A0300699CF}"/>
              </a:ext>
            </a:extLst>
          </p:cNvPr>
          <p:cNvSpPr>
            <a:spLocks noGrp="1"/>
          </p:cNvSpPr>
          <p:nvPr>
            <p:ph type="ftr" sz="quarter" idx="11"/>
          </p:nvPr>
        </p:nvSpPr>
        <p:spPr/>
        <p:txBody>
          <a:bodyPr/>
          <a:lstStyle/>
          <a:p>
            <a:r>
              <a:rPr lang="en-US"/>
              <a:t>ace.oracle.com</a:t>
            </a:r>
          </a:p>
        </p:txBody>
      </p:sp>
      <p:sp>
        <p:nvSpPr>
          <p:cNvPr id="6" name="Symbol zastępczy numeru slajdu 5">
            <a:extLst>
              <a:ext uri="{FF2B5EF4-FFF2-40B4-BE49-F238E27FC236}">
                <a16:creationId xmlns:a16="http://schemas.microsoft.com/office/drawing/2014/main" id="{9A927999-5ABA-8692-048E-CD3322B0A284}"/>
              </a:ext>
            </a:extLst>
          </p:cNvPr>
          <p:cNvSpPr>
            <a:spLocks noGrp="1"/>
          </p:cNvSpPr>
          <p:nvPr>
            <p:ph type="sldNum" sz="quarter" idx="12"/>
          </p:nvPr>
        </p:nvSpPr>
        <p:spPr/>
        <p:txBody>
          <a:bodyPr/>
          <a:lstStyle/>
          <a:p>
            <a:fld id="{59EE002E-3E46-486E-AA6C-735F03B6F9C6}" type="slidenum">
              <a:rPr lang="en-US" smtClean="0"/>
              <a:t>‹#›</a:t>
            </a:fld>
            <a:endParaRPr lang="en-US"/>
          </a:p>
        </p:txBody>
      </p:sp>
    </p:spTree>
    <p:extLst>
      <p:ext uri="{BB962C8B-B14F-4D97-AF65-F5344CB8AC3E}">
        <p14:creationId xmlns:p14="http://schemas.microsoft.com/office/powerpoint/2010/main" val="2841301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49266D4-94C8-8D95-C367-128842B92689}"/>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endParaRPr lang="en-US"/>
          </a:p>
        </p:txBody>
      </p:sp>
      <p:sp>
        <p:nvSpPr>
          <p:cNvPr id="3" name="Symbol zastępczy tekstu 2">
            <a:extLst>
              <a:ext uri="{FF2B5EF4-FFF2-40B4-BE49-F238E27FC236}">
                <a16:creationId xmlns:a16="http://schemas.microsoft.com/office/drawing/2014/main" id="{4E6B0A24-2A91-EC64-742F-42A365C51D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231D4375-82BC-B17E-F313-AEF55B3E91E9}"/>
              </a:ext>
            </a:extLst>
          </p:cNvPr>
          <p:cNvSpPr>
            <a:spLocks noGrp="1"/>
          </p:cNvSpPr>
          <p:nvPr>
            <p:ph type="dt" sz="half" idx="10"/>
          </p:nvPr>
        </p:nvSpPr>
        <p:spPr/>
        <p:txBody>
          <a:bodyPr/>
          <a:lstStyle/>
          <a:p>
            <a:endParaRPr lang="en-US"/>
          </a:p>
        </p:txBody>
      </p:sp>
      <p:sp>
        <p:nvSpPr>
          <p:cNvPr id="5" name="Symbol zastępczy stopki 4">
            <a:extLst>
              <a:ext uri="{FF2B5EF4-FFF2-40B4-BE49-F238E27FC236}">
                <a16:creationId xmlns:a16="http://schemas.microsoft.com/office/drawing/2014/main" id="{C74DAC61-A393-945D-820B-7C76F7C8C563}"/>
              </a:ext>
            </a:extLst>
          </p:cNvPr>
          <p:cNvSpPr>
            <a:spLocks noGrp="1"/>
          </p:cNvSpPr>
          <p:nvPr>
            <p:ph type="ftr" sz="quarter" idx="11"/>
          </p:nvPr>
        </p:nvSpPr>
        <p:spPr/>
        <p:txBody>
          <a:bodyPr/>
          <a:lstStyle/>
          <a:p>
            <a:r>
              <a:rPr lang="en-US"/>
              <a:t>ace.oracle.com</a:t>
            </a:r>
          </a:p>
        </p:txBody>
      </p:sp>
      <p:sp>
        <p:nvSpPr>
          <p:cNvPr id="6" name="Symbol zastępczy numeru slajdu 5">
            <a:extLst>
              <a:ext uri="{FF2B5EF4-FFF2-40B4-BE49-F238E27FC236}">
                <a16:creationId xmlns:a16="http://schemas.microsoft.com/office/drawing/2014/main" id="{E8319AA5-02F0-375C-B2A8-D8C4C9EC54C7}"/>
              </a:ext>
            </a:extLst>
          </p:cNvPr>
          <p:cNvSpPr>
            <a:spLocks noGrp="1"/>
          </p:cNvSpPr>
          <p:nvPr>
            <p:ph type="sldNum" sz="quarter" idx="12"/>
          </p:nvPr>
        </p:nvSpPr>
        <p:spPr/>
        <p:txBody>
          <a:bodyPr/>
          <a:lstStyle/>
          <a:p>
            <a:fld id="{59EE002E-3E46-486E-AA6C-735F03B6F9C6}" type="slidenum">
              <a:rPr lang="en-US" smtClean="0"/>
              <a:t>‹#›</a:t>
            </a:fld>
            <a:endParaRPr lang="en-US"/>
          </a:p>
        </p:txBody>
      </p:sp>
    </p:spTree>
    <p:extLst>
      <p:ext uri="{BB962C8B-B14F-4D97-AF65-F5344CB8AC3E}">
        <p14:creationId xmlns:p14="http://schemas.microsoft.com/office/powerpoint/2010/main" val="2421703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9674018-6432-2EB5-8EBC-251AAE86891B}"/>
              </a:ext>
            </a:extLst>
          </p:cNvPr>
          <p:cNvSpPr>
            <a:spLocks noGrp="1"/>
          </p:cNvSpPr>
          <p:nvPr>
            <p:ph type="title"/>
          </p:nvPr>
        </p:nvSpPr>
        <p:spPr/>
        <p:txBody>
          <a:bodyPr/>
          <a:lstStyle/>
          <a:p>
            <a:r>
              <a:rPr lang="pl-PL"/>
              <a:t>Kliknij, aby edytować styl</a:t>
            </a:r>
            <a:endParaRPr lang="en-US"/>
          </a:p>
        </p:txBody>
      </p:sp>
      <p:sp>
        <p:nvSpPr>
          <p:cNvPr id="3" name="Symbol zastępczy zawartości 2">
            <a:extLst>
              <a:ext uri="{FF2B5EF4-FFF2-40B4-BE49-F238E27FC236}">
                <a16:creationId xmlns:a16="http://schemas.microsoft.com/office/drawing/2014/main" id="{CF772A5C-094E-AD26-3129-9D01C6F32EA6}"/>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Symbol zastępczy zawartości 3">
            <a:extLst>
              <a:ext uri="{FF2B5EF4-FFF2-40B4-BE49-F238E27FC236}">
                <a16:creationId xmlns:a16="http://schemas.microsoft.com/office/drawing/2014/main" id="{EAC37545-03E0-21A5-8EC2-FD27C3ADA3DC}"/>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5" name="Symbol zastępczy daty 4">
            <a:extLst>
              <a:ext uri="{FF2B5EF4-FFF2-40B4-BE49-F238E27FC236}">
                <a16:creationId xmlns:a16="http://schemas.microsoft.com/office/drawing/2014/main" id="{74A1F81C-F2F8-B8A9-AEE1-AFC9B7ED2828}"/>
              </a:ext>
            </a:extLst>
          </p:cNvPr>
          <p:cNvSpPr>
            <a:spLocks noGrp="1"/>
          </p:cNvSpPr>
          <p:nvPr>
            <p:ph type="dt" sz="half" idx="10"/>
          </p:nvPr>
        </p:nvSpPr>
        <p:spPr/>
        <p:txBody>
          <a:bodyPr/>
          <a:lstStyle/>
          <a:p>
            <a:endParaRPr lang="en-US"/>
          </a:p>
        </p:txBody>
      </p:sp>
      <p:sp>
        <p:nvSpPr>
          <p:cNvPr id="6" name="Symbol zastępczy stopki 5">
            <a:extLst>
              <a:ext uri="{FF2B5EF4-FFF2-40B4-BE49-F238E27FC236}">
                <a16:creationId xmlns:a16="http://schemas.microsoft.com/office/drawing/2014/main" id="{11DCFC34-0751-B0A9-1532-A1B3934AEEDB}"/>
              </a:ext>
            </a:extLst>
          </p:cNvPr>
          <p:cNvSpPr>
            <a:spLocks noGrp="1"/>
          </p:cNvSpPr>
          <p:nvPr>
            <p:ph type="ftr" sz="quarter" idx="11"/>
          </p:nvPr>
        </p:nvSpPr>
        <p:spPr/>
        <p:txBody>
          <a:bodyPr/>
          <a:lstStyle/>
          <a:p>
            <a:r>
              <a:rPr lang="en-US"/>
              <a:t>ace.oracle.com</a:t>
            </a:r>
          </a:p>
        </p:txBody>
      </p:sp>
      <p:sp>
        <p:nvSpPr>
          <p:cNvPr id="7" name="Symbol zastępczy numeru slajdu 6">
            <a:extLst>
              <a:ext uri="{FF2B5EF4-FFF2-40B4-BE49-F238E27FC236}">
                <a16:creationId xmlns:a16="http://schemas.microsoft.com/office/drawing/2014/main" id="{97430F85-3FD2-F2B8-29D9-468A88E2F8B8}"/>
              </a:ext>
            </a:extLst>
          </p:cNvPr>
          <p:cNvSpPr>
            <a:spLocks noGrp="1"/>
          </p:cNvSpPr>
          <p:nvPr>
            <p:ph type="sldNum" sz="quarter" idx="12"/>
          </p:nvPr>
        </p:nvSpPr>
        <p:spPr/>
        <p:txBody>
          <a:bodyPr/>
          <a:lstStyle/>
          <a:p>
            <a:fld id="{59EE002E-3E46-486E-AA6C-735F03B6F9C6}" type="slidenum">
              <a:rPr lang="en-US" smtClean="0"/>
              <a:t>‹#›</a:t>
            </a:fld>
            <a:endParaRPr lang="en-US"/>
          </a:p>
        </p:txBody>
      </p:sp>
    </p:spTree>
    <p:extLst>
      <p:ext uri="{BB962C8B-B14F-4D97-AF65-F5344CB8AC3E}">
        <p14:creationId xmlns:p14="http://schemas.microsoft.com/office/powerpoint/2010/main" val="89950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A7742A1-CADE-F50F-421B-0E3F83FFF4CA}"/>
              </a:ext>
            </a:extLst>
          </p:cNvPr>
          <p:cNvSpPr>
            <a:spLocks noGrp="1"/>
          </p:cNvSpPr>
          <p:nvPr>
            <p:ph type="title"/>
          </p:nvPr>
        </p:nvSpPr>
        <p:spPr>
          <a:xfrm>
            <a:off x="839788" y="365125"/>
            <a:ext cx="10515600" cy="1325563"/>
          </a:xfrm>
        </p:spPr>
        <p:txBody>
          <a:bodyPr/>
          <a:lstStyle/>
          <a:p>
            <a:r>
              <a:rPr lang="pl-PL"/>
              <a:t>Kliknij, aby edytować styl</a:t>
            </a:r>
            <a:endParaRPr lang="en-US"/>
          </a:p>
        </p:txBody>
      </p:sp>
      <p:sp>
        <p:nvSpPr>
          <p:cNvPr id="3" name="Symbol zastępczy tekstu 2">
            <a:extLst>
              <a:ext uri="{FF2B5EF4-FFF2-40B4-BE49-F238E27FC236}">
                <a16:creationId xmlns:a16="http://schemas.microsoft.com/office/drawing/2014/main" id="{77E64AD6-F9F0-E331-C012-9B03FA63CB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51CB0CC6-2C35-90B0-3B74-6D7BBC8889C4}"/>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5" name="Symbol zastępczy tekstu 4">
            <a:extLst>
              <a:ext uri="{FF2B5EF4-FFF2-40B4-BE49-F238E27FC236}">
                <a16:creationId xmlns:a16="http://schemas.microsoft.com/office/drawing/2014/main" id="{17AF00E5-018F-5DA4-6BEA-CA07501B91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89F22934-D97C-A1FD-EB06-10BDEF7C5DC7}"/>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7" name="Symbol zastępczy daty 6">
            <a:extLst>
              <a:ext uri="{FF2B5EF4-FFF2-40B4-BE49-F238E27FC236}">
                <a16:creationId xmlns:a16="http://schemas.microsoft.com/office/drawing/2014/main" id="{F16D3770-54E3-004E-DF03-9C7494907EF5}"/>
              </a:ext>
            </a:extLst>
          </p:cNvPr>
          <p:cNvSpPr>
            <a:spLocks noGrp="1"/>
          </p:cNvSpPr>
          <p:nvPr>
            <p:ph type="dt" sz="half" idx="10"/>
          </p:nvPr>
        </p:nvSpPr>
        <p:spPr/>
        <p:txBody>
          <a:bodyPr/>
          <a:lstStyle/>
          <a:p>
            <a:endParaRPr lang="en-US"/>
          </a:p>
        </p:txBody>
      </p:sp>
      <p:sp>
        <p:nvSpPr>
          <p:cNvPr id="8" name="Symbol zastępczy stopki 7">
            <a:extLst>
              <a:ext uri="{FF2B5EF4-FFF2-40B4-BE49-F238E27FC236}">
                <a16:creationId xmlns:a16="http://schemas.microsoft.com/office/drawing/2014/main" id="{0E038754-9794-1094-964D-EDAB6963B3A3}"/>
              </a:ext>
            </a:extLst>
          </p:cNvPr>
          <p:cNvSpPr>
            <a:spLocks noGrp="1"/>
          </p:cNvSpPr>
          <p:nvPr>
            <p:ph type="ftr" sz="quarter" idx="11"/>
          </p:nvPr>
        </p:nvSpPr>
        <p:spPr/>
        <p:txBody>
          <a:bodyPr/>
          <a:lstStyle/>
          <a:p>
            <a:r>
              <a:rPr lang="en-US"/>
              <a:t>ace.oracle.com</a:t>
            </a:r>
          </a:p>
        </p:txBody>
      </p:sp>
      <p:sp>
        <p:nvSpPr>
          <p:cNvPr id="9" name="Symbol zastępczy numeru slajdu 8">
            <a:extLst>
              <a:ext uri="{FF2B5EF4-FFF2-40B4-BE49-F238E27FC236}">
                <a16:creationId xmlns:a16="http://schemas.microsoft.com/office/drawing/2014/main" id="{2AA198FE-B4C1-BF5D-E6D1-53E0CF4E8297}"/>
              </a:ext>
            </a:extLst>
          </p:cNvPr>
          <p:cNvSpPr>
            <a:spLocks noGrp="1"/>
          </p:cNvSpPr>
          <p:nvPr>
            <p:ph type="sldNum" sz="quarter" idx="12"/>
          </p:nvPr>
        </p:nvSpPr>
        <p:spPr/>
        <p:txBody>
          <a:bodyPr/>
          <a:lstStyle/>
          <a:p>
            <a:fld id="{59EE002E-3E46-486E-AA6C-735F03B6F9C6}" type="slidenum">
              <a:rPr lang="en-US" smtClean="0"/>
              <a:t>‹#›</a:t>
            </a:fld>
            <a:endParaRPr lang="en-US"/>
          </a:p>
        </p:txBody>
      </p:sp>
    </p:spTree>
    <p:extLst>
      <p:ext uri="{BB962C8B-B14F-4D97-AF65-F5344CB8AC3E}">
        <p14:creationId xmlns:p14="http://schemas.microsoft.com/office/powerpoint/2010/main" val="2356864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BD9000B-FCC3-207F-4A0D-F63C43229691}"/>
              </a:ext>
            </a:extLst>
          </p:cNvPr>
          <p:cNvSpPr>
            <a:spLocks noGrp="1"/>
          </p:cNvSpPr>
          <p:nvPr>
            <p:ph type="title"/>
          </p:nvPr>
        </p:nvSpPr>
        <p:spPr/>
        <p:txBody>
          <a:bodyPr/>
          <a:lstStyle/>
          <a:p>
            <a:r>
              <a:rPr lang="pl-PL"/>
              <a:t>Kliknij, aby edytować styl</a:t>
            </a:r>
            <a:endParaRPr lang="en-US"/>
          </a:p>
        </p:txBody>
      </p:sp>
      <p:sp>
        <p:nvSpPr>
          <p:cNvPr id="3" name="Symbol zastępczy daty 2">
            <a:extLst>
              <a:ext uri="{FF2B5EF4-FFF2-40B4-BE49-F238E27FC236}">
                <a16:creationId xmlns:a16="http://schemas.microsoft.com/office/drawing/2014/main" id="{EAE5D552-F298-8053-B405-49129F928D23}"/>
              </a:ext>
            </a:extLst>
          </p:cNvPr>
          <p:cNvSpPr>
            <a:spLocks noGrp="1"/>
          </p:cNvSpPr>
          <p:nvPr>
            <p:ph type="dt" sz="half" idx="10"/>
          </p:nvPr>
        </p:nvSpPr>
        <p:spPr/>
        <p:txBody>
          <a:bodyPr/>
          <a:lstStyle/>
          <a:p>
            <a:endParaRPr lang="en-US"/>
          </a:p>
        </p:txBody>
      </p:sp>
      <p:sp>
        <p:nvSpPr>
          <p:cNvPr id="4" name="Symbol zastępczy stopki 3">
            <a:extLst>
              <a:ext uri="{FF2B5EF4-FFF2-40B4-BE49-F238E27FC236}">
                <a16:creationId xmlns:a16="http://schemas.microsoft.com/office/drawing/2014/main" id="{4DDCB9F8-5DD3-3AA3-A31A-55B3D20F094A}"/>
              </a:ext>
            </a:extLst>
          </p:cNvPr>
          <p:cNvSpPr>
            <a:spLocks noGrp="1"/>
          </p:cNvSpPr>
          <p:nvPr>
            <p:ph type="ftr" sz="quarter" idx="11"/>
          </p:nvPr>
        </p:nvSpPr>
        <p:spPr/>
        <p:txBody>
          <a:bodyPr/>
          <a:lstStyle/>
          <a:p>
            <a:r>
              <a:rPr lang="en-US"/>
              <a:t>ace.oracle.com</a:t>
            </a:r>
          </a:p>
        </p:txBody>
      </p:sp>
      <p:sp>
        <p:nvSpPr>
          <p:cNvPr id="5" name="Symbol zastępczy numeru slajdu 4">
            <a:extLst>
              <a:ext uri="{FF2B5EF4-FFF2-40B4-BE49-F238E27FC236}">
                <a16:creationId xmlns:a16="http://schemas.microsoft.com/office/drawing/2014/main" id="{4EDC7FBA-E984-B743-89E8-6218955CE7F2}"/>
              </a:ext>
            </a:extLst>
          </p:cNvPr>
          <p:cNvSpPr>
            <a:spLocks noGrp="1"/>
          </p:cNvSpPr>
          <p:nvPr>
            <p:ph type="sldNum" sz="quarter" idx="12"/>
          </p:nvPr>
        </p:nvSpPr>
        <p:spPr/>
        <p:txBody>
          <a:bodyPr/>
          <a:lstStyle/>
          <a:p>
            <a:fld id="{59EE002E-3E46-486E-AA6C-735F03B6F9C6}" type="slidenum">
              <a:rPr lang="en-US" smtClean="0"/>
              <a:t>‹#›</a:t>
            </a:fld>
            <a:endParaRPr lang="en-US"/>
          </a:p>
        </p:txBody>
      </p:sp>
    </p:spTree>
    <p:extLst>
      <p:ext uri="{BB962C8B-B14F-4D97-AF65-F5344CB8AC3E}">
        <p14:creationId xmlns:p14="http://schemas.microsoft.com/office/powerpoint/2010/main" val="326258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A1269A80-0C18-620D-9EC2-C6ABA0249490}"/>
              </a:ext>
            </a:extLst>
          </p:cNvPr>
          <p:cNvSpPr>
            <a:spLocks noGrp="1"/>
          </p:cNvSpPr>
          <p:nvPr>
            <p:ph type="dt" sz="half" idx="10"/>
          </p:nvPr>
        </p:nvSpPr>
        <p:spPr/>
        <p:txBody>
          <a:bodyPr/>
          <a:lstStyle/>
          <a:p>
            <a:endParaRPr lang="en-US"/>
          </a:p>
        </p:txBody>
      </p:sp>
      <p:sp>
        <p:nvSpPr>
          <p:cNvPr id="3" name="Symbol zastępczy stopki 2">
            <a:extLst>
              <a:ext uri="{FF2B5EF4-FFF2-40B4-BE49-F238E27FC236}">
                <a16:creationId xmlns:a16="http://schemas.microsoft.com/office/drawing/2014/main" id="{4FB9BAC9-2618-0963-A47B-ACC769B74BB9}"/>
              </a:ext>
            </a:extLst>
          </p:cNvPr>
          <p:cNvSpPr>
            <a:spLocks noGrp="1"/>
          </p:cNvSpPr>
          <p:nvPr>
            <p:ph type="ftr" sz="quarter" idx="11"/>
          </p:nvPr>
        </p:nvSpPr>
        <p:spPr/>
        <p:txBody>
          <a:bodyPr/>
          <a:lstStyle/>
          <a:p>
            <a:r>
              <a:rPr lang="en-US"/>
              <a:t>ace.oracle.com</a:t>
            </a:r>
          </a:p>
        </p:txBody>
      </p:sp>
      <p:sp>
        <p:nvSpPr>
          <p:cNvPr id="4" name="Symbol zastępczy numeru slajdu 3">
            <a:extLst>
              <a:ext uri="{FF2B5EF4-FFF2-40B4-BE49-F238E27FC236}">
                <a16:creationId xmlns:a16="http://schemas.microsoft.com/office/drawing/2014/main" id="{4EA5A275-0091-0794-28DF-CC4E540E7238}"/>
              </a:ext>
            </a:extLst>
          </p:cNvPr>
          <p:cNvSpPr>
            <a:spLocks noGrp="1"/>
          </p:cNvSpPr>
          <p:nvPr>
            <p:ph type="sldNum" sz="quarter" idx="12"/>
          </p:nvPr>
        </p:nvSpPr>
        <p:spPr/>
        <p:txBody>
          <a:bodyPr/>
          <a:lstStyle/>
          <a:p>
            <a:fld id="{59EE002E-3E46-486E-AA6C-735F03B6F9C6}" type="slidenum">
              <a:rPr lang="en-US" smtClean="0"/>
              <a:t>‹#›</a:t>
            </a:fld>
            <a:endParaRPr lang="en-US"/>
          </a:p>
        </p:txBody>
      </p:sp>
    </p:spTree>
    <p:extLst>
      <p:ext uri="{BB962C8B-B14F-4D97-AF65-F5344CB8AC3E}">
        <p14:creationId xmlns:p14="http://schemas.microsoft.com/office/powerpoint/2010/main" val="324737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DDB42BF-B001-73C3-D1A1-06E89DEFDC7B}"/>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US"/>
          </a:p>
        </p:txBody>
      </p:sp>
      <p:sp>
        <p:nvSpPr>
          <p:cNvPr id="3" name="Symbol zastępczy zawartości 2">
            <a:extLst>
              <a:ext uri="{FF2B5EF4-FFF2-40B4-BE49-F238E27FC236}">
                <a16:creationId xmlns:a16="http://schemas.microsoft.com/office/drawing/2014/main" id="{391C9087-8886-B1D5-A177-48256463DE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Symbol zastępczy tekstu 3">
            <a:extLst>
              <a:ext uri="{FF2B5EF4-FFF2-40B4-BE49-F238E27FC236}">
                <a16:creationId xmlns:a16="http://schemas.microsoft.com/office/drawing/2014/main" id="{5CC48E6F-3998-9042-0032-E5756AD3C7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05F48070-54A1-0A0A-B3CC-B4C5D89485AB}"/>
              </a:ext>
            </a:extLst>
          </p:cNvPr>
          <p:cNvSpPr>
            <a:spLocks noGrp="1"/>
          </p:cNvSpPr>
          <p:nvPr>
            <p:ph type="dt" sz="half" idx="10"/>
          </p:nvPr>
        </p:nvSpPr>
        <p:spPr/>
        <p:txBody>
          <a:bodyPr/>
          <a:lstStyle/>
          <a:p>
            <a:endParaRPr lang="en-US"/>
          </a:p>
        </p:txBody>
      </p:sp>
      <p:sp>
        <p:nvSpPr>
          <p:cNvPr id="6" name="Symbol zastępczy stopki 5">
            <a:extLst>
              <a:ext uri="{FF2B5EF4-FFF2-40B4-BE49-F238E27FC236}">
                <a16:creationId xmlns:a16="http://schemas.microsoft.com/office/drawing/2014/main" id="{282A5D1B-78F9-1204-90E2-E1BDEDC410BE}"/>
              </a:ext>
            </a:extLst>
          </p:cNvPr>
          <p:cNvSpPr>
            <a:spLocks noGrp="1"/>
          </p:cNvSpPr>
          <p:nvPr>
            <p:ph type="ftr" sz="quarter" idx="11"/>
          </p:nvPr>
        </p:nvSpPr>
        <p:spPr/>
        <p:txBody>
          <a:bodyPr/>
          <a:lstStyle/>
          <a:p>
            <a:r>
              <a:rPr lang="en-US"/>
              <a:t>ace.oracle.com</a:t>
            </a:r>
          </a:p>
        </p:txBody>
      </p:sp>
      <p:sp>
        <p:nvSpPr>
          <p:cNvPr id="7" name="Symbol zastępczy numeru slajdu 6">
            <a:extLst>
              <a:ext uri="{FF2B5EF4-FFF2-40B4-BE49-F238E27FC236}">
                <a16:creationId xmlns:a16="http://schemas.microsoft.com/office/drawing/2014/main" id="{C7C71217-AED0-AD03-4616-381FB176FC20}"/>
              </a:ext>
            </a:extLst>
          </p:cNvPr>
          <p:cNvSpPr>
            <a:spLocks noGrp="1"/>
          </p:cNvSpPr>
          <p:nvPr>
            <p:ph type="sldNum" sz="quarter" idx="12"/>
          </p:nvPr>
        </p:nvSpPr>
        <p:spPr/>
        <p:txBody>
          <a:bodyPr/>
          <a:lstStyle/>
          <a:p>
            <a:fld id="{59EE002E-3E46-486E-AA6C-735F03B6F9C6}" type="slidenum">
              <a:rPr lang="en-US" smtClean="0"/>
              <a:t>‹#›</a:t>
            </a:fld>
            <a:endParaRPr lang="en-US"/>
          </a:p>
        </p:txBody>
      </p:sp>
    </p:spTree>
    <p:extLst>
      <p:ext uri="{BB962C8B-B14F-4D97-AF65-F5344CB8AC3E}">
        <p14:creationId xmlns:p14="http://schemas.microsoft.com/office/powerpoint/2010/main" val="2583301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344AC91-D48C-E40E-B3A8-D8F8BFC458FD}"/>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US"/>
          </a:p>
        </p:txBody>
      </p:sp>
      <p:sp>
        <p:nvSpPr>
          <p:cNvPr id="3" name="Symbol zastępczy obrazu 2">
            <a:extLst>
              <a:ext uri="{FF2B5EF4-FFF2-40B4-BE49-F238E27FC236}">
                <a16:creationId xmlns:a16="http://schemas.microsoft.com/office/drawing/2014/main" id="{AB35A19D-E8CB-32F5-C594-3A5F71EFC4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Symbol zastępczy tekstu 3">
            <a:extLst>
              <a:ext uri="{FF2B5EF4-FFF2-40B4-BE49-F238E27FC236}">
                <a16:creationId xmlns:a16="http://schemas.microsoft.com/office/drawing/2014/main" id="{B6BB028E-B6D8-D456-5381-A115988DB7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B613AAEA-BC32-1A48-4461-063742B92322}"/>
              </a:ext>
            </a:extLst>
          </p:cNvPr>
          <p:cNvSpPr>
            <a:spLocks noGrp="1"/>
          </p:cNvSpPr>
          <p:nvPr>
            <p:ph type="dt" sz="half" idx="10"/>
          </p:nvPr>
        </p:nvSpPr>
        <p:spPr/>
        <p:txBody>
          <a:bodyPr/>
          <a:lstStyle/>
          <a:p>
            <a:endParaRPr lang="en-US"/>
          </a:p>
        </p:txBody>
      </p:sp>
      <p:sp>
        <p:nvSpPr>
          <p:cNvPr id="6" name="Symbol zastępczy stopki 5">
            <a:extLst>
              <a:ext uri="{FF2B5EF4-FFF2-40B4-BE49-F238E27FC236}">
                <a16:creationId xmlns:a16="http://schemas.microsoft.com/office/drawing/2014/main" id="{A87B3145-A38E-41DB-0134-CEED5241AEC7}"/>
              </a:ext>
            </a:extLst>
          </p:cNvPr>
          <p:cNvSpPr>
            <a:spLocks noGrp="1"/>
          </p:cNvSpPr>
          <p:nvPr>
            <p:ph type="ftr" sz="quarter" idx="11"/>
          </p:nvPr>
        </p:nvSpPr>
        <p:spPr/>
        <p:txBody>
          <a:bodyPr/>
          <a:lstStyle/>
          <a:p>
            <a:r>
              <a:rPr lang="en-US"/>
              <a:t>ace.oracle.com</a:t>
            </a:r>
          </a:p>
        </p:txBody>
      </p:sp>
      <p:sp>
        <p:nvSpPr>
          <p:cNvPr id="7" name="Symbol zastępczy numeru slajdu 6">
            <a:extLst>
              <a:ext uri="{FF2B5EF4-FFF2-40B4-BE49-F238E27FC236}">
                <a16:creationId xmlns:a16="http://schemas.microsoft.com/office/drawing/2014/main" id="{99C63E85-EEA7-D4FC-ECDA-E45A4D782156}"/>
              </a:ext>
            </a:extLst>
          </p:cNvPr>
          <p:cNvSpPr>
            <a:spLocks noGrp="1"/>
          </p:cNvSpPr>
          <p:nvPr>
            <p:ph type="sldNum" sz="quarter" idx="12"/>
          </p:nvPr>
        </p:nvSpPr>
        <p:spPr/>
        <p:txBody>
          <a:bodyPr/>
          <a:lstStyle/>
          <a:p>
            <a:fld id="{59EE002E-3E46-486E-AA6C-735F03B6F9C6}" type="slidenum">
              <a:rPr lang="en-US" smtClean="0"/>
              <a:t>‹#›</a:t>
            </a:fld>
            <a:endParaRPr lang="en-US"/>
          </a:p>
        </p:txBody>
      </p:sp>
    </p:spTree>
    <p:extLst>
      <p:ext uri="{BB962C8B-B14F-4D97-AF65-F5344CB8AC3E}">
        <p14:creationId xmlns:p14="http://schemas.microsoft.com/office/powerpoint/2010/main" val="1819022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E1278CA-19F4-9F55-9DFB-F2D072D3E6CF}"/>
              </a:ext>
            </a:extLst>
          </p:cNvPr>
          <p:cNvSpPr>
            <a:spLocks noGrp="1"/>
          </p:cNvSpPr>
          <p:nvPr>
            <p:ph type="title"/>
          </p:nvPr>
        </p:nvSpPr>
        <p:spPr/>
        <p:txBody>
          <a:bodyPr/>
          <a:lstStyle/>
          <a:p>
            <a:r>
              <a:rPr lang="pl-PL"/>
              <a:t>Kliknij, aby edytować styl</a:t>
            </a:r>
            <a:endParaRPr lang="en-US"/>
          </a:p>
        </p:txBody>
      </p:sp>
      <p:sp>
        <p:nvSpPr>
          <p:cNvPr id="3" name="Symbol zastępczy tytułu pionowego 2">
            <a:extLst>
              <a:ext uri="{FF2B5EF4-FFF2-40B4-BE49-F238E27FC236}">
                <a16:creationId xmlns:a16="http://schemas.microsoft.com/office/drawing/2014/main" id="{C4B868D4-3156-EB10-F673-A8FF65E8ACF1}"/>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Symbol zastępczy daty 3">
            <a:extLst>
              <a:ext uri="{FF2B5EF4-FFF2-40B4-BE49-F238E27FC236}">
                <a16:creationId xmlns:a16="http://schemas.microsoft.com/office/drawing/2014/main" id="{4ED24241-A577-BB0C-1336-2F4AFACAFF93}"/>
              </a:ext>
            </a:extLst>
          </p:cNvPr>
          <p:cNvSpPr>
            <a:spLocks noGrp="1"/>
          </p:cNvSpPr>
          <p:nvPr>
            <p:ph type="dt" sz="half" idx="10"/>
          </p:nvPr>
        </p:nvSpPr>
        <p:spPr/>
        <p:txBody>
          <a:bodyPr/>
          <a:lstStyle/>
          <a:p>
            <a:endParaRPr lang="en-US"/>
          </a:p>
        </p:txBody>
      </p:sp>
      <p:sp>
        <p:nvSpPr>
          <p:cNvPr id="5" name="Symbol zastępczy stopki 4">
            <a:extLst>
              <a:ext uri="{FF2B5EF4-FFF2-40B4-BE49-F238E27FC236}">
                <a16:creationId xmlns:a16="http://schemas.microsoft.com/office/drawing/2014/main" id="{42536611-2B07-6682-5726-FF8AA75ED5EC}"/>
              </a:ext>
            </a:extLst>
          </p:cNvPr>
          <p:cNvSpPr>
            <a:spLocks noGrp="1"/>
          </p:cNvSpPr>
          <p:nvPr>
            <p:ph type="ftr" sz="quarter" idx="11"/>
          </p:nvPr>
        </p:nvSpPr>
        <p:spPr/>
        <p:txBody>
          <a:bodyPr/>
          <a:lstStyle/>
          <a:p>
            <a:r>
              <a:rPr lang="en-US"/>
              <a:t>ace.oracle.com</a:t>
            </a:r>
          </a:p>
        </p:txBody>
      </p:sp>
      <p:sp>
        <p:nvSpPr>
          <p:cNvPr id="6" name="Symbol zastępczy numeru slajdu 5">
            <a:extLst>
              <a:ext uri="{FF2B5EF4-FFF2-40B4-BE49-F238E27FC236}">
                <a16:creationId xmlns:a16="http://schemas.microsoft.com/office/drawing/2014/main" id="{9A5FA36F-BC72-E756-4F55-FE09BCD08753}"/>
              </a:ext>
            </a:extLst>
          </p:cNvPr>
          <p:cNvSpPr>
            <a:spLocks noGrp="1"/>
          </p:cNvSpPr>
          <p:nvPr>
            <p:ph type="sldNum" sz="quarter" idx="12"/>
          </p:nvPr>
        </p:nvSpPr>
        <p:spPr/>
        <p:txBody>
          <a:bodyPr/>
          <a:lstStyle/>
          <a:p>
            <a:fld id="{59EE002E-3E46-486E-AA6C-735F03B6F9C6}" type="slidenum">
              <a:rPr lang="en-US" smtClean="0"/>
              <a:t>‹#›</a:t>
            </a:fld>
            <a:endParaRPr lang="en-US"/>
          </a:p>
        </p:txBody>
      </p:sp>
    </p:spTree>
    <p:extLst>
      <p:ext uri="{BB962C8B-B14F-4D97-AF65-F5344CB8AC3E}">
        <p14:creationId xmlns:p14="http://schemas.microsoft.com/office/powerpoint/2010/main" val="1306004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1033F726-62FF-5E18-A278-30FFE9F4B798}"/>
              </a:ext>
            </a:extLst>
          </p:cNvPr>
          <p:cNvSpPr>
            <a:spLocks noGrp="1"/>
          </p:cNvSpPr>
          <p:nvPr>
            <p:ph type="title" orient="vert"/>
          </p:nvPr>
        </p:nvSpPr>
        <p:spPr>
          <a:xfrm>
            <a:off x="8724900" y="365125"/>
            <a:ext cx="2628900" cy="5811838"/>
          </a:xfrm>
        </p:spPr>
        <p:txBody>
          <a:bodyPr vert="eaVert"/>
          <a:lstStyle/>
          <a:p>
            <a:r>
              <a:rPr lang="pl-PL"/>
              <a:t>Kliknij, aby edytować styl</a:t>
            </a:r>
            <a:endParaRPr lang="en-US"/>
          </a:p>
        </p:txBody>
      </p:sp>
      <p:sp>
        <p:nvSpPr>
          <p:cNvPr id="3" name="Symbol zastępczy tytułu pionowego 2">
            <a:extLst>
              <a:ext uri="{FF2B5EF4-FFF2-40B4-BE49-F238E27FC236}">
                <a16:creationId xmlns:a16="http://schemas.microsoft.com/office/drawing/2014/main" id="{13FBBA28-E7EF-0888-ABA8-DC315F280EE1}"/>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Symbol zastępczy daty 3">
            <a:extLst>
              <a:ext uri="{FF2B5EF4-FFF2-40B4-BE49-F238E27FC236}">
                <a16:creationId xmlns:a16="http://schemas.microsoft.com/office/drawing/2014/main" id="{6E57A77F-3E8A-CFE0-41FC-D2CABD7D86D6}"/>
              </a:ext>
            </a:extLst>
          </p:cNvPr>
          <p:cNvSpPr>
            <a:spLocks noGrp="1"/>
          </p:cNvSpPr>
          <p:nvPr>
            <p:ph type="dt" sz="half" idx="10"/>
          </p:nvPr>
        </p:nvSpPr>
        <p:spPr/>
        <p:txBody>
          <a:bodyPr/>
          <a:lstStyle/>
          <a:p>
            <a:endParaRPr lang="en-US"/>
          </a:p>
        </p:txBody>
      </p:sp>
      <p:sp>
        <p:nvSpPr>
          <p:cNvPr id="5" name="Symbol zastępczy stopki 4">
            <a:extLst>
              <a:ext uri="{FF2B5EF4-FFF2-40B4-BE49-F238E27FC236}">
                <a16:creationId xmlns:a16="http://schemas.microsoft.com/office/drawing/2014/main" id="{928AA954-EA8C-74FE-5D3A-8A3B4E203A2D}"/>
              </a:ext>
            </a:extLst>
          </p:cNvPr>
          <p:cNvSpPr>
            <a:spLocks noGrp="1"/>
          </p:cNvSpPr>
          <p:nvPr>
            <p:ph type="ftr" sz="quarter" idx="11"/>
          </p:nvPr>
        </p:nvSpPr>
        <p:spPr/>
        <p:txBody>
          <a:bodyPr/>
          <a:lstStyle/>
          <a:p>
            <a:r>
              <a:rPr lang="en-US"/>
              <a:t>ace.oracle.com</a:t>
            </a:r>
          </a:p>
        </p:txBody>
      </p:sp>
      <p:sp>
        <p:nvSpPr>
          <p:cNvPr id="6" name="Symbol zastępczy numeru slajdu 5">
            <a:extLst>
              <a:ext uri="{FF2B5EF4-FFF2-40B4-BE49-F238E27FC236}">
                <a16:creationId xmlns:a16="http://schemas.microsoft.com/office/drawing/2014/main" id="{3972B7A5-7093-3104-2E3A-C1DED757E892}"/>
              </a:ext>
            </a:extLst>
          </p:cNvPr>
          <p:cNvSpPr>
            <a:spLocks noGrp="1"/>
          </p:cNvSpPr>
          <p:nvPr>
            <p:ph type="sldNum" sz="quarter" idx="12"/>
          </p:nvPr>
        </p:nvSpPr>
        <p:spPr/>
        <p:txBody>
          <a:bodyPr/>
          <a:lstStyle/>
          <a:p>
            <a:fld id="{59EE002E-3E46-486E-AA6C-735F03B6F9C6}" type="slidenum">
              <a:rPr lang="en-US" smtClean="0"/>
              <a:t>‹#›</a:t>
            </a:fld>
            <a:endParaRPr lang="en-US"/>
          </a:p>
        </p:txBody>
      </p:sp>
    </p:spTree>
    <p:extLst>
      <p:ext uri="{BB962C8B-B14F-4D97-AF65-F5344CB8AC3E}">
        <p14:creationId xmlns:p14="http://schemas.microsoft.com/office/powerpoint/2010/main" val="27628215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Oracle ACE Director - Title">
    <p:spTree>
      <p:nvGrpSpPr>
        <p:cNvPr id="1" name=""/>
        <p:cNvGrpSpPr/>
        <p:nvPr/>
      </p:nvGrpSpPr>
      <p:grpSpPr>
        <a:xfrm>
          <a:off x="0" y="0"/>
          <a:ext cx="0" cy="0"/>
          <a:chOff x="0" y="0"/>
          <a:chExt cx="0" cy="0"/>
        </a:xfrm>
      </p:grpSpPr>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Page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chemeClr val="accent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6" name="Footer Placeholder 5">
            <a:extLst>
              <a:ext uri="{FF2B5EF4-FFF2-40B4-BE49-F238E27FC236}">
                <a16:creationId xmlns:a16="http://schemas.microsoft.com/office/drawing/2014/main" id="{72CA1911-5B7C-93CF-BD59-935842BD77B1}"/>
              </a:ext>
            </a:extLst>
          </p:cNvPr>
          <p:cNvSpPr>
            <a:spLocks noGrp="1"/>
          </p:cNvSpPr>
          <p:nvPr>
            <p:ph type="ftr" sz="quarter" idx="36"/>
          </p:nvPr>
        </p:nvSpPr>
        <p:spPr>
          <a:xfrm>
            <a:off x="1124712" y="6424295"/>
            <a:ext cx="1005840" cy="365125"/>
          </a:xfrm>
        </p:spPr>
        <p:txBody>
          <a:bodyPr/>
          <a:lstStyle/>
          <a:p>
            <a:r>
              <a:rPr lang="en-US"/>
              <a:t>ace.oracle.com</a:t>
            </a:r>
            <a:endParaRPr lang="en-US" dirty="0"/>
          </a:p>
        </p:txBody>
      </p:sp>
      <p:pic>
        <p:nvPicPr>
          <p:cNvPr id="5" name="Picture 4">
            <a:extLst>
              <a:ext uri="{FF2B5EF4-FFF2-40B4-BE49-F238E27FC236}">
                <a16:creationId xmlns:a16="http://schemas.microsoft.com/office/drawing/2014/main" id="{DB81D8B4-3479-9CAF-E2FB-237C9CEB2023}"/>
              </a:ext>
            </a:extLst>
          </p:cNvPr>
          <p:cNvPicPr preferRelativeResize="0">
            <a:picLocks/>
          </p:cNvPicPr>
          <p:nvPr userDrawn="1"/>
        </p:nvPicPr>
        <p:blipFill>
          <a:blip r:embed="rId2">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97283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298CE54F-F6E2-B2AD-704B-65AAB9D9DE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endParaRPr lang="en-US"/>
          </a:p>
        </p:txBody>
      </p:sp>
      <p:sp>
        <p:nvSpPr>
          <p:cNvPr id="3" name="Symbol zastępczy tekstu 2">
            <a:extLst>
              <a:ext uri="{FF2B5EF4-FFF2-40B4-BE49-F238E27FC236}">
                <a16:creationId xmlns:a16="http://schemas.microsoft.com/office/drawing/2014/main" id="{90C6BC8B-AB88-79B6-1A00-D402FC8F3C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Symbol zastępczy daty 3">
            <a:extLst>
              <a:ext uri="{FF2B5EF4-FFF2-40B4-BE49-F238E27FC236}">
                <a16:creationId xmlns:a16="http://schemas.microsoft.com/office/drawing/2014/main" id="{575D7474-028F-E8FC-C460-F65CC474ED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Symbol zastępczy stopki 4">
            <a:extLst>
              <a:ext uri="{FF2B5EF4-FFF2-40B4-BE49-F238E27FC236}">
                <a16:creationId xmlns:a16="http://schemas.microsoft.com/office/drawing/2014/main" id="{4B37B11E-4EAC-86DE-331C-BA286F661B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ace.oracle.com</a:t>
            </a:r>
          </a:p>
        </p:txBody>
      </p:sp>
      <p:sp>
        <p:nvSpPr>
          <p:cNvPr id="6" name="Symbol zastępczy numeru slajdu 5">
            <a:extLst>
              <a:ext uri="{FF2B5EF4-FFF2-40B4-BE49-F238E27FC236}">
                <a16:creationId xmlns:a16="http://schemas.microsoft.com/office/drawing/2014/main" id="{7959E485-0C63-E52D-608B-E55F4D7511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9EE002E-3E46-486E-AA6C-735F03B6F9C6}" type="slidenum">
              <a:rPr lang="en-US" smtClean="0"/>
              <a:t>‹#›</a:t>
            </a:fld>
            <a:endParaRPr lang="en-US"/>
          </a:p>
        </p:txBody>
      </p:sp>
    </p:spTree>
    <p:extLst>
      <p:ext uri="{BB962C8B-B14F-4D97-AF65-F5344CB8AC3E}">
        <p14:creationId xmlns:p14="http://schemas.microsoft.com/office/powerpoint/2010/main" val="3657268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customXml" Target="../ink/ink2.xml"/><Relationship Id="rId5" Type="http://schemas.openxmlformats.org/officeDocument/2006/relationships/image" Target="../media/image8.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51.png"/><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61.png"/></Relationships>
</file>

<file path=ppt/slides/_rels/slide3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3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72.png"/></Relationships>
</file>

<file path=ppt/slides/_rels/slide34.xml.rels><?xml version="1.0" encoding="UTF-8" standalone="yes"?>
<Relationships xmlns="http://schemas.openxmlformats.org/package/2006/relationships"><Relationship Id="rId3" Type="http://schemas.openxmlformats.org/officeDocument/2006/relationships/customXml" Target="../ink/ink3.xml"/><Relationship Id="rId7" Type="http://schemas.openxmlformats.org/officeDocument/2006/relationships/customXml" Target="../ink/ink6.xml"/><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customXml" Target="../ink/ink5.xml"/><Relationship Id="rId5" Type="http://schemas.openxmlformats.org/officeDocument/2006/relationships/customXml" Target="../ink/ink4.xml"/><Relationship Id="rId4" Type="http://schemas.openxmlformats.org/officeDocument/2006/relationships/image" Target="../media/image490.png"/></Relationships>
</file>

<file path=ppt/slides/_rels/slide35.xml.rels><?xml version="1.0" encoding="UTF-8" standalone="yes"?>
<Relationships xmlns="http://schemas.openxmlformats.org/package/2006/relationships"><Relationship Id="rId8" Type="http://schemas.openxmlformats.org/officeDocument/2006/relationships/customXml" Target="../ink/ink7.xml"/><Relationship Id="rId13" Type="http://schemas.openxmlformats.org/officeDocument/2006/relationships/customXml" Target="../ink/ink11.xml"/><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customXml" Target="../ink/ink10.xml"/><Relationship Id="rId17" Type="http://schemas.openxmlformats.org/officeDocument/2006/relationships/image" Target="../media/image500.png"/><Relationship Id="rId2" Type="http://schemas.openxmlformats.org/officeDocument/2006/relationships/notesSlide" Target="../notesSlides/notesSlide34.xml"/><Relationship Id="rId16" Type="http://schemas.openxmlformats.org/officeDocument/2006/relationships/customXml" Target="../ink/ink14.xml"/><Relationship Id="rId1" Type="http://schemas.openxmlformats.org/officeDocument/2006/relationships/slideLayout" Target="../slideLayouts/slideLayout12.xml"/><Relationship Id="rId6" Type="http://schemas.openxmlformats.org/officeDocument/2006/relationships/diagramColors" Target="../diagrams/colors1.xml"/><Relationship Id="rId11" Type="http://schemas.openxmlformats.org/officeDocument/2006/relationships/customXml" Target="../ink/ink9.xml"/><Relationship Id="rId5" Type="http://schemas.openxmlformats.org/officeDocument/2006/relationships/diagramQuickStyle" Target="../diagrams/quickStyle1.xml"/><Relationship Id="rId15" Type="http://schemas.openxmlformats.org/officeDocument/2006/relationships/customXml" Target="../ink/ink13.xml"/><Relationship Id="rId10" Type="http://schemas.openxmlformats.org/officeDocument/2006/relationships/customXml" Target="../ink/ink8.xml"/><Relationship Id="rId4" Type="http://schemas.openxmlformats.org/officeDocument/2006/relationships/diagramLayout" Target="../diagrams/layout1.xml"/><Relationship Id="rId9" Type="http://schemas.openxmlformats.org/officeDocument/2006/relationships/image" Target="../media/image490.png"/><Relationship Id="rId14" Type="http://schemas.openxmlformats.org/officeDocument/2006/relationships/customXml" Target="../ink/ink12.xml"/></Relationships>
</file>

<file path=ppt/slides/_rels/slide36.xml.rels><?xml version="1.0" encoding="UTF-8" standalone="yes"?>
<Relationships xmlns="http://schemas.openxmlformats.org/package/2006/relationships"><Relationship Id="rId8" Type="http://schemas.openxmlformats.org/officeDocument/2006/relationships/image" Target="../media/image530.png"/><Relationship Id="rId3" Type="http://schemas.openxmlformats.org/officeDocument/2006/relationships/customXml" Target="../ink/ink15.xml"/><Relationship Id="rId7" Type="http://schemas.openxmlformats.org/officeDocument/2006/relationships/customXml" Target="../ink/ink17.xml"/><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520.png"/><Relationship Id="rId5" Type="http://schemas.openxmlformats.org/officeDocument/2006/relationships/customXml" Target="../ink/ink16.xml"/><Relationship Id="rId10" Type="http://schemas.openxmlformats.org/officeDocument/2006/relationships/image" Target="../media/image540.png"/><Relationship Id="rId4" Type="http://schemas.openxmlformats.org/officeDocument/2006/relationships/image" Target="../media/image510.png"/><Relationship Id="rId9" Type="http://schemas.openxmlformats.org/officeDocument/2006/relationships/customXml" Target="../ink/ink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D62F1-24AD-7C90-D6F8-D3EA17618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21C0C-5AC9-10DE-24E7-545F83968A15}"/>
              </a:ext>
            </a:extLst>
          </p:cNvPr>
          <p:cNvSpPr>
            <a:spLocks noGrp="1"/>
          </p:cNvSpPr>
          <p:nvPr>
            <p:ph type="ctrTitle"/>
          </p:nvPr>
        </p:nvSpPr>
        <p:spPr>
          <a:xfrm>
            <a:off x="944880" y="576072"/>
            <a:ext cx="10158984" cy="1280160"/>
          </a:xfrm>
        </p:spPr>
        <p:txBody>
          <a:bodyPr/>
          <a:lstStyle/>
          <a:p>
            <a:pPr algn="ctr"/>
            <a:r>
              <a:rPr lang="pl-PL" dirty="0"/>
              <a:t>Sztuczna Inteligencja i Uczenie Maszynowe</a:t>
            </a:r>
            <a:endParaRPr lang="en-US" dirty="0"/>
          </a:p>
        </p:txBody>
      </p:sp>
      <p:sp>
        <p:nvSpPr>
          <p:cNvPr id="4" name="Text Placeholder 3">
            <a:extLst>
              <a:ext uri="{FF2B5EF4-FFF2-40B4-BE49-F238E27FC236}">
                <a16:creationId xmlns:a16="http://schemas.microsoft.com/office/drawing/2014/main" id="{C0037B61-984C-7C2C-51E3-EE579EC77250}"/>
              </a:ext>
            </a:extLst>
          </p:cNvPr>
          <p:cNvSpPr>
            <a:spLocks noGrp="1"/>
          </p:cNvSpPr>
          <p:nvPr>
            <p:ph type="body" sz="quarter" idx="35"/>
          </p:nvPr>
        </p:nvSpPr>
        <p:spPr>
          <a:xfrm>
            <a:off x="944880" y="4022802"/>
            <a:ext cx="5077970" cy="645584"/>
          </a:xfrm>
        </p:spPr>
        <p:txBody>
          <a:bodyPr/>
          <a:lstStyle/>
          <a:p>
            <a:pPr marL="0" indent="0">
              <a:buNone/>
            </a:pPr>
            <a:r>
              <a:rPr lang="pl-PL" sz="3600" dirty="0"/>
              <a:t>Tomasz Ziss</a:t>
            </a:r>
            <a:endParaRPr lang="en-US" sz="3600" dirty="0"/>
          </a:p>
        </p:txBody>
      </p:sp>
      <p:sp>
        <p:nvSpPr>
          <p:cNvPr id="5" name="Text Placeholder 4">
            <a:extLst>
              <a:ext uri="{FF2B5EF4-FFF2-40B4-BE49-F238E27FC236}">
                <a16:creationId xmlns:a16="http://schemas.microsoft.com/office/drawing/2014/main" id="{02B641C7-7210-73D3-8941-AC082C709F43}"/>
              </a:ext>
            </a:extLst>
          </p:cNvPr>
          <p:cNvSpPr>
            <a:spLocks noGrp="1"/>
          </p:cNvSpPr>
          <p:nvPr>
            <p:ph type="body" sz="quarter" idx="34"/>
          </p:nvPr>
        </p:nvSpPr>
        <p:spPr>
          <a:xfrm>
            <a:off x="944880" y="4668386"/>
            <a:ext cx="6077714" cy="895181"/>
          </a:xfrm>
        </p:spPr>
        <p:txBody>
          <a:bodyPr/>
          <a:lstStyle/>
          <a:p>
            <a:pPr marL="0" indent="0">
              <a:buNone/>
            </a:pPr>
            <a:r>
              <a:rPr lang="en-US" sz="2400" dirty="0"/>
              <a:t>Cloud Advisory Innovation Principal Manager Accenture Enkitec Group</a:t>
            </a:r>
          </a:p>
        </p:txBody>
      </p:sp>
    </p:spTree>
    <p:extLst>
      <p:ext uri="{BB962C8B-B14F-4D97-AF65-F5344CB8AC3E}">
        <p14:creationId xmlns:p14="http://schemas.microsoft.com/office/powerpoint/2010/main" val="389770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raz 6">
            <a:extLst>
              <a:ext uri="{FF2B5EF4-FFF2-40B4-BE49-F238E27FC236}">
                <a16:creationId xmlns:a16="http://schemas.microsoft.com/office/drawing/2014/main" id="{E50A88A1-C704-A1F3-A0D4-E6B8C955C77E}"/>
              </a:ext>
            </a:extLst>
          </p:cNvPr>
          <p:cNvPicPr>
            <a:picLocks noChangeAspect="1"/>
          </p:cNvPicPr>
          <p:nvPr/>
        </p:nvPicPr>
        <p:blipFill>
          <a:blip r:embed="rId3"/>
          <a:stretch>
            <a:fillRect/>
          </a:stretch>
        </p:blipFill>
        <p:spPr>
          <a:xfrm>
            <a:off x="367577" y="1205690"/>
            <a:ext cx="1949550" cy="1739989"/>
          </a:xfrm>
          <a:prstGeom prst="rect">
            <a:avLst/>
          </a:prstGeom>
        </p:spPr>
      </p:pic>
      <p:sp>
        <p:nvSpPr>
          <p:cNvPr id="8" name="Title 1">
            <a:extLst>
              <a:ext uri="{FF2B5EF4-FFF2-40B4-BE49-F238E27FC236}">
                <a16:creationId xmlns:a16="http://schemas.microsoft.com/office/drawing/2014/main" id="{9E44B007-9483-A19E-A4C0-7E88F9628443}"/>
              </a:ext>
            </a:extLst>
          </p:cNvPr>
          <p:cNvSpPr>
            <a:spLocks noGrp="1"/>
          </p:cNvSpPr>
          <p:nvPr>
            <p:ph type="ctrTitle"/>
          </p:nvPr>
        </p:nvSpPr>
        <p:spPr>
          <a:xfrm>
            <a:off x="-1328286" y="1101592"/>
            <a:ext cx="9268970" cy="576072"/>
          </a:xfrm>
        </p:spPr>
        <p:txBody>
          <a:bodyPr/>
          <a:lstStyle/>
          <a:p>
            <a:pPr algn="ctr"/>
            <a:r>
              <a:rPr lang="pl-PL" sz="2200" dirty="0"/>
              <a:t>Absolwent 2004</a:t>
            </a:r>
            <a:endParaRPr lang="en-US" sz="2200" dirty="0"/>
          </a:p>
        </p:txBody>
      </p:sp>
      <p:sp>
        <p:nvSpPr>
          <p:cNvPr id="9" name="Title 1">
            <a:extLst>
              <a:ext uri="{FF2B5EF4-FFF2-40B4-BE49-F238E27FC236}">
                <a16:creationId xmlns:a16="http://schemas.microsoft.com/office/drawing/2014/main" id="{23DEA814-31AB-C81E-3EA0-25B423AA8FAC}"/>
              </a:ext>
            </a:extLst>
          </p:cNvPr>
          <p:cNvSpPr txBox="1">
            <a:spLocks/>
          </p:cNvSpPr>
          <p:nvPr/>
        </p:nvSpPr>
        <p:spPr>
          <a:xfrm>
            <a:off x="-825701" y="1608878"/>
            <a:ext cx="9003794" cy="576072"/>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2200" dirty="0"/>
              <a:t>Ostatnia „Stara Matura”</a:t>
            </a:r>
          </a:p>
        </p:txBody>
      </p:sp>
      <p:sp>
        <p:nvSpPr>
          <p:cNvPr id="11" name="Title 1">
            <a:extLst>
              <a:ext uri="{FF2B5EF4-FFF2-40B4-BE49-F238E27FC236}">
                <a16:creationId xmlns:a16="http://schemas.microsoft.com/office/drawing/2014/main" id="{1DBB1C46-294C-87F5-C9B1-B2758F00E218}"/>
              </a:ext>
            </a:extLst>
          </p:cNvPr>
          <p:cNvSpPr txBox="1">
            <a:spLocks/>
          </p:cNvSpPr>
          <p:nvPr/>
        </p:nvSpPr>
        <p:spPr>
          <a:xfrm>
            <a:off x="-477833" y="2153771"/>
            <a:ext cx="9003794" cy="576072"/>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2200" dirty="0"/>
              <a:t>Klasa matematyczno-fizyczna</a:t>
            </a:r>
          </a:p>
        </p:txBody>
      </p:sp>
      <p:sp>
        <p:nvSpPr>
          <p:cNvPr id="13" name="pole tekstowe 12">
            <a:extLst>
              <a:ext uri="{FF2B5EF4-FFF2-40B4-BE49-F238E27FC236}">
                <a16:creationId xmlns:a16="http://schemas.microsoft.com/office/drawing/2014/main" id="{ADB50AF1-E857-5FC5-BFC4-3D85B7F6F33A}"/>
              </a:ext>
            </a:extLst>
          </p:cNvPr>
          <p:cNvSpPr txBox="1"/>
          <p:nvPr/>
        </p:nvSpPr>
        <p:spPr>
          <a:xfrm>
            <a:off x="3070021" y="3690293"/>
            <a:ext cx="6620256" cy="1785104"/>
          </a:xfrm>
          <a:prstGeom prst="rect">
            <a:avLst/>
          </a:prstGeom>
          <a:noFill/>
        </p:spPr>
        <p:txBody>
          <a:bodyPr wrap="square">
            <a:spAutoFit/>
          </a:bodyPr>
          <a:lstStyle/>
          <a:p>
            <a:pPr marL="285750" indent="-285750">
              <a:buFont typeface="Arial" panose="020B0604020202020204" pitchFamily="34" charset="0"/>
              <a:buChar char="•"/>
            </a:pPr>
            <a:r>
              <a:rPr lang="pl-PL" sz="2200" dirty="0"/>
              <a:t>~15 lat w branży IT</a:t>
            </a:r>
          </a:p>
          <a:p>
            <a:pPr marL="285750" indent="-285750">
              <a:buFont typeface="Arial" panose="020B0604020202020204" pitchFamily="34" charset="0"/>
              <a:buChar char="•"/>
            </a:pPr>
            <a:r>
              <a:rPr lang="pl-PL" sz="2200" dirty="0"/>
              <a:t>Mieszkam w Warszawie</a:t>
            </a:r>
          </a:p>
          <a:p>
            <a:pPr marL="285750" indent="-285750">
              <a:buFont typeface="Arial" panose="020B0604020202020204" pitchFamily="34" charset="0"/>
              <a:buChar char="•"/>
            </a:pPr>
            <a:r>
              <a:rPr lang="pl-PL" sz="2200" dirty="0"/>
              <a:t>Absolwent Politechniki Warszawskiej,</a:t>
            </a:r>
          </a:p>
          <a:p>
            <a:r>
              <a:rPr lang="pl-PL" sz="2200" dirty="0"/>
              <a:t>     Specjalizacja Inżynieria Systemów Komputerowych</a:t>
            </a:r>
          </a:p>
          <a:p>
            <a:r>
              <a:rPr lang="pl-PL" sz="2200" dirty="0"/>
              <a:t>     Wydział Elektroniki i Technik Informacyjnych  </a:t>
            </a:r>
          </a:p>
        </p:txBody>
      </p:sp>
      <p:pic>
        <p:nvPicPr>
          <p:cNvPr id="15" name="Picture 9">
            <a:extLst>
              <a:ext uri="{FF2B5EF4-FFF2-40B4-BE49-F238E27FC236}">
                <a16:creationId xmlns:a16="http://schemas.microsoft.com/office/drawing/2014/main" id="{D4DD8059-0BD8-9C6E-6C2F-7C015E434B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17206" y="3348867"/>
            <a:ext cx="1577364" cy="2221377"/>
          </a:xfrm>
          <a:prstGeom prst="rect">
            <a:avLst/>
          </a:prstGeom>
        </p:spPr>
      </p:pic>
      <p:sp>
        <p:nvSpPr>
          <p:cNvPr id="2" name="Title 1">
            <a:extLst>
              <a:ext uri="{FF2B5EF4-FFF2-40B4-BE49-F238E27FC236}">
                <a16:creationId xmlns:a16="http://schemas.microsoft.com/office/drawing/2014/main" id="{55F5E3C4-85E2-F954-98D6-9E9C18FFCC0E}"/>
              </a:ext>
            </a:extLst>
          </p:cNvPr>
          <p:cNvSpPr txBox="1">
            <a:spLocks/>
          </p:cNvSpPr>
          <p:nvPr/>
        </p:nvSpPr>
        <p:spPr>
          <a:xfrm>
            <a:off x="1016508" y="0"/>
            <a:ext cx="10158984" cy="863029"/>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3600" dirty="0"/>
              <a:t>Kilka słów o mnie</a:t>
            </a:r>
          </a:p>
        </p:txBody>
      </p:sp>
    </p:spTree>
    <p:extLst>
      <p:ext uri="{BB962C8B-B14F-4D97-AF65-F5344CB8AC3E}">
        <p14:creationId xmlns:p14="http://schemas.microsoft.com/office/powerpoint/2010/main" val="1690325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ole tekstowe 5">
            <a:extLst>
              <a:ext uri="{FF2B5EF4-FFF2-40B4-BE49-F238E27FC236}">
                <a16:creationId xmlns:a16="http://schemas.microsoft.com/office/drawing/2014/main" id="{82E07313-697D-96A8-533C-2255BE052748}"/>
              </a:ext>
            </a:extLst>
          </p:cNvPr>
          <p:cNvSpPr txBox="1"/>
          <p:nvPr/>
        </p:nvSpPr>
        <p:spPr>
          <a:xfrm>
            <a:off x="939113" y="2781984"/>
            <a:ext cx="11252887" cy="461665"/>
          </a:xfrm>
          <a:prstGeom prst="rect">
            <a:avLst/>
          </a:prstGeom>
          <a:noFill/>
        </p:spPr>
        <p:txBody>
          <a:bodyPr wrap="square" rtlCol="0">
            <a:spAutoFit/>
          </a:bodyPr>
          <a:lstStyle/>
          <a:p>
            <a:r>
              <a:rPr lang="en-US" sz="2400" dirty="0">
                <a:solidFill>
                  <a:schemeClr val="accent3"/>
                </a:solidFill>
              </a:rPr>
              <a:t>https://github.com/zizu1985/Dubois_UczenieMaszynowe_SieciNeuronowe</a:t>
            </a:r>
          </a:p>
        </p:txBody>
      </p:sp>
      <p:sp>
        <p:nvSpPr>
          <p:cNvPr id="8" name="Title 1">
            <a:extLst>
              <a:ext uri="{FF2B5EF4-FFF2-40B4-BE49-F238E27FC236}">
                <a16:creationId xmlns:a16="http://schemas.microsoft.com/office/drawing/2014/main" id="{DC73098D-05BA-EF1C-9D0B-56148364DA92}"/>
              </a:ext>
            </a:extLst>
          </p:cNvPr>
          <p:cNvSpPr txBox="1">
            <a:spLocks/>
          </p:cNvSpPr>
          <p:nvPr/>
        </p:nvSpPr>
        <p:spPr>
          <a:xfrm>
            <a:off x="939113" y="1037968"/>
            <a:ext cx="10158984" cy="863029"/>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3600" dirty="0"/>
              <a:t>Materiały</a:t>
            </a:r>
          </a:p>
        </p:txBody>
      </p:sp>
      <p:pic>
        <p:nvPicPr>
          <p:cNvPr id="3" name="Obraz 2">
            <a:extLst>
              <a:ext uri="{FF2B5EF4-FFF2-40B4-BE49-F238E27FC236}">
                <a16:creationId xmlns:a16="http://schemas.microsoft.com/office/drawing/2014/main" id="{498F8DE5-9F3F-2589-134C-38B8F1B837F8}"/>
              </a:ext>
            </a:extLst>
          </p:cNvPr>
          <p:cNvPicPr>
            <a:picLocks noChangeAspect="1"/>
          </p:cNvPicPr>
          <p:nvPr/>
        </p:nvPicPr>
        <p:blipFill>
          <a:blip r:embed="rId2"/>
          <a:stretch>
            <a:fillRect/>
          </a:stretch>
        </p:blipFill>
        <p:spPr>
          <a:xfrm>
            <a:off x="5083123" y="3775227"/>
            <a:ext cx="2025754" cy="2044805"/>
          </a:xfrm>
          <a:prstGeom prst="rect">
            <a:avLst/>
          </a:prstGeom>
        </p:spPr>
      </p:pic>
    </p:spTree>
    <p:extLst>
      <p:ext uri="{BB962C8B-B14F-4D97-AF65-F5344CB8AC3E}">
        <p14:creationId xmlns:p14="http://schemas.microsoft.com/office/powerpoint/2010/main" val="3577124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ytuł 9">
            <a:extLst>
              <a:ext uri="{FF2B5EF4-FFF2-40B4-BE49-F238E27FC236}">
                <a16:creationId xmlns:a16="http://schemas.microsoft.com/office/drawing/2014/main" id="{6F48EC03-DD99-F9F6-0E8A-881E79BD78CD}"/>
              </a:ext>
            </a:extLst>
          </p:cNvPr>
          <p:cNvSpPr>
            <a:spLocks noGrp="1"/>
          </p:cNvSpPr>
          <p:nvPr>
            <p:ph type="ctrTitle"/>
          </p:nvPr>
        </p:nvSpPr>
        <p:spPr/>
        <p:txBody>
          <a:bodyPr/>
          <a:lstStyle/>
          <a:p>
            <a:endParaRPr lang="en-US"/>
          </a:p>
        </p:txBody>
      </p:sp>
      <p:pic>
        <p:nvPicPr>
          <p:cNvPr id="12" name="Image 0" descr="/mnt/data/fb9392fc1d.png">
            <a:extLst>
              <a:ext uri="{FF2B5EF4-FFF2-40B4-BE49-F238E27FC236}">
                <a16:creationId xmlns:a16="http://schemas.microsoft.com/office/drawing/2014/main" id="{46FCD43F-9420-3004-F1E4-4C1BC0BAA61F}"/>
              </a:ext>
            </a:extLst>
          </p:cNvPr>
          <p:cNvPicPr>
            <a:picLocks noChangeAspect="1"/>
          </p:cNvPicPr>
          <p:nvPr/>
        </p:nvPicPr>
        <p:blipFill>
          <a:blip r:embed="rId3"/>
          <a:stretch>
            <a:fillRect/>
          </a:stretch>
        </p:blipFill>
        <p:spPr>
          <a:xfrm>
            <a:off x="656797" y="165252"/>
            <a:ext cx="11310911" cy="6362547"/>
          </a:xfrm>
          <a:prstGeom prst="rect">
            <a:avLst/>
          </a:prstGeom>
        </p:spPr>
      </p:pic>
      <mc:AlternateContent xmlns:mc="http://schemas.openxmlformats.org/markup-compatibility/2006" xmlns:p14="http://schemas.microsoft.com/office/powerpoint/2010/main">
        <mc:Choice Requires="p14">
          <p:contentPart p14:bwMode="auto" r:id="rId4">
            <p14:nvContentPartPr>
              <p14:cNvPr id="13" name="Pismo odręczne 12">
                <a:extLst>
                  <a:ext uri="{FF2B5EF4-FFF2-40B4-BE49-F238E27FC236}">
                    <a16:creationId xmlns:a16="http://schemas.microsoft.com/office/drawing/2014/main" id="{114E58A2-2B85-60BE-DBF1-7DB1356F7906}"/>
                  </a:ext>
                </a:extLst>
              </p14:cNvPr>
              <p14:cNvContentPartPr/>
              <p14:nvPr/>
            </p14:nvContentPartPr>
            <p14:xfrm>
              <a:off x="2949771" y="1529484"/>
              <a:ext cx="4134600" cy="719280"/>
            </p14:xfrm>
          </p:contentPart>
        </mc:Choice>
        <mc:Fallback xmlns="">
          <p:pic>
            <p:nvPicPr>
              <p:cNvPr id="13" name="Pismo odręczne 12">
                <a:extLst>
                  <a:ext uri="{FF2B5EF4-FFF2-40B4-BE49-F238E27FC236}">
                    <a16:creationId xmlns:a16="http://schemas.microsoft.com/office/drawing/2014/main" id="{114E58A2-2B85-60BE-DBF1-7DB1356F7906}"/>
                  </a:ext>
                </a:extLst>
              </p:cNvPr>
              <p:cNvPicPr/>
              <p:nvPr/>
            </p:nvPicPr>
            <p:blipFill>
              <a:blip r:embed="rId5"/>
              <a:stretch>
                <a:fillRect/>
              </a:stretch>
            </p:blipFill>
            <p:spPr>
              <a:xfrm>
                <a:off x="2932131" y="1511484"/>
                <a:ext cx="4170240" cy="754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Pismo odręczne 14">
                <a:extLst>
                  <a:ext uri="{FF2B5EF4-FFF2-40B4-BE49-F238E27FC236}">
                    <a16:creationId xmlns:a16="http://schemas.microsoft.com/office/drawing/2014/main" id="{62E2574C-9930-24B3-5C87-DF08BF27FE6C}"/>
                  </a:ext>
                </a:extLst>
              </p14:cNvPr>
              <p14:cNvContentPartPr/>
              <p14:nvPr/>
            </p14:nvContentPartPr>
            <p14:xfrm>
              <a:off x="4978371" y="2082084"/>
              <a:ext cx="2592720" cy="630000"/>
            </p14:xfrm>
          </p:contentPart>
        </mc:Choice>
        <mc:Fallback xmlns="">
          <p:pic>
            <p:nvPicPr>
              <p:cNvPr id="15" name="Pismo odręczne 14">
                <a:extLst>
                  <a:ext uri="{FF2B5EF4-FFF2-40B4-BE49-F238E27FC236}">
                    <a16:creationId xmlns:a16="http://schemas.microsoft.com/office/drawing/2014/main" id="{62E2574C-9930-24B3-5C87-DF08BF27FE6C}"/>
                  </a:ext>
                </a:extLst>
              </p:cNvPr>
              <p:cNvPicPr/>
              <p:nvPr/>
            </p:nvPicPr>
            <p:blipFill>
              <a:blip r:embed="rId7"/>
              <a:stretch>
                <a:fillRect/>
              </a:stretch>
            </p:blipFill>
            <p:spPr>
              <a:xfrm>
                <a:off x="4960371" y="2064084"/>
                <a:ext cx="2628360" cy="665640"/>
              </a:xfrm>
              <a:prstGeom prst="rect">
                <a:avLst/>
              </a:prstGeom>
            </p:spPr>
          </p:pic>
        </mc:Fallback>
      </mc:AlternateContent>
    </p:spTree>
    <p:extLst>
      <p:ext uri="{BB962C8B-B14F-4D97-AF65-F5344CB8AC3E}">
        <p14:creationId xmlns:p14="http://schemas.microsoft.com/office/powerpoint/2010/main" val="3805946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83A1C3D-50C3-3DAD-91C3-0B71F92C080C}"/>
              </a:ext>
            </a:extLst>
          </p:cNvPr>
          <p:cNvSpPr>
            <a:spLocks noGrp="1"/>
          </p:cNvSpPr>
          <p:nvPr>
            <p:ph type="ctrTitle"/>
          </p:nvPr>
        </p:nvSpPr>
        <p:spPr>
          <a:xfrm>
            <a:off x="1194308" y="101600"/>
            <a:ext cx="10158984" cy="863029"/>
          </a:xfrm>
        </p:spPr>
        <p:txBody>
          <a:bodyPr/>
          <a:lstStyle/>
          <a:p>
            <a:pPr algn="ctr"/>
            <a:r>
              <a:rPr lang="pl-PL" sz="3600" dirty="0"/>
              <a:t>Programowanie vs Uczenie Maszynowe</a:t>
            </a:r>
            <a:endParaRPr lang="en-US" sz="3600" dirty="0"/>
          </a:p>
        </p:txBody>
      </p:sp>
      <p:sp>
        <p:nvSpPr>
          <p:cNvPr id="7" name="Prostokąt: zaokrąglone rogi 6">
            <a:extLst>
              <a:ext uri="{FF2B5EF4-FFF2-40B4-BE49-F238E27FC236}">
                <a16:creationId xmlns:a16="http://schemas.microsoft.com/office/drawing/2014/main" id="{CDFBDE53-A333-ED66-BB79-EDBEBDE4E06C}"/>
              </a:ext>
            </a:extLst>
          </p:cNvPr>
          <p:cNvSpPr/>
          <p:nvPr/>
        </p:nvSpPr>
        <p:spPr>
          <a:xfrm>
            <a:off x="1846128" y="3263900"/>
            <a:ext cx="2413000" cy="10668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pl-PL" dirty="0"/>
              <a:t>Traditional </a:t>
            </a:r>
            <a:br>
              <a:rPr lang="pl-PL" dirty="0"/>
            </a:br>
            <a:r>
              <a:rPr lang="pl-PL" dirty="0"/>
              <a:t>Programming</a:t>
            </a:r>
            <a:endParaRPr lang="en-US" dirty="0"/>
          </a:p>
        </p:txBody>
      </p:sp>
      <p:sp>
        <p:nvSpPr>
          <p:cNvPr id="10" name="Strzałka: w prawo 9">
            <a:extLst>
              <a:ext uri="{FF2B5EF4-FFF2-40B4-BE49-F238E27FC236}">
                <a16:creationId xmlns:a16="http://schemas.microsoft.com/office/drawing/2014/main" id="{133818E4-1586-E9B1-EC86-30C553130799}"/>
              </a:ext>
            </a:extLst>
          </p:cNvPr>
          <p:cNvSpPr/>
          <p:nvPr/>
        </p:nvSpPr>
        <p:spPr>
          <a:xfrm>
            <a:off x="543804" y="3880402"/>
            <a:ext cx="1143000" cy="304800"/>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 name="Strzałka: w prawo 11">
            <a:extLst>
              <a:ext uri="{FF2B5EF4-FFF2-40B4-BE49-F238E27FC236}">
                <a16:creationId xmlns:a16="http://schemas.microsoft.com/office/drawing/2014/main" id="{504D37DA-8FC8-FEBE-5E73-251F792A8811}"/>
              </a:ext>
            </a:extLst>
          </p:cNvPr>
          <p:cNvSpPr/>
          <p:nvPr/>
        </p:nvSpPr>
        <p:spPr>
          <a:xfrm>
            <a:off x="551802" y="3364013"/>
            <a:ext cx="1143000" cy="30480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 name="pole tekstowe 12">
            <a:extLst>
              <a:ext uri="{FF2B5EF4-FFF2-40B4-BE49-F238E27FC236}">
                <a16:creationId xmlns:a16="http://schemas.microsoft.com/office/drawing/2014/main" id="{1DFEE7FC-434B-4438-1BC7-F5E8DCE36B31}"/>
              </a:ext>
            </a:extLst>
          </p:cNvPr>
          <p:cNvSpPr txBox="1"/>
          <p:nvPr/>
        </p:nvSpPr>
        <p:spPr>
          <a:xfrm>
            <a:off x="400476" y="2983510"/>
            <a:ext cx="1445652" cy="307777"/>
          </a:xfrm>
          <a:prstGeom prst="rect">
            <a:avLst/>
          </a:prstGeom>
          <a:noFill/>
        </p:spPr>
        <p:txBody>
          <a:bodyPr wrap="none" rtlCol="0">
            <a:spAutoFit/>
          </a:bodyPr>
          <a:lstStyle/>
          <a:p>
            <a:r>
              <a:rPr lang="pl-PL" sz="1400" dirty="0"/>
              <a:t>Dane wejściowe</a:t>
            </a:r>
            <a:endParaRPr lang="en-US" sz="1400" dirty="0"/>
          </a:p>
        </p:txBody>
      </p:sp>
      <p:sp>
        <p:nvSpPr>
          <p:cNvPr id="15" name="pole tekstowe 14">
            <a:extLst>
              <a:ext uri="{FF2B5EF4-FFF2-40B4-BE49-F238E27FC236}">
                <a16:creationId xmlns:a16="http://schemas.microsoft.com/office/drawing/2014/main" id="{AF3D6EC4-056A-A727-0A35-41B72C6D89FD}"/>
              </a:ext>
            </a:extLst>
          </p:cNvPr>
          <p:cNvSpPr txBox="1"/>
          <p:nvPr/>
        </p:nvSpPr>
        <p:spPr>
          <a:xfrm>
            <a:off x="672173" y="4160738"/>
            <a:ext cx="704039" cy="307777"/>
          </a:xfrm>
          <a:prstGeom prst="rect">
            <a:avLst/>
          </a:prstGeom>
          <a:noFill/>
        </p:spPr>
        <p:txBody>
          <a:bodyPr wrap="none" rtlCol="0">
            <a:spAutoFit/>
          </a:bodyPr>
          <a:lstStyle/>
          <a:p>
            <a:r>
              <a:rPr lang="pl-PL" sz="1400" dirty="0"/>
              <a:t>Reguły</a:t>
            </a:r>
            <a:endParaRPr lang="en-US" sz="1400" dirty="0"/>
          </a:p>
        </p:txBody>
      </p:sp>
      <p:sp>
        <p:nvSpPr>
          <p:cNvPr id="17" name="Strzałka: w prawo 16">
            <a:extLst>
              <a:ext uri="{FF2B5EF4-FFF2-40B4-BE49-F238E27FC236}">
                <a16:creationId xmlns:a16="http://schemas.microsoft.com/office/drawing/2014/main" id="{94F8404B-138C-9250-2997-17E6337FC682}"/>
              </a:ext>
            </a:extLst>
          </p:cNvPr>
          <p:cNvSpPr/>
          <p:nvPr/>
        </p:nvSpPr>
        <p:spPr>
          <a:xfrm>
            <a:off x="4418452" y="3619500"/>
            <a:ext cx="1143000" cy="304800"/>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9" name="pole tekstowe 18">
            <a:extLst>
              <a:ext uri="{FF2B5EF4-FFF2-40B4-BE49-F238E27FC236}">
                <a16:creationId xmlns:a16="http://schemas.microsoft.com/office/drawing/2014/main" id="{4BEBA063-CA64-8AC0-7059-9397B2818426}"/>
              </a:ext>
            </a:extLst>
          </p:cNvPr>
          <p:cNvSpPr txBox="1"/>
          <p:nvPr/>
        </p:nvSpPr>
        <p:spPr>
          <a:xfrm>
            <a:off x="4606600" y="3924300"/>
            <a:ext cx="700641" cy="307777"/>
          </a:xfrm>
          <a:prstGeom prst="rect">
            <a:avLst/>
          </a:prstGeom>
          <a:noFill/>
        </p:spPr>
        <p:txBody>
          <a:bodyPr wrap="none" rtlCol="0">
            <a:spAutoFit/>
          </a:bodyPr>
          <a:lstStyle/>
          <a:p>
            <a:r>
              <a:rPr lang="pl-PL" sz="1400" dirty="0"/>
              <a:t>Wyniki</a:t>
            </a:r>
            <a:endParaRPr lang="en-US" sz="1400" dirty="0"/>
          </a:p>
        </p:txBody>
      </p:sp>
      <p:grpSp>
        <p:nvGrpSpPr>
          <p:cNvPr id="52" name="Grupa 51">
            <a:extLst>
              <a:ext uri="{FF2B5EF4-FFF2-40B4-BE49-F238E27FC236}">
                <a16:creationId xmlns:a16="http://schemas.microsoft.com/office/drawing/2014/main" id="{843C3009-C8D8-D2BD-E282-2CF741A48E34}"/>
              </a:ext>
            </a:extLst>
          </p:cNvPr>
          <p:cNvGrpSpPr/>
          <p:nvPr/>
        </p:nvGrpSpPr>
        <p:grpSpPr>
          <a:xfrm>
            <a:off x="6541278" y="1663808"/>
            <a:ext cx="5193426" cy="1904891"/>
            <a:chOff x="6796648" y="982416"/>
            <a:chExt cx="5193426" cy="1904891"/>
          </a:xfrm>
        </p:grpSpPr>
        <p:sp>
          <p:nvSpPr>
            <p:cNvPr id="21" name="Prostokąt: zaokrąglone rogi 20">
              <a:extLst>
                <a:ext uri="{FF2B5EF4-FFF2-40B4-BE49-F238E27FC236}">
                  <a16:creationId xmlns:a16="http://schemas.microsoft.com/office/drawing/2014/main" id="{35110930-A333-A60E-6356-0BC34809603E}"/>
                </a:ext>
              </a:extLst>
            </p:cNvPr>
            <p:cNvSpPr/>
            <p:nvPr/>
          </p:nvSpPr>
          <p:spPr>
            <a:xfrm>
              <a:off x="8242300" y="1501577"/>
              <a:ext cx="2413000" cy="1066800"/>
            </a:xfrm>
            <a:prstGeom prst="roundRect">
              <a:avLst/>
            </a:prstGeom>
            <a:solidFill>
              <a:schemeClr val="tx2">
                <a:lumMod val="75000"/>
                <a:lumOff val="25000"/>
              </a:scheme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pl-PL" dirty="0"/>
                <a:t>Uczenie Maszynowe</a:t>
              </a:r>
              <a:br>
                <a:rPr lang="pl-PL" dirty="0"/>
              </a:br>
              <a:r>
                <a:rPr lang="pl-PL" dirty="0"/>
                <a:t>(algorytm)</a:t>
              </a:r>
              <a:endParaRPr lang="en-US" dirty="0"/>
            </a:p>
          </p:txBody>
        </p:sp>
        <p:sp>
          <p:nvSpPr>
            <p:cNvPr id="23" name="Strzałka: w prawo 22">
              <a:extLst>
                <a:ext uri="{FF2B5EF4-FFF2-40B4-BE49-F238E27FC236}">
                  <a16:creationId xmlns:a16="http://schemas.microsoft.com/office/drawing/2014/main" id="{A00BED5E-8957-746A-F7BA-7CD9196F3228}"/>
                </a:ext>
              </a:extLst>
            </p:cNvPr>
            <p:cNvSpPr/>
            <p:nvPr/>
          </p:nvSpPr>
          <p:spPr>
            <a:xfrm>
              <a:off x="10847074" y="1854199"/>
              <a:ext cx="1143000" cy="304800"/>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5" name="Strzałka: w prawo 24">
              <a:extLst>
                <a:ext uri="{FF2B5EF4-FFF2-40B4-BE49-F238E27FC236}">
                  <a16:creationId xmlns:a16="http://schemas.microsoft.com/office/drawing/2014/main" id="{7526517A-C589-2CAD-C26C-3E48AC2EDA35}"/>
                </a:ext>
              </a:extLst>
            </p:cNvPr>
            <p:cNvSpPr/>
            <p:nvPr/>
          </p:nvSpPr>
          <p:spPr>
            <a:xfrm>
              <a:off x="6853362" y="2177074"/>
              <a:ext cx="1143000" cy="30480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Strzałka: w prawo 26">
              <a:extLst>
                <a:ext uri="{FF2B5EF4-FFF2-40B4-BE49-F238E27FC236}">
                  <a16:creationId xmlns:a16="http://schemas.microsoft.com/office/drawing/2014/main" id="{912E6652-5F7E-E608-73FB-BF600202AD92}"/>
                </a:ext>
              </a:extLst>
            </p:cNvPr>
            <p:cNvSpPr/>
            <p:nvPr/>
          </p:nvSpPr>
          <p:spPr>
            <a:xfrm>
              <a:off x="6893673" y="1624110"/>
              <a:ext cx="1143000" cy="304800"/>
            </a:xfrm>
            <a:prstGeom prst="rightArrow">
              <a:avLst/>
            </a:prstGeom>
            <a:solidFill>
              <a:srgbClr val="FFC0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9" name="pole tekstowe 28">
              <a:extLst>
                <a:ext uri="{FF2B5EF4-FFF2-40B4-BE49-F238E27FC236}">
                  <a16:creationId xmlns:a16="http://schemas.microsoft.com/office/drawing/2014/main" id="{494CD829-0F53-8DCA-B6AE-91B63D6D4DC4}"/>
                </a:ext>
              </a:extLst>
            </p:cNvPr>
            <p:cNvSpPr txBox="1"/>
            <p:nvPr/>
          </p:nvSpPr>
          <p:spPr>
            <a:xfrm>
              <a:off x="6796648" y="1200256"/>
              <a:ext cx="1445652" cy="307777"/>
            </a:xfrm>
            <a:prstGeom prst="rect">
              <a:avLst/>
            </a:prstGeom>
            <a:noFill/>
          </p:spPr>
          <p:txBody>
            <a:bodyPr wrap="none" rtlCol="0">
              <a:spAutoFit/>
            </a:bodyPr>
            <a:lstStyle/>
            <a:p>
              <a:r>
                <a:rPr lang="pl-PL" sz="1400" dirty="0"/>
                <a:t>Dane wejściowe</a:t>
              </a:r>
              <a:endParaRPr lang="en-US" sz="1400" dirty="0"/>
            </a:p>
          </p:txBody>
        </p:sp>
        <p:sp>
          <p:nvSpPr>
            <p:cNvPr id="31" name="pole tekstowe 30">
              <a:extLst>
                <a:ext uri="{FF2B5EF4-FFF2-40B4-BE49-F238E27FC236}">
                  <a16:creationId xmlns:a16="http://schemas.microsoft.com/office/drawing/2014/main" id="{66AA57AE-C6A3-6B28-5081-B09DD9D99E50}"/>
                </a:ext>
              </a:extLst>
            </p:cNvPr>
            <p:cNvSpPr txBox="1"/>
            <p:nvPr/>
          </p:nvSpPr>
          <p:spPr>
            <a:xfrm>
              <a:off x="7074541" y="2579530"/>
              <a:ext cx="700641" cy="307777"/>
            </a:xfrm>
            <a:prstGeom prst="rect">
              <a:avLst/>
            </a:prstGeom>
            <a:noFill/>
          </p:spPr>
          <p:txBody>
            <a:bodyPr wrap="none" rtlCol="0">
              <a:spAutoFit/>
            </a:bodyPr>
            <a:lstStyle/>
            <a:p>
              <a:r>
                <a:rPr lang="pl-PL" sz="1400" dirty="0"/>
                <a:t>Wyniki</a:t>
              </a:r>
              <a:endParaRPr lang="en-US" sz="1400" dirty="0"/>
            </a:p>
          </p:txBody>
        </p:sp>
        <p:sp>
          <p:nvSpPr>
            <p:cNvPr id="33" name="pole tekstowe 32">
              <a:extLst>
                <a:ext uri="{FF2B5EF4-FFF2-40B4-BE49-F238E27FC236}">
                  <a16:creationId xmlns:a16="http://schemas.microsoft.com/office/drawing/2014/main" id="{A2498F3F-9F44-B105-F727-257B8CD21727}"/>
                </a:ext>
              </a:extLst>
            </p:cNvPr>
            <p:cNvSpPr txBox="1"/>
            <p:nvPr/>
          </p:nvSpPr>
          <p:spPr>
            <a:xfrm>
              <a:off x="11066554" y="1497114"/>
              <a:ext cx="704039" cy="307777"/>
            </a:xfrm>
            <a:prstGeom prst="rect">
              <a:avLst/>
            </a:prstGeom>
            <a:noFill/>
          </p:spPr>
          <p:txBody>
            <a:bodyPr wrap="none" rtlCol="0">
              <a:spAutoFit/>
            </a:bodyPr>
            <a:lstStyle/>
            <a:p>
              <a:r>
                <a:rPr lang="pl-PL" sz="1400" dirty="0"/>
                <a:t>Reguły</a:t>
              </a:r>
              <a:endParaRPr lang="en-US" sz="1400" dirty="0"/>
            </a:p>
          </p:txBody>
        </p:sp>
        <p:sp>
          <p:nvSpPr>
            <p:cNvPr id="35" name="pole tekstowe 34">
              <a:extLst>
                <a:ext uri="{FF2B5EF4-FFF2-40B4-BE49-F238E27FC236}">
                  <a16:creationId xmlns:a16="http://schemas.microsoft.com/office/drawing/2014/main" id="{95FABE8F-E036-87BF-5666-7B6F0D418B0F}"/>
                </a:ext>
              </a:extLst>
            </p:cNvPr>
            <p:cNvSpPr txBox="1"/>
            <p:nvPr/>
          </p:nvSpPr>
          <p:spPr>
            <a:xfrm>
              <a:off x="8118836" y="982416"/>
              <a:ext cx="2536464" cy="369332"/>
            </a:xfrm>
            <a:prstGeom prst="rect">
              <a:avLst/>
            </a:prstGeom>
            <a:noFill/>
          </p:spPr>
          <p:txBody>
            <a:bodyPr wrap="none" rtlCol="0">
              <a:spAutoFit/>
            </a:bodyPr>
            <a:lstStyle/>
            <a:p>
              <a:r>
                <a:rPr lang="pl-PL" dirty="0"/>
                <a:t>Trenowanie/Uczenie się</a:t>
              </a:r>
              <a:endParaRPr lang="en-US" dirty="0"/>
            </a:p>
          </p:txBody>
        </p:sp>
      </p:grpSp>
      <p:cxnSp>
        <p:nvCxnSpPr>
          <p:cNvPr id="47" name="Łącznik prosty 46">
            <a:extLst>
              <a:ext uri="{FF2B5EF4-FFF2-40B4-BE49-F238E27FC236}">
                <a16:creationId xmlns:a16="http://schemas.microsoft.com/office/drawing/2014/main" id="{F14BEC90-6C7B-58DA-63BF-999F0FAE0285}"/>
              </a:ext>
            </a:extLst>
          </p:cNvPr>
          <p:cNvCxnSpPr>
            <a:cxnSpLocks/>
          </p:cNvCxnSpPr>
          <p:nvPr/>
        </p:nvCxnSpPr>
        <p:spPr>
          <a:xfrm>
            <a:off x="6070600" y="1080822"/>
            <a:ext cx="0" cy="5519984"/>
          </a:xfrm>
          <a:prstGeom prst="line">
            <a:avLst/>
          </a:prstGeom>
          <a:ln w="66675">
            <a:prstDash val="dash"/>
          </a:ln>
        </p:spPr>
        <p:style>
          <a:lnRef idx="2">
            <a:schemeClr val="accent1"/>
          </a:lnRef>
          <a:fillRef idx="0">
            <a:schemeClr val="accent1"/>
          </a:fillRef>
          <a:effectRef idx="1">
            <a:schemeClr val="accent1"/>
          </a:effectRef>
          <a:fontRef idx="minor">
            <a:schemeClr val="tx1"/>
          </a:fontRef>
        </p:style>
      </p:cxnSp>
      <p:grpSp>
        <p:nvGrpSpPr>
          <p:cNvPr id="53" name="Grupa 52">
            <a:extLst>
              <a:ext uri="{FF2B5EF4-FFF2-40B4-BE49-F238E27FC236}">
                <a16:creationId xmlns:a16="http://schemas.microsoft.com/office/drawing/2014/main" id="{A7B9AF57-B1F2-2CF8-7815-06BD90B72244}"/>
              </a:ext>
            </a:extLst>
          </p:cNvPr>
          <p:cNvGrpSpPr/>
          <p:nvPr/>
        </p:nvGrpSpPr>
        <p:grpSpPr>
          <a:xfrm>
            <a:off x="6452960" y="4310198"/>
            <a:ext cx="5288038" cy="1592936"/>
            <a:chOff x="6702036" y="3976072"/>
            <a:chExt cx="5288038" cy="1592936"/>
          </a:xfrm>
        </p:grpSpPr>
        <p:sp>
          <p:nvSpPr>
            <p:cNvPr id="37" name="Prostokąt: zaokrąglone rogi 36">
              <a:extLst>
                <a:ext uri="{FF2B5EF4-FFF2-40B4-BE49-F238E27FC236}">
                  <a16:creationId xmlns:a16="http://schemas.microsoft.com/office/drawing/2014/main" id="{4CE31532-C899-3389-38D9-50808782735F}"/>
                </a:ext>
              </a:extLst>
            </p:cNvPr>
            <p:cNvSpPr/>
            <p:nvPr/>
          </p:nvSpPr>
          <p:spPr>
            <a:xfrm>
              <a:off x="8242300" y="4502208"/>
              <a:ext cx="2413000" cy="1066800"/>
            </a:xfrm>
            <a:prstGeom prst="roundRect">
              <a:avLst/>
            </a:prstGeom>
            <a:solidFill>
              <a:srgbClr val="C0000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pl-PL" dirty="0"/>
                <a:t>Uczenie Maszynowe</a:t>
              </a:r>
              <a:br>
                <a:rPr lang="pl-PL" dirty="0"/>
              </a:br>
              <a:r>
                <a:rPr lang="pl-PL" dirty="0"/>
                <a:t>(model z regułami)</a:t>
              </a:r>
              <a:endParaRPr lang="en-US" dirty="0"/>
            </a:p>
          </p:txBody>
        </p:sp>
        <p:sp>
          <p:nvSpPr>
            <p:cNvPr id="39" name="Strzałka: w prawo 38">
              <a:extLst>
                <a:ext uri="{FF2B5EF4-FFF2-40B4-BE49-F238E27FC236}">
                  <a16:creationId xmlns:a16="http://schemas.microsoft.com/office/drawing/2014/main" id="{B5922051-6ECD-F734-386D-B52449A2E6D9}"/>
                </a:ext>
              </a:extLst>
            </p:cNvPr>
            <p:cNvSpPr/>
            <p:nvPr/>
          </p:nvSpPr>
          <p:spPr>
            <a:xfrm>
              <a:off x="6910075" y="4907574"/>
              <a:ext cx="1143000" cy="30480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1" name="pole tekstowe 40">
              <a:extLst>
                <a:ext uri="{FF2B5EF4-FFF2-40B4-BE49-F238E27FC236}">
                  <a16:creationId xmlns:a16="http://schemas.microsoft.com/office/drawing/2014/main" id="{B0A55B4B-3EF6-B2B1-77F1-E180C649BFC9}"/>
                </a:ext>
              </a:extLst>
            </p:cNvPr>
            <p:cNvSpPr txBox="1"/>
            <p:nvPr/>
          </p:nvSpPr>
          <p:spPr>
            <a:xfrm>
              <a:off x="6702036" y="4443512"/>
              <a:ext cx="1445652" cy="307777"/>
            </a:xfrm>
            <a:prstGeom prst="rect">
              <a:avLst/>
            </a:prstGeom>
            <a:noFill/>
          </p:spPr>
          <p:txBody>
            <a:bodyPr wrap="none" rtlCol="0">
              <a:spAutoFit/>
            </a:bodyPr>
            <a:lstStyle/>
            <a:p>
              <a:r>
                <a:rPr lang="pl-PL" sz="1400" dirty="0"/>
                <a:t>Dane wejściowe</a:t>
              </a:r>
              <a:endParaRPr lang="en-US" sz="1400" dirty="0"/>
            </a:p>
          </p:txBody>
        </p:sp>
        <p:sp>
          <p:nvSpPr>
            <p:cNvPr id="43" name="Strzałka: w prawo 42">
              <a:extLst>
                <a:ext uri="{FF2B5EF4-FFF2-40B4-BE49-F238E27FC236}">
                  <a16:creationId xmlns:a16="http://schemas.microsoft.com/office/drawing/2014/main" id="{C10CC44F-98E9-36BA-3E14-9A9EABBC820E}"/>
                </a:ext>
              </a:extLst>
            </p:cNvPr>
            <p:cNvSpPr/>
            <p:nvPr/>
          </p:nvSpPr>
          <p:spPr>
            <a:xfrm>
              <a:off x="10847074" y="4863811"/>
              <a:ext cx="1143000" cy="304800"/>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5" name="pole tekstowe 44">
              <a:extLst>
                <a:ext uri="{FF2B5EF4-FFF2-40B4-BE49-F238E27FC236}">
                  <a16:creationId xmlns:a16="http://schemas.microsoft.com/office/drawing/2014/main" id="{1846306D-CCE8-A7AB-EA16-DE5C2231274C}"/>
                </a:ext>
              </a:extLst>
            </p:cNvPr>
            <p:cNvSpPr txBox="1"/>
            <p:nvPr/>
          </p:nvSpPr>
          <p:spPr>
            <a:xfrm>
              <a:off x="10979922" y="4443511"/>
              <a:ext cx="700641" cy="307777"/>
            </a:xfrm>
            <a:prstGeom prst="rect">
              <a:avLst/>
            </a:prstGeom>
            <a:noFill/>
          </p:spPr>
          <p:txBody>
            <a:bodyPr wrap="none" rtlCol="0">
              <a:spAutoFit/>
            </a:bodyPr>
            <a:lstStyle/>
            <a:p>
              <a:r>
                <a:rPr lang="pl-PL" sz="1400" dirty="0"/>
                <a:t>Wyniki</a:t>
              </a:r>
              <a:endParaRPr lang="en-US" sz="1400" dirty="0"/>
            </a:p>
          </p:txBody>
        </p:sp>
        <p:sp>
          <p:nvSpPr>
            <p:cNvPr id="50" name="pole tekstowe 49">
              <a:extLst>
                <a:ext uri="{FF2B5EF4-FFF2-40B4-BE49-F238E27FC236}">
                  <a16:creationId xmlns:a16="http://schemas.microsoft.com/office/drawing/2014/main" id="{1ED9257F-E8D8-9DA1-3175-21D096A3A597}"/>
                </a:ext>
              </a:extLst>
            </p:cNvPr>
            <p:cNvSpPr txBox="1"/>
            <p:nvPr/>
          </p:nvSpPr>
          <p:spPr>
            <a:xfrm>
              <a:off x="8965638" y="3976072"/>
              <a:ext cx="842859" cy="369332"/>
            </a:xfrm>
            <a:prstGeom prst="rect">
              <a:avLst/>
            </a:prstGeom>
            <a:noFill/>
          </p:spPr>
          <p:txBody>
            <a:bodyPr wrap="none" rtlCol="0">
              <a:spAutoFit/>
            </a:bodyPr>
            <a:lstStyle/>
            <a:p>
              <a:r>
                <a:rPr lang="pl-PL" dirty="0"/>
                <a:t>Użycie</a:t>
              </a:r>
              <a:endParaRPr lang="en-US" dirty="0"/>
            </a:p>
          </p:txBody>
        </p:sp>
      </p:grpSp>
      <p:sp>
        <p:nvSpPr>
          <p:cNvPr id="54" name="pole tekstowe 53">
            <a:extLst>
              <a:ext uri="{FF2B5EF4-FFF2-40B4-BE49-F238E27FC236}">
                <a16:creationId xmlns:a16="http://schemas.microsoft.com/office/drawing/2014/main" id="{F49E6DB9-AD43-4901-6440-CFD63C893FEC}"/>
              </a:ext>
            </a:extLst>
          </p:cNvPr>
          <p:cNvSpPr txBox="1"/>
          <p:nvPr/>
        </p:nvSpPr>
        <p:spPr>
          <a:xfrm>
            <a:off x="1667365" y="921853"/>
            <a:ext cx="2597314" cy="523220"/>
          </a:xfrm>
          <a:prstGeom prst="rect">
            <a:avLst/>
          </a:prstGeom>
          <a:noFill/>
        </p:spPr>
        <p:txBody>
          <a:bodyPr wrap="none" rtlCol="0">
            <a:spAutoFit/>
          </a:bodyPr>
          <a:lstStyle/>
          <a:p>
            <a:r>
              <a:rPr lang="pl-PL" sz="2800" dirty="0">
                <a:solidFill>
                  <a:srgbClr val="00B050"/>
                </a:solidFill>
              </a:rPr>
              <a:t>Programowanie</a:t>
            </a:r>
            <a:endParaRPr lang="en-US" sz="2800" dirty="0">
              <a:solidFill>
                <a:srgbClr val="00B050"/>
              </a:solidFill>
            </a:endParaRPr>
          </a:p>
        </p:txBody>
      </p:sp>
      <p:sp>
        <p:nvSpPr>
          <p:cNvPr id="56" name="pole tekstowe 55">
            <a:extLst>
              <a:ext uri="{FF2B5EF4-FFF2-40B4-BE49-F238E27FC236}">
                <a16:creationId xmlns:a16="http://schemas.microsoft.com/office/drawing/2014/main" id="{5B11999F-411E-9C86-78EA-4E7084CAC601}"/>
              </a:ext>
            </a:extLst>
          </p:cNvPr>
          <p:cNvSpPr txBox="1"/>
          <p:nvPr/>
        </p:nvSpPr>
        <p:spPr>
          <a:xfrm>
            <a:off x="7543651" y="925892"/>
            <a:ext cx="3299558" cy="523220"/>
          </a:xfrm>
          <a:prstGeom prst="rect">
            <a:avLst/>
          </a:prstGeom>
          <a:noFill/>
        </p:spPr>
        <p:txBody>
          <a:bodyPr wrap="none" rtlCol="0">
            <a:spAutoFit/>
          </a:bodyPr>
          <a:lstStyle/>
          <a:p>
            <a:r>
              <a:rPr lang="pl-PL" sz="2800" dirty="0">
                <a:solidFill>
                  <a:srgbClr val="00B050"/>
                </a:solidFill>
              </a:rPr>
              <a:t>Uczenie Maszynowe</a:t>
            </a:r>
            <a:endParaRPr lang="en-US" sz="2800" dirty="0">
              <a:solidFill>
                <a:srgbClr val="00B050"/>
              </a:solidFill>
            </a:endParaRPr>
          </a:p>
        </p:txBody>
      </p:sp>
    </p:spTree>
    <p:extLst>
      <p:ext uri="{BB962C8B-B14F-4D97-AF65-F5344CB8AC3E}">
        <p14:creationId xmlns:p14="http://schemas.microsoft.com/office/powerpoint/2010/main" val="1977869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BBEE4-D508-6F89-E5DA-2BA9B794E3D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A514A3C-5416-0EDD-4FD6-810BD8E08289}"/>
              </a:ext>
            </a:extLst>
          </p:cNvPr>
          <p:cNvSpPr>
            <a:spLocks noGrp="1"/>
          </p:cNvSpPr>
          <p:nvPr>
            <p:ph type="ctrTitle"/>
          </p:nvPr>
        </p:nvSpPr>
        <p:spPr>
          <a:xfrm>
            <a:off x="1016508" y="0"/>
            <a:ext cx="10158984" cy="863029"/>
          </a:xfrm>
        </p:spPr>
        <p:txBody>
          <a:bodyPr/>
          <a:lstStyle/>
          <a:p>
            <a:pPr algn="ctr"/>
            <a:r>
              <a:rPr lang="pl-PL" sz="3600" dirty="0"/>
              <a:t>Podstawowe typy uczenia maszynowego</a:t>
            </a:r>
            <a:endParaRPr lang="en-US" sz="3600" dirty="0"/>
          </a:p>
        </p:txBody>
      </p:sp>
      <p:sp>
        <p:nvSpPr>
          <p:cNvPr id="6" name="TextBox 4">
            <a:extLst>
              <a:ext uri="{FF2B5EF4-FFF2-40B4-BE49-F238E27FC236}">
                <a16:creationId xmlns:a16="http://schemas.microsoft.com/office/drawing/2014/main" id="{AAD4F1AF-5080-970F-220E-1626B638D313}"/>
              </a:ext>
            </a:extLst>
          </p:cNvPr>
          <p:cNvSpPr txBox="1"/>
          <p:nvPr/>
        </p:nvSpPr>
        <p:spPr>
          <a:xfrm>
            <a:off x="729468" y="927421"/>
            <a:ext cx="7076042" cy="461665"/>
          </a:xfrm>
          <a:prstGeom prst="rect">
            <a:avLst/>
          </a:prstGeom>
          <a:noFill/>
          <a:ln>
            <a:noFill/>
          </a:ln>
        </p:spPr>
        <p:txBody>
          <a:bodyPr wrap="square" rtlCol="0">
            <a:spAutoFit/>
          </a:bodyPr>
          <a:lstStyle/>
          <a:p>
            <a:r>
              <a:rPr lang="pl-PL" sz="2400" b="1" dirty="0"/>
              <a:t>Nadzorowane</a:t>
            </a:r>
            <a:r>
              <a:rPr lang="pl-PL" dirty="0"/>
              <a:t>         vs              </a:t>
            </a:r>
            <a:r>
              <a:rPr lang="pl-PL" sz="2400" b="1" dirty="0"/>
              <a:t>Nienadzorowane uczenie</a:t>
            </a:r>
            <a:endParaRPr lang="en-US" sz="2400" b="1" dirty="0"/>
          </a:p>
        </p:txBody>
      </p:sp>
      <p:sp>
        <p:nvSpPr>
          <p:cNvPr id="7" name="TextBox 5">
            <a:extLst>
              <a:ext uri="{FF2B5EF4-FFF2-40B4-BE49-F238E27FC236}">
                <a16:creationId xmlns:a16="http://schemas.microsoft.com/office/drawing/2014/main" id="{DB97170B-307F-8B16-F81C-7A6BFA21AA53}"/>
              </a:ext>
            </a:extLst>
          </p:cNvPr>
          <p:cNvSpPr txBox="1"/>
          <p:nvPr/>
        </p:nvSpPr>
        <p:spPr>
          <a:xfrm>
            <a:off x="490102" y="2492938"/>
            <a:ext cx="2632353" cy="707886"/>
          </a:xfrm>
          <a:prstGeom prst="rect">
            <a:avLst/>
          </a:prstGeom>
          <a:noFill/>
        </p:spPr>
        <p:txBody>
          <a:bodyPr wrap="square" rtlCol="0">
            <a:spAutoFit/>
          </a:bodyPr>
          <a:lstStyle/>
          <a:p>
            <a:r>
              <a:rPr lang="pl-PL" dirty="0"/>
              <a:t>          </a:t>
            </a:r>
            <a:r>
              <a:rPr lang="pl-PL" sz="2400" b="1" i="1" dirty="0"/>
              <a:t>klasyfikacja</a:t>
            </a:r>
          </a:p>
          <a:p>
            <a:pPr algn="ctr"/>
            <a:r>
              <a:rPr lang="pl-PL" sz="1600" dirty="0"/>
              <a:t>Email - spam czy nie</a:t>
            </a:r>
            <a:endParaRPr lang="en-US" sz="1600" dirty="0"/>
          </a:p>
        </p:txBody>
      </p:sp>
      <p:sp>
        <p:nvSpPr>
          <p:cNvPr id="8" name="TextBox 6">
            <a:extLst>
              <a:ext uri="{FF2B5EF4-FFF2-40B4-BE49-F238E27FC236}">
                <a16:creationId xmlns:a16="http://schemas.microsoft.com/office/drawing/2014/main" id="{27A012A8-0E99-E0AA-EB13-1615D253C6DF}"/>
              </a:ext>
            </a:extLst>
          </p:cNvPr>
          <p:cNvSpPr txBox="1"/>
          <p:nvPr/>
        </p:nvSpPr>
        <p:spPr>
          <a:xfrm>
            <a:off x="4661332" y="2456297"/>
            <a:ext cx="2523278" cy="461665"/>
          </a:xfrm>
          <a:prstGeom prst="rect">
            <a:avLst/>
          </a:prstGeom>
          <a:noFill/>
        </p:spPr>
        <p:txBody>
          <a:bodyPr wrap="square" rtlCol="0">
            <a:spAutoFit/>
          </a:bodyPr>
          <a:lstStyle/>
          <a:p>
            <a:r>
              <a:rPr lang="pl-PL" sz="2400" b="1" i="1" dirty="0"/>
              <a:t>klastrowanie</a:t>
            </a:r>
          </a:p>
        </p:txBody>
      </p:sp>
      <p:cxnSp>
        <p:nvCxnSpPr>
          <p:cNvPr id="9" name="Straight Arrow Connector 2">
            <a:extLst>
              <a:ext uri="{FF2B5EF4-FFF2-40B4-BE49-F238E27FC236}">
                <a16:creationId xmlns:a16="http://schemas.microsoft.com/office/drawing/2014/main" id="{1EF62706-0F54-33FA-95AB-6AF21FC6C410}"/>
              </a:ext>
            </a:extLst>
          </p:cNvPr>
          <p:cNvCxnSpPr>
            <a:cxnSpLocks/>
          </p:cNvCxnSpPr>
          <p:nvPr/>
        </p:nvCxnSpPr>
        <p:spPr>
          <a:xfrm>
            <a:off x="1726980" y="1604108"/>
            <a:ext cx="0" cy="706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7">
            <a:extLst>
              <a:ext uri="{FF2B5EF4-FFF2-40B4-BE49-F238E27FC236}">
                <a16:creationId xmlns:a16="http://schemas.microsoft.com/office/drawing/2014/main" id="{263E7570-193B-1519-4436-287F7091679A}"/>
              </a:ext>
            </a:extLst>
          </p:cNvPr>
          <p:cNvCxnSpPr>
            <a:cxnSpLocks/>
          </p:cNvCxnSpPr>
          <p:nvPr/>
        </p:nvCxnSpPr>
        <p:spPr>
          <a:xfrm>
            <a:off x="5799878" y="1604108"/>
            <a:ext cx="0" cy="706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8">
            <a:extLst>
              <a:ext uri="{FF2B5EF4-FFF2-40B4-BE49-F238E27FC236}">
                <a16:creationId xmlns:a16="http://schemas.microsoft.com/office/drawing/2014/main" id="{937E2240-9CF4-19FE-DCAF-D52B9AB0C5F3}"/>
              </a:ext>
            </a:extLst>
          </p:cNvPr>
          <p:cNvSpPr txBox="1"/>
          <p:nvPr/>
        </p:nvSpPr>
        <p:spPr>
          <a:xfrm>
            <a:off x="4578094" y="2813675"/>
            <a:ext cx="2850677" cy="1600438"/>
          </a:xfrm>
          <a:prstGeom prst="rect">
            <a:avLst/>
          </a:prstGeom>
          <a:noFill/>
        </p:spPr>
        <p:txBody>
          <a:bodyPr wrap="square" rtlCol="0">
            <a:spAutoFit/>
          </a:bodyPr>
          <a:lstStyle/>
          <a:p>
            <a:r>
              <a:rPr lang="pl-PL" sz="1600" dirty="0"/>
              <a:t>Które dane są podobne do siebie (przypisywanie etykiet).</a:t>
            </a:r>
            <a:br>
              <a:rPr lang="pl-PL" sz="1600" dirty="0"/>
            </a:br>
            <a:r>
              <a:rPr lang="pl-PL" sz="1600" dirty="0"/>
              <a:t>Czy dany klient często będzie u Nas kupował czy raczej jest w grupie sporadycznej</a:t>
            </a:r>
            <a:endParaRPr lang="en-US" sz="1600" dirty="0"/>
          </a:p>
          <a:p>
            <a:endParaRPr lang="en-US" dirty="0"/>
          </a:p>
        </p:txBody>
      </p:sp>
      <p:pic>
        <p:nvPicPr>
          <p:cNvPr id="14" name="Graphic 27" descr="Processor with solid fill">
            <a:extLst>
              <a:ext uri="{FF2B5EF4-FFF2-40B4-BE49-F238E27FC236}">
                <a16:creationId xmlns:a16="http://schemas.microsoft.com/office/drawing/2014/main" id="{AD4FFB99-DF21-4CD9-5954-E72E2218FC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05510" y="2846881"/>
            <a:ext cx="914400" cy="914400"/>
          </a:xfrm>
          <a:prstGeom prst="rect">
            <a:avLst/>
          </a:prstGeom>
        </p:spPr>
      </p:pic>
      <p:pic>
        <p:nvPicPr>
          <p:cNvPr id="16" name="Graphic 31" descr="Processor with solid fill">
            <a:extLst>
              <a:ext uri="{FF2B5EF4-FFF2-40B4-BE49-F238E27FC236}">
                <a16:creationId xmlns:a16="http://schemas.microsoft.com/office/drawing/2014/main" id="{68F2982A-FECC-45FC-C104-15A660EC0A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05510" y="3984878"/>
            <a:ext cx="914400" cy="914400"/>
          </a:xfrm>
          <a:prstGeom prst="rect">
            <a:avLst/>
          </a:prstGeom>
        </p:spPr>
      </p:pic>
      <p:sp>
        <p:nvSpPr>
          <p:cNvPr id="17" name="TextBox 32">
            <a:extLst>
              <a:ext uri="{FF2B5EF4-FFF2-40B4-BE49-F238E27FC236}">
                <a16:creationId xmlns:a16="http://schemas.microsoft.com/office/drawing/2014/main" id="{9EBF9CC2-F89E-1BCF-F950-7C5522421AFA}"/>
              </a:ext>
            </a:extLst>
          </p:cNvPr>
          <p:cNvSpPr txBox="1"/>
          <p:nvPr/>
        </p:nvSpPr>
        <p:spPr>
          <a:xfrm>
            <a:off x="8719910" y="3104026"/>
            <a:ext cx="3108415" cy="400110"/>
          </a:xfrm>
          <a:prstGeom prst="rect">
            <a:avLst/>
          </a:prstGeom>
          <a:noFill/>
        </p:spPr>
        <p:txBody>
          <a:bodyPr wrap="none" rtlCol="0">
            <a:spAutoFit/>
          </a:bodyPr>
          <a:lstStyle/>
          <a:p>
            <a:r>
              <a:rPr lang="pl-PL" sz="2000" dirty="0">
                <a:solidFill>
                  <a:srgbClr val="00B050"/>
                </a:solidFill>
              </a:rPr>
              <a:t>Graficzne procesory (GPU)</a:t>
            </a:r>
            <a:endParaRPr lang="en-US" sz="2000" dirty="0">
              <a:solidFill>
                <a:srgbClr val="00B050"/>
              </a:solidFill>
            </a:endParaRPr>
          </a:p>
        </p:txBody>
      </p:sp>
      <p:sp>
        <p:nvSpPr>
          <p:cNvPr id="18" name="TextBox 33">
            <a:extLst>
              <a:ext uri="{FF2B5EF4-FFF2-40B4-BE49-F238E27FC236}">
                <a16:creationId xmlns:a16="http://schemas.microsoft.com/office/drawing/2014/main" id="{37901A25-12B7-C0C6-305C-A701F90D0FBE}"/>
              </a:ext>
            </a:extLst>
          </p:cNvPr>
          <p:cNvSpPr txBox="1"/>
          <p:nvPr/>
        </p:nvSpPr>
        <p:spPr>
          <a:xfrm>
            <a:off x="8073908" y="3709069"/>
            <a:ext cx="377604" cy="369332"/>
          </a:xfrm>
          <a:prstGeom prst="rect">
            <a:avLst/>
          </a:prstGeom>
          <a:noFill/>
        </p:spPr>
        <p:txBody>
          <a:bodyPr wrap="none" rtlCol="0">
            <a:spAutoFit/>
          </a:bodyPr>
          <a:lstStyle/>
          <a:p>
            <a:r>
              <a:rPr lang="pl-PL" dirty="0"/>
              <a:t>vs</a:t>
            </a:r>
            <a:endParaRPr lang="en-US" dirty="0"/>
          </a:p>
        </p:txBody>
      </p:sp>
      <p:sp>
        <p:nvSpPr>
          <p:cNvPr id="19" name="TextBox 34">
            <a:extLst>
              <a:ext uri="{FF2B5EF4-FFF2-40B4-BE49-F238E27FC236}">
                <a16:creationId xmlns:a16="http://schemas.microsoft.com/office/drawing/2014/main" id="{53D47C2D-BB18-2C15-CABC-47F0D03BBDF5}"/>
              </a:ext>
            </a:extLst>
          </p:cNvPr>
          <p:cNvSpPr txBox="1"/>
          <p:nvPr/>
        </p:nvSpPr>
        <p:spPr>
          <a:xfrm>
            <a:off x="8759443" y="4222627"/>
            <a:ext cx="3497752" cy="400110"/>
          </a:xfrm>
          <a:prstGeom prst="rect">
            <a:avLst/>
          </a:prstGeom>
          <a:noFill/>
        </p:spPr>
        <p:txBody>
          <a:bodyPr wrap="none" rtlCol="0">
            <a:spAutoFit/>
          </a:bodyPr>
          <a:lstStyle/>
          <a:p>
            <a:r>
              <a:rPr lang="pl-PL" sz="2000" dirty="0">
                <a:solidFill>
                  <a:srgbClr val="00B050"/>
                </a:solidFill>
              </a:rPr>
              <a:t>Procesory standardowe (CPU)</a:t>
            </a:r>
            <a:endParaRPr lang="en-US" sz="2000" dirty="0">
              <a:solidFill>
                <a:srgbClr val="00B050"/>
              </a:solidFill>
            </a:endParaRPr>
          </a:p>
        </p:txBody>
      </p:sp>
      <p:sp>
        <p:nvSpPr>
          <p:cNvPr id="20" name="TextBox 1">
            <a:extLst>
              <a:ext uri="{FF2B5EF4-FFF2-40B4-BE49-F238E27FC236}">
                <a16:creationId xmlns:a16="http://schemas.microsoft.com/office/drawing/2014/main" id="{F1283BF5-E09E-6160-A6AA-6ECA3EFA6963}"/>
              </a:ext>
            </a:extLst>
          </p:cNvPr>
          <p:cNvSpPr txBox="1"/>
          <p:nvPr/>
        </p:nvSpPr>
        <p:spPr>
          <a:xfrm>
            <a:off x="4172255" y="4476357"/>
            <a:ext cx="3847490" cy="461665"/>
          </a:xfrm>
          <a:prstGeom prst="rect">
            <a:avLst/>
          </a:prstGeom>
          <a:noFill/>
        </p:spPr>
        <p:txBody>
          <a:bodyPr wrap="square" rtlCol="0">
            <a:spAutoFit/>
          </a:bodyPr>
          <a:lstStyle/>
          <a:p>
            <a:r>
              <a:rPr lang="pl-PL" sz="2400" b="1" i="1" dirty="0"/>
              <a:t>redukcja wymiarowości</a:t>
            </a:r>
          </a:p>
        </p:txBody>
      </p:sp>
      <p:sp>
        <p:nvSpPr>
          <p:cNvPr id="21" name="TextBox 9">
            <a:extLst>
              <a:ext uri="{FF2B5EF4-FFF2-40B4-BE49-F238E27FC236}">
                <a16:creationId xmlns:a16="http://schemas.microsoft.com/office/drawing/2014/main" id="{2DCEC445-CE1D-EF10-0BEC-D90AA056177D}"/>
              </a:ext>
            </a:extLst>
          </p:cNvPr>
          <p:cNvSpPr txBox="1"/>
          <p:nvPr/>
        </p:nvSpPr>
        <p:spPr>
          <a:xfrm>
            <a:off x="4153191" y="4899278"/>
            <a:ext cx="3539559" cy="584775"/>
          </a:xfrm>
          <a:prstGeom prst="rect">
            <a:avLst/>
          </a:prstGeom>
          <a:noFill/>
        </p:spPr>
        <p:txBody>
          <a:bodyPr wrap="none" rtlCol="0">
            <a:spAutoFit/>
          </a:bodyPr>
          <a:lstStyle/>
          <a:p>
            <a:r>
              <a:rPr lang="pl-PL" sz="1600" dirty="0"/>
              <a:t>Opisanie danych dużo mniejszą liczbą</a:t>
            </a:r>
            <a:br>
              <a:rPr lang="pl-PL" sz="1600" dirty="0"/>
            </a:br>
            <a:r>
              <a:rPr lang="pl-PL" sz="1600" dirty="0"/>
              <a:t>wymiarów (np. z 1024 zostawiamy 3)</a:t>
            </a:r>
            <a:endParaRPr lang="en-US" sz="1600" dirty="0"/>
          </a:p>
        </p:txBody>
      </p:sp>
      <p:sp>
        <p:nvSpPr>
          <p:cNvPr id="22" name="TextBox 10">
            <a:extLst>
              <a:ext uri="{FF2B5EF4-FFF2-40B4-BE49-F238E27FC236}">
                <a16:creationId xmlns:a16="http://schemas.microsoft.com/office/drawing/2014/main" id="{23AD1D62-BC7D-3CD6-B1F8-A5C1030A15F4}"/>
              </a:ext>
            </a:extLst>
          </p:cNvPr>
          <p:cNvSpPr txBox="1"/>
          <p:nvPr/>
        </p:nvSpPr>
        <p:spPr>
          <a:xfrm>
            <a:off x="490102" y="4476357"/>
            <a:ext cx="2473754" cy="1231106"/>
          </a:xfrm>
          <a:prstGeom prst="rect">
            <a:avLst/>
          </a:prstGeom>
          <a:noFill/>
        </p:spPr>
        <p:txBody>
          <a:bodyPr wrap="square" rtlCol="0">
            <a:spAutoFit/>
          </a:bodyPr>
          <a:lstStyle/>
          <a:p>
            <a:r>
              <a:rPr lang="pl-PL" sz="2400" dirty="0"/>
              <a:t>       </a:t>
            </a:r>
            <a:r>
              <a:rPr lang="pl-PL" sz="2400" b="1" i="1" dirty="0"/>
              <a:t>regresja</a:t>
            </a:r>
          </a:p>
          <a:p>
            <a:pPr algn="ctr"/>
            <a:r>
              <a:rPr lang="pl-PL" dirty="0"/>
              <a:t>   </a:t>
            </a:r>
            <a:r>
              <a:rPr lang="pl-PL" sz="1600" dirty="0"/>
              <a:t>przewidywana cena dla danej nieruchomości to 300 tys. złotych</a:t>
            </a:r>
            <a:endParaRPr lang="en-US" sz="1600" dirty="0"/>
          </a:p>
        </p:txBody>
      </p:sp>
      <p:pic>
        <p:nvPicPr>
          <p:cNvPr id="25" name="Picture 16">
            <a:extLst>
              <a:ext uri="{FF2B5EF4-FFF2-40B4-BE49-F238E27FC236}">
                <a16:creationId xmlns:a16="http://schemas.microsoft.com/office/drawing/2014/main" id="{45CD4AC5-DE9E-E243-1371-D63F1E084655}"/>
              </a:ext>
            </a:extLst>
          </p:cNvPr>
          <p:cNvPicPr>
            <a:picLocks noChangeAspect="1"/>
          </p:cNvPicPr>
          <p:nvPr/>
        </p:nvPicPr>
        <p:blipFill>
          <a:blip r:embed="rId5"/>
          <a:stretch>
            <a:fillRect/>
          </a:stretch>
        </p:blipFill>
        <p:spPr>
          <a:xfrm>
            <a:off x="9009132" y="1457030"/>
            <a:ext cx="2084166" cy="1297755"/>
          </a:xfrm>
          <a:prstGeom prst="rect">
            <a:avLst/>
          </a:prstGeom>
        </p:spPr>
      </p:pic>
      <p:sp>
        <p:nvSpPr>
          <p:cNvPr id="29" name="TextBox 32">
            <a:extLst>
              <a:ext uri="{FF2B5EF4-FFF2-40B4-BE49-F238E27FC236}">
                <a16:creationId xmlns:a16="http://schemas.microsoft.com/office/drawing/2014/main" id="{ED68F3FD-17DD-7CE6-608F-35A46B976354}"/>
              </a:ext>
            </a:extLst>
          </p:cNvPr>
          <p:cNvSpPr txBox="1"/>
          <p:nvPr/>
        </p:nvSpPr>
        <p:spPr>
          <a:xfrm>
            <a:off x="9314475" y="942387"/>
            <a:ext cx="1473480" cy="400110"/>
          </a:xfrm>
          <a:prstGeom prst="rect">
            <a:avLst/>
          </a:prstGeom>
          <a:noFill/>
        </p:spPr>
        <p:txBody>
          <a:bodyPr wrap="none" rtlCol="0">
            <a:spAutoFit/>
          </a:bodyPr>
          <a:lstStyle/>
          <a:p>
            <a:r>
              <a:rPr lang="pl-PL" sz="2000" dirty="0"/>
              <a:t>Google TPU</a:t>
            </a:r>
            <a:endParaRPr lang="en-US" sz="2000" dirty="0"/>
          </a:p>
        </p:txBody>
      </p:sp>
    </p:spTree>
    <p:extLst>
      <p:ext uri="{BB962C8B-B14F-4D97-AF65-F5344CB8AC3E}">
        <p14:creationId xmlns:p14="http://schemas.microsoft.com/office/powerpoint/2010/main" val="2636049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89BDAAA-9D14-E9FE-B6F7-417F47CB0604}"/>
              </a:ext>
            </a:extLst>
          </p:cNvPr>
          <p:cNvSpPr txBox="1">
            <a:spLocks/>
          </p:cNvSpPr>
          <p:nvPr/>
        </p:nvSpPr>
        <p:spPr>
          <a:xfrm>
            <a:off x="838200" y="256244"/>
            <a:ext cx="10515600" cy="736215"/>
          </a:xfrm>
          <a:prstGeom prst="rect">
            <a:avLst/>
          </a:prstGeom>
          <a:noFill/>
        </p:spPr>
        <p:txBody>
          <a:bodyPr vert="horz" wrap="square" lIns="0" tIns="0" rIns="0" bIns="91440" rtlCol="0" anchor="b">
            <a:norm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3600" b="1" dirty="0">
                <a:latin typeface="+mn-lt"/>
              </a:rPr>
              <a:t>Redukcja wymiarów</a:t>
            </a:r>
          </a:p>
        </p:txBody>
      </p:sp>
      <p:pic>
        <p:nvPicPr>
          <p:cNvPr id="7" name="Picture 2">
            <a:extLst>
              <a:ext uri="{FF2B5EF4-FFF2-40B4-BE49-F238E27FC236}">
                <a16:creationId xmlns:a16="http://schemas.microsoft.com/office/drawing/2014/main" id="{48D204CA-4197-0C01-D6C8-5C5CD10BA6EA}"/>
              </a:ext>
            </a:extLst>
          </p:cNvPr>
          <p:cNvPicPr>
            <a:picLocks noChangeAspect="1"/>
          </p:cNvPicPr>
          <p:nvPr/>
        </p:nvPicPr>
        <p:blipFill>
          <a:blip r:embed="rId3"/>
          <a:stretch>
            <a:fillRect/>
          </a:stretch>
        </p:blipFill>
        <p:spPr>
          <a:xfrm>
            <a:off x="1673487" y="1055889"/>
            <a:ext cx="4747208" cy="2164661"/>
          </a:xfrm>
          <a:prstGeom prst="rect">
            <a:avLst/>
          </a:prstGeom>
        </p:spPr>
      </p:pic>
      <p:pic>
        <p:nvPicPr>
          <p:cNvPr id="8" name="Picture 5">
            <a:extLst>
              <a:ext uri="{FF2B5EF4-FFF2-40B4-BE49-F238E27FC236}">
                <a16:creationId xmlns:a16="http://schemas.microsoft.com/office/drawing/2014/main" id="{989FE9B2-5FE8-7351-1370-0B0DCCFB1031}"/>
              </a:ext>
            </a:extLst>
          </p:cNvPr>
          <p:cNvPicPr>
            <a:picLocks noChangeAspect="1"/>
          </p:cNvPicPr>
          <p:nvPr/>
        </p:nvPicPr>
        <p:blipFill>
          <a:blip r:embed="rId4"/>
          <a:stretch>
            <a:fillRect/>
          </a:stretch>
        </p:blipFill>
        <p:spPr>
          <a:xfrm>
            <a:off x="618410" y="4719780"/>
            <a:ext cx="6594797" cy="1578490"/>
          </a:xfrm>
          <a:prstGeom prst="rect">
            <a:avLst/>
          </a:prstGeom>
        </p:spPr>
      </p:pic>
      <p:sp>
        <p:nvSpPr>
          <p:cNvPr id="9" name="TextBox 7">
            <a:extLst>
              <a:ext uri="{FF2B5EF4-FFF2-40B4-BE49-F238E27FC236}">
                <a16:creationId xmlns:a16="http://schemas.microsoft.com/office/drawing/2014/main" id="{C9DC5FAF-72D9-7018-FEC4-D36B24CAF32E}"/>
              </a:ext>
            </a:extLst>
          </p:cNvPr>
          <p:cNvSpPr txBox="1"/>
          <p:nvPr/>
        </p:nvSpPr>
        <p:spPr>
          <a:xfrm>
            <a:off x="7573107" y="5990493"/>
            <a:ext cx="3364524" cy="307777"/>
          </a:xfrm>
          <a:prstGeom prst="rect">
            <a:avLst/>
          </a:prstGeom>
          <a:noFill/>
        </p:spPr>
        <p:txBody>
          <a:bodyPr wrap="square">
            <a:spAutoFit/>
          </a:bodyPr>
          <a:lstStyle/>
          <a:p>
            <a:pPr algn="l"/>
            <a:r>
              <a:rPr lang="en-US" sz="1400" b="1" i="0" dirty="0">
                <a:effectLst/>
              </a:rPr>
              <a:t>https://vis-www.cs.umass.edu/lfw/</a:t>
            </a:r>
          </a:p>
        </p:txBody>
      </p:sp>
      <p:sp>
        <p:nvSpPr>
          <p:cNvPr id="10" name="TextBox 8">
            <a:extLst>
              <a:ext uri="{FF2B5EF4-FFF2-40B4-BE49-F238E27FC236}">
                <a16:creationId xmlns:a16="http://schemas.microsoft.com/office/drawing/2014/main" id="{7200C4D5-9537-30A1-AFDF-D27729599C6D}"/>
              </a:ext>
            </a:extLst>
          </p:cNvPr>
          <p:cNvSpPr txBox="1"/>
          <p:nvPr/>
        </p:nvSpPr>
        <p:spPr>
          <a:xfrm>
            <a:off x="5890845" y="3510606"/>
            <a:ext cx="3364524" cy="369332"/>
          </a:xfrm>
          <a:prstGeom prst="rect">
            <a:avLst/>
          </a:prstGeom>
          <a:noFill/>
        </p:spPr>
        <p:txBody>
          <a:bodyPr wrap="square">
            <a:spAutoFit/>
          </a:bodyPr>
          <a:lstStyle/>
          <a:p>
            <a:pPr algn="l"/>
            <a:r>
              <a:rPr lang="pl-PL" b="1" i="0" dirty="0">
                <a:effectLst/>
              </a:rPr>
              <a:t>Redukcja wymiarów</a:t>
            </a:r>
            <a:endParaRPr lang="en-US" b="1" i="0" dirty="0">
              <a:effectLst/>
            </a:endParaRPr>
          </a:p>
        </p:txBody>
      </p:sp>
      <p:sp>
        <p:nvSpPr>
          <p:cNvPr id="11" name="TextBox 9">
            <a:extLst>
              <a:ext uri="{FF2B5EF4-FFF2-40B4-BE49-F238E27FC236}">
                <a16:creationId xmlns:a16="http://schemas.microsoft.com/office/drawing/2014/main" id="{1FD27ADD-63FB-110D-6D44-89940B610F3A}"/>
              </a:ext>
            </a:extLst>
          </p:cNvPr>
          <p:cNvSpPr txBox="1"/>
          <p:nvPr/>
        </p:nvSpPr>
        <p:spPr>
          <a:xfrm>
            <a:off x="5199502" y="3867008"/>
            <a:ext cx="4283545" cy="523220"/>
          </a:xfrm>
          <a:prstGeom prst="rect">
            <a:avLst/>
          </a:prstGeom>
          <a:noFill/>
        </p:spPr>
        <p:txBody>
          <a:bodyPr wrap="square">
            <a:spAutoFit/>
          </a:bodyPr>
          <a:lstStyle/>
          <a:p>
            <a:pPr algn="ctr"/>
            <a:r>
              <a:rPr lang="pl-PL" sz="1400" dirty="0"/>
              <a:t>(użycie algorytmu PCA, redukcja 1024 wymiarów do 3 wymiarów)</a:t>
            </a:r>
            <a:endParaRPr lang="en-US" sz="1400" i="0" dirty="0">
              <a:effectLst/>
            </a:endParaRPr>
          </a:p>
        </p:txBody>
      </p:sp>
      <p:sp>
        <p:nvSpPr>
          <p:cNvPr id="12" name="Arrow: Down 10">
            <a:extLst>
              <a:ext uri="{FF2B5EF4-FFF2-40B4-BE49-F238E27FC236}">
                <a16:creationId xmlns:a16="http://schemas.microsoft.com/office/drawing/2014/main" id="{504F0157-6ED0-2395-5233-6D02A6AACE82}"/>
              </a:ext>
            </a:extLst>
          </p:cNvPr>
          <p:cNvSpPr/>
          <p:nvPr/>
        </p:nvSpPr>
        <p:spPr>
          <a:xfrm>
            <a:off x="4047091" y="3397823"/>
            <a:ext cx="484632" cy="1245183"/>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1">
            <a:extLst>
              <a:ext uri="{FF2B5EF4-FFF2-40B4-BE49-F238E27FC236}">
                <a16:creationId xmlns:a16="http://schemas.microsoft.com/office/drawing/2014/main" id="{DDB5787E-D9E7-BE9A-B370-AE050921CE26}"/>
              </a:ext>
            </a:extLst>
          </p:cNvPr>
          <p:cNvSpPr txBox="1"/>
          <p:nvPr/>
        </p:nvSpPr>
        <p:spPr>
          <a:xfrm>
            <a:off x="8918329" y="1226075"/>
            <a:ext cx="2527082" cy="400110"/>
          </a:xfrm>
          <a:prstGeom prst="rect">
            <a:avLst/>
          </a:prstGeom>
          <a:noFill/>
        </p:spPr>
        <p:txBody>
          <a:bodyPr wrap="square">
            <a:spAutoFit/>
          </a:bodyPr>
          <a:lstStyle/>
          <a:p>
            <a:pPr algn="l"/>
            <a:r>
              <a:rPr lang="pl-PL" sz="2000" b="1" i="0" dirty="0">
                <a:solidFill>
                  <a:srgbClr val="00B050"/>
                </a:solidFill>
                <a:effectLst/>
              </a:rPr>
              <a:t>Redukcja szumów</a:t>
            </a:r>
            <a:endParaRPr lang="en-US" sz="2000" b="1" i="0" dirty="0">
              <a:solidFill>
                <a:srgbClr val="00B050"/>
              </a:solidFill>
              <a:effectLst/>
            </a:endParaRPr>
          </a:p>
        </p:txBody>
      </p:sp>
      <p:pic>
        <p:nvPicPr>
          <p:cNvPr id="14" name="Picture 13">
            <a:extLst>
              <a:ext uri="{FF2B5EF4-FFF2-40B4-BE49-F238E27FC236}">
                <a16:creationId xmlns:a16="http://schemas.microsoft.com/office/drawing/2014/main" id="{05EA2281-62FB-A522-E72B-378549209F42}"/>
              </a:ext>
            </a:extLst>
          </p:cNvPr>
          <p:cNvPicPr>
            <a:picLocks noChangeAspect="1"/>
          </p:cNvPicPr>
          <p:nvPr/>
        </p:nvPicPr>
        <p:blipFill>
          <a:blip r:embed="rId5"/>
          <a:stretch>
            <a:fillRect/>
          </a:stretch>
        </p:blipFill>
        <p:spPr>
          <a:xfrm>
            <a:off x="9394269" y="1725453"/>
            <a:ext cx="1309179" cy="1265539"/>
          </a:xfrm>
          <a:prstGeom prst="rect">
            <a:avLst/>
          </a:prstGeom>
        </p:spPr>
      </p:pic>
    </p:spTree>
    <p:extLst>
      <p:ext uri="{BB962C8B-B14F-4D97-AF65-F5344CB8AC3E}">
        <p14:creationId xmlns:p14="http://schemas.microsoft.com/office/powerpoint/2010/main" val="2970629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B15EDD1-3BB9-2538-30AE-E0672BEB46A4}"/>
              </a:ext>
            </a:extLst>
          </p:cNvPr>
          <p:cNvSpPr txBox="1">
            <a:spLocks/>
          </p:cNvSpPr>
          <p:nvPr/>
        </p:nvSpPr>
        <p:spPr>
          <a:xfrm>
            <a:off x="838200" y="256244"/>
            <a:ext cx="10515600" cy="736215"/>
          </a:xfrm>
          <a:prstGeom prst="rect">
            <a:avLst/>
          </a:prstGeom>
          <a:noFill/>
        </p:spPr>
        <p:txBody>
          <a:bodyPr vert="horz" wrap="square" lIns="0" tIns="0" rIns="0" bIns="91440" rtlCol="0" anchor="b">
            <a:norm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3600" b="1" dirty="0">
                <a:latin typeface="+mn-lt"/>
              </a:rPr>
              <a:t>Klasyfikacja</a:t>
            </a:r>
          </a:p>
        </p:txBody>
      </p:sp>
      <p:pic>
        <p:nvPicPr>
          <p:cNvPr id="7" name="Picture 4">
            <a:extLst>
              <a:ext uri="{FF2B5EF4-FFF2-40B4-BE49-F238E27FC236}">
                <a16:creationId xmlns:a16="http://schemas.microsoft.com/office/drawing/2014/main" id="{64B0F3A6-24DD-DB52-55F6-9ED66123B896}"/>
              </a:ext>
            </a:extLst>
          </p:cNvPr>
          <p:cNvPicPr>
            <a:picLocks noChangeAspect="1"/>
          </p:cNvPicPr>
          <p:nvPr/>
        </p:nvPicPr>
        <p:blipFill>
          <a:blip r:embed="rId3"/>
          <a:stretch>
            <a:fillRect/>
          </a:stretch>
        </p:blipFill>
        <p:spPr>
          <a:xfrm>
            <a:off x="705887" y="1322611"/>
            <a:ext cx="4186686" cy="3275466"/>
          </a:xfrm>
          <a:prstGeom prst="rect">
            <a:avLst/>
          </a:prstGeom>
        </p:spPr>
      </p:pic>
      <p:sp>
        <p:nvSpPr>
          <p:cNvPr id="8" name="TextBox 6">
            <a:extLst>
              <a:ext uri="{FF2B5EF4-FFF2-40B4-BE49-F238E27FC236}">
                <a16:creationId xmlns:a16="http://schemas.microsoft.com/office/drawing/2014/main" id="{49B94B62-37B9-0990-441A-2D64136925F7}"/>
              </a:ext>
            </a:extLst>
          </p:cNvPr>
          <p:cNvSpPr txBox="1"/>
          <p:nvPr/>
        </p:nvSpPr>
        <p:spPr>
          <a:xfrm>
            <a:off x="2221498" y="4743563"/>
            <a:ext cx="1861472" cy="369332"/>
          </a:xfrm>
          <a:prstGeom prst="rect">
            <a:avLst/>
          </a:prstGeom>
          <a:noFill/>
        </p:spPr>
        <p:txBody>
          <a:bodyPr wrap="none" rtlCol="0">
            <a:spAutoFit/>
          </a:bodyPr>
          <a:lstStyle/>
          <a:p>
            <a:r>
              <a:rPr lang="pl-PL" dirty="0"/>
              <a:t>Dane treningowe</a:t>
            </a:r>
            <a:endParaRPr lang="en-US" dirty="0"/>
          </a:p>
        </p:txBody>
      </p:sp>
      <p:pic>
        <p:nvPicPr>
          <p:cNvPr id="9" name="Picture 14">
            <a:extLst>
              <a:ext uri="{FF2B5EF4-FFF2-40B4-BE49-F238E27FC236}">
                <a16:creationId xmlns:a16="http://schemas.microsoft.com/office/drawing/2014/main" id="{E7EEEFE3-A0EE-5626-32D7-F27337884D9C}"/>
              </a:ext>
            </a:extLst>
          </p:cNvPr>
          <p:cNvPicPr>
            <a:picLocks noChangeAspect="1"/>
          </p:cNvPicPr>
          <p:nvPr/>
        </p:nvPicPr>
        <p:blipFill>
          <a:blip r:embed="rId4"/>
          <a:stretch>
            <a:fillRect/>
          </a:stretch>
        </p:blipFill>
        <p:spPr>
          <a:xfrm>
            <a:off x="7299427" y="1322611"/>
            <a:ext cx="4332316" cy="3173552"/>
          </a:xfrm>
          <a:prstGeom prst="rect">
            <a:avLst/>
          </a:prstGeom>
        </p:spPr>
      </p:pic>
      <p:sp>
        <p:nvSpPr>
          <p:cNvPr id="10" name="TextBox 15">
            <a:extLst>
              <a:ext uri="{FF2B5EF4-FFF2-40B4-BE49-F238E27FC236}">
                <a16:creationId xmlns:a16="http://schemas.microsoft.com/office/drawing/2014/main" id="{B0C33961-DE60-6614-FBF0-24BD7138CF70}"/>
              </a:ext>
            </a:extLst>
          </p:cNvPr>
          <p:cNvSpPr txBox="1"/>
          <p:nvPr/>
        </p:nvSpPr>
        <p:spPr>
          <a:xfrm>
            <a:off x="8934930" y="4743563"/>
            <a:ext cx="1307089" cy="369332"/>
          </a:xfrm>
          <a:prstGeom prst="rect">
            <a:avLst/>
          </a:prstGeom>
          <a:noFill/>
        </p:spPr>
        <p:txBody>
          <a:bodyPr wrap="none" rtlCol="0">
            <a:spAutoFit/>
          </a:bodyPr>
          <a:lstStyle/>
          <a:p>
            <a:r>
              <a:rPr lang="pl-PL" dirty="0"/>
              <a:t>Nowe dane</a:t>
            </a:r>
            <a:endParaRPr lang="en-US" dirty="0"/>
          </a:p>
        </p:txBody>
      </p:sp>
      <p:sp>
        <p:nvSpPr>
          <p:cNvPr id="11" name="Arrow: Down 16">
            <a:extLst>
              <a:ext uri="{FF2B5EF4-FFF2-40B4-BE49-F238E27FC236}">
                <a16:creationId xmlns:a16="http://schemas.microsoft.com/office/drawing/2014/main" id="{2FEF83A4-A502-5DB2-DA87-8059D51A4530}"/>
              </a:ext>
            </a:extLst>
          </p:cNvPr>
          <p:cNvSpPr/>
          <p:nvPr/>
        </p:nvSpPr>
        <p:spPr>
          <a:xfrm rot="16200000">
            <a:off x="5853690" y="1990877"/>
            <a:ext cx="484632" cy="1837019"/>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7">
            <a:extLst>
              <a:ext uri="{FF2B5EF4-FFF2-40B4-BE49-F238E27FC236}">
                <a16:creationId xmlns:a16="http://schemas.microsoft.com/office/drawing/2014/main" id="{0B6395D2-0D06-6ED4-081E-4F92E49F6459}"/>
              </a:ext>
            </a:extLst>
          </p:cNvPr>
          <p:cNvSpPr txBox="1"/>
          <p:nvPr/>
        </p:nvSpPr>
        <p:spPr>
          <a:xfrm>
            <a:off x="5319956" y="3151703"/>
            <a:ext cx="1837016" cy="369332"/>
          </a:xfrm>
          <a:prstGeom prst="rect">
            <a:avLst/>
          </a:prstGeom>
          <a:noFill/>
        </p:spPr>
        <p:txBody>
          <a:bodyPr wrap="square">
            <a:spAutoFit/>
          </a:bodyPr>
          <a:lstStyle/>
          <a:p>
            <a:pPr algn="l"/>
            <a:r>
              <a:rPr lang="pl-PL" b="1" i="0" dirty="0">
                <a:effectLst/>
              </a:rPr>
              <a:t>klasyfikacja</a:t>
            </a:r>
            <a:endParaRPr lang="en-US" b="1" i="0" dirty="0">
              <a:effectLst/>
            </a:endParaRPr>
          </a:p>
        </p:txBody>
      </p:sp>
    </p:spTree>
    <p:extLst>
      <p:ext uri="{BB962C8B-B14F-4D97-AF65-F5344CB8AC3E}">
        <p14:creationId xmlns:p14="http://schemas.microsoft.com/office/powerpoint/2010/main" val="1742257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rrow: Down 16">
            <a:extLst>
              <a:ext uri="{FF2B5EF4-FFF2-40B4-BE49-F238E27FC236}">
                <a16:creationId xmlns:a16="http://schemas.microsoft.com/office/drawing/2014/main" id="{3B6257E3-2F50-87A5-EC41-BDA939AFBE1C}"/>
              </a:ext>
            </a:extLst>
          </p:cNvPr>
          <p:cNvSpPr/>
          <p:nvPr/>
        </p:nvSpPr>
        <p:spPr>
          <a:xfrm rot="16200000">
            <a:off x="6000199" y="1649764"/>
            <a:ext cx="484632" cy="2502294"/>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7">
            <a:extLst>
              <a:ext uri="{FF2B5EF4-FFF2-40B4-BE49-F238E27FC236}">
                <a16:creationId xmlns:a16="http://schemas.microsoft.com/office/drawing/2014/main" id="{3EEDACFB-24EA-C981-E69C-49A56562F300}"/>
              </a:ext>
            </a:extLst>
          </p:cNvPr>
          <p:cNvSpPr txBox="1"/>
          <p:nvPr/>
        </p:nvSpPr>
        <p:spPr>
          <a:xfrm>
            <a:off x="5324007" y="3143227"/>
            <a:ext cx="1837016" cy="369332"/>
          </a:xfrm>
          <a:prstGeom prst="rect">
            <a:avLst/>
          </a:prstGeom>
          <a:noFill/>
        </p:spPr>
        <p:txBody>
          <a:bodyPr wrap="square">
            <a:spAutoFit/>
          </a:bodyPr>
          <a:lstStyle/>
          <a:p>
            <a:pPr algn="l"/>
            <a:r>
              <a:rPr lang="pl-PL" b="1" i="0" dirty="0">
                <a:effectLst/>
              </a:rPr>
              <a:t>Klastrowanie </a:t>
            </a:r>
            <a:endParaRPr lang="en-US" b="1" i="0" dirty="0">
              <a:effectLst/>
            </a:endParaRPr>
          </a:p>
        </p:txBody>
      </p:sp>
      <p:pic>
        <p:nvPicPr>
          <p:cNvPr id="11" name="Picture 7">
            <a:extLst>
              <a:ext uri="{FF2B5EF4-FFF2-40B4-BE49-F238E27FC236}">
                <a16:creationId xmlns:a16="http://schemas.microsoft.com/office/drawing/2014/main" id="{92C593D2-3210-774C-FCFE-F659F20B2F18}"/>
              </a:ext>
            </a:extLst>
          </p:cNvPr>
          <p:cNvPicPr>
            <a:picLocks noChangeAspect="1"/>
          </p:cNvPicPr>
          <p:nvPr/>
        </p:nvPicPr>
        <p:blipFill>
          <a:blip r:embed="rId3"/>
          <a:stretch>
            <a:fillRect/>
          </a:stretch>
        </p:blipFill>
        <p:spPr>
          <a:xfrm>
            <a:off x="7673246" y="1745145"/>
            <a:ext cx="3627511" cy="2425759"/>
          </a:xfrm>
          <a:prstGeom prst="rect">
            <a:avLst/>
          </a:prstGeom>
        </p:spPr>
      </p:pic>
      <p:sp>
        <p:nvSpPr>
          <p:cNvPr id="13" name="TextBox 8">
            <a:extLst>
              <a:ext uri="{FF2B5EF4-FFF2-40B4-BE49-F238E27FC236}">
                <a16:creationId xmlns:a16="http://schemas.microsoft.com/office/drawing/2014/main" id="{7DE26149-4E36-94B3-CF21-B3EDAC442384}"/>
              </a:ext>
            </a:extLst>
          </p:cNvPr>
          <p:cNvSpPr txBox="1"/>
          <p:nvPr/>
        </p:nvSpPr>
        <p:spPr>
          <a:xfrm>
            <a:off x="1644409" y="4170904"/>
            <a:ext cx="2218556" cy="369332"/>
          </a:xfrm>
          <a:prstGeom prst="rect">
            <a:avLst/>
          </a:prstGeom>
          <a:noFill/>
        </p:spPr>
        <p:txBody>
          <a:bodyPr wrap="none" rtlCol="0">
            <a:spAutoFit/>
          </a:bodyPr>
          <a:lstStyle/>
          <a:p>
            <a:r>
              <a:rPr lang="pl-PL" dirty="0"/>
              <a:t>16 milionów kolorów</a:t>
            </a:r>
            <a:endParaRPr lang="en-US" dirty="0"/>
          </a:p>
        </p:txBody>
      </p:sp>
      <p:sp>
        <p:nvSpPr>
          <p:cNvPr id="15" name="TextBox 9">
            <a:extLst>
              <a:ext uri="{FF2B5EF4-FFF2-40B4-BE49-F238E27FC236}">
                <a16:creationId xmlns:a16="http://schemas.microsoft.com/office/drawing/2014/main" id="{44FBFAA5-6989-368C-73BB-9544E15EEB75}"/>
              </a:ext>
            </a:extLst>
          </p:cNvPr>
          <p:cNvSpPr txBox="1"/>
          <p:nvPr/>
        </p:nvSpPr>
        <p:spPr>
          <a:xfrm>
            <a:off x="8891541" y="4170904"/>
            <a:ext cx="1262205" cy="369332"/>
          </a:xfrm>
          <a:prstGeom prst="rect">
            <a:avLst/>
          </a:prstGeom>
          <a:noFill/>
        </p:spPr>
        <p:txBody>
          <a:bodyPr wrap="none" rtlCol="0">
            <a:spAutoFit/>
          </a:bodyPr>
          <a:lstStyle/>
          <a:p>
            <a:r>
              <a:rPr lang="pl-PL" dirty="0"/>
              <a:t>16 kolorów</a:t>
            </a:r>
            <a:endParaRPr lang="en-US" dirty="0"/>
          </a:p>
        </p:txBody>
      </p:sp>
      <p:sp>
        <p:nvSpPr>
          <p:cNvPr id="17" name="TextBox 10">
            <a:extLst>
              <a:ext uri="{FF2B5EF4-FFF2-40B4-BE49-F238E27FC236}">
                <a16:creationId xmlns:a16="http://schemas.microsoft.com/office/drawing/2014/main" id="{36D9CD53-AF65-4A46-861C-D28F1729F02E}"/>
              </a:ext>
            </a:extLst>
          </p:cNvPr>
          <p:cNvSpPr txBox="1"/>
          <p:nvPr/>
        </p:nvSpPr>
        <p:spPr>
          <a:xfrm>
            <a:off x="3300459" y="5161027"/>
            <a:ext cx="5591082" cy="646331"/>
          </a:xfrm>
          <a:prstGeom prst="rect">
            <a:avLst/>
          </a:prstGeom>
          <a:noFill/>
        </p:spPr>
        <p:txBody>
          <a:bodyPr wrap="none" rtlCol="0">
            <a:spAutoFit/>
          </a:bodyPr>
          <a:lstStyle/>
          <a:p>
            <a:pPr algn="ctr"/>
            <a:r>
              <a:rPr lang="pl-PL" dirty="0"/>
              <a:t>Współczynnik kompresji: 1mln !!!</a:t>
            </a:r>
            <a:br>
              <a:rPr lang="pl-PL" dirty="0"/>
            </a:br>
            <a:r>
              <a:rPr lang="pl-PL" dirty="0"/>
              <a:t>(obraz wynikowy jest 1mln razy mniejszy niż wejściowy)</a:t>
            </a:r>
            <a:endParaRPr lang="en-US" dirty="0"/>
          </a:p>
        </p:txBody>
      </p:sp>
      <p:pic>
        <p:nvPicPr>
          <p:cNvPr id="19" name="Picture 2">
            <a:extLst>
              <a:ext uri="{FF2B5EF4-FFF2-40B4-BE49-F238E27FC236}">
                <a16:creationId xmlns:a16="http://schemas.microsoft.com/office/drawing/2014/main" id="{56CA5B31-6E9F-16B0-2203-BC38456789FC}"/>
              </a:ext>
            </a:extLst>
          </p:cNvPr>
          <p:cNvPicPr>
            <a:picLocks noChangeAspect="1"/>
          </p:cNvPicPr>
          <p:nvPr/>
        </p:nvPicPr>
        <p:blipFill>
          <a:blip r:embed="rId4"/>
          <a:stretch>
            <a:fillRect/>
          </a:stretch>
        </p:blipFill>
        <p:spPr>
          <a:xfrm>
            <a:off x="1050648" y="1696506"/>
            <a:ext cx="3647692" cy="2425759"/>
          </a:xfrm>
          <a:prstGeom prst="rect">
            <a:avLst/>
          </a:prstGeom>
        </p:spPr>
      </p:pic>
      <p:sp>
        <p:nvSpPr>
          <p:cNvPr id="21" name="Title 1">
            <a:extLst>
              <a:ext uri="{FF2B5EF4-FFF2-40B4-BE49-F238E27FC236}">
                <a16:creationId xmlns:a16="http://schemas.microsoft.com/office/drawing/2014/main" id="{2C9FA93C-4482-D1B1-1B61-C370B602A2F6}"/>
              </a:ext>
            </a:extLst>
          </p:cNvPr>
          <p:cNvSpPr txBox="1">
            <a:spLocks/>
          </p:cNvSpPr>
          <p:nvPr/>
        </p:nvSpPr>
        <p:spPr>
          <a:xfrm>
            <a:off x="785157" y="338275"/>
            <a:ext cx="10515600" cy="736215"/>
          </a:xfrm>
          <a:prstGeom prst="rect">
            <a:avLst/>
          </a:prstGeom>
          <a:noFill/>
        </p:spPr>
        <p:txBody>
          <a:bodyPr vert="horz" wrap="square" lIns="0" tIns="0" rIns="0" bIns="91440" rtlCol="0" anchor="b">
            <a:norm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3600" b="1" dirty="0">
                <a:latin typeface="+mn-lt"/>
              </a:rPr>
              <a:t>Klastrowanie</a:t>
            </a:r>
          </a:p>
        </p:txBody>
      </p:sp>
    </p:spTree>
    <p:extLst>
      <p:ext uri="{BB962C8B-B14F-4D97-AF65-F5344CB8AC3E}">
        <p14:creationId xmlns:p14="http://schemas.microsoft.com/office/powerpoint/2010/main" val="3509069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5698-3464-167E-C0FF-409C110D0ABE}"/>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ECD15BFF-942A-8645-C539-8DBC8E225299}"/>
              </a:ext>
            </a:extLst>
          </p:cNvPr>
          <p:cNvSpPr>
            <a:spLocks noGrp="1"/>
          </p:cNvSpPr>
          <p:nvPr>
            <p:ph type="ctrTitle"/>
          </p:nvPr>
        </p:nvSpPr>
        <p:spPr>
          <a:xfrm>
            <a:off x="997140" y="1119979"/>
            <a:ext cx="10158984" cy="813816"/>
          </a:xfrm>
        </p:spPr>
        <p:txBody>
          <a:bodyPr/>
          <a:lstStyle/>
          <a:p>
            <a:pPr algn="ctr"/>
            <a:r>
              <a:rPr lang="pl-PL" sz="3600" dirty="0"/>
              <a:t>Sieć neuronowa</a:t>
            </a:r>
            <a:endParaRPr lang="en-US" sz="3600" dirty="0"/>
          </a:p>
        </p:txBody>
      </p:sp>
      <p:sp>
        <p:nvSpPr>
          <p:cNvPr id="13" name="Title 1">
            <a:extLst>
              <a:ext uri="{FF2B5EF4-FFF2-40B4-BE49-F238E27FC236}">
                <a16:creationId xmlns:a16="http://schemas.microsoft.com/office/drawing/2014/main" id="{8EBB1078-7285-7714-9C1E-0D414A8167C6}"/>
              </a:ext>
            </a:extLst>
          </p:cNvPr>
          <p:cNvSpPr txBox="1">
            <a:spLocks/>
          </p:cNvSpPr>
          <p:nvPr/>
        </p:nvSpPr>
        <p:spPr>
          <a:xfrm>
            <a:off x="-1824119" y="462353"/>
            <a:ext cx="10158984" cy="813816"/>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2400" dirty="0">
                <a:solidFill>
                  <a:srgbClr val="00B050"/>
                </a:solidFill>
              </a:rPr>
              <a:t>Cyfrowy Mózg</a:t>
            </a:r>
          </a:p>
        </p:txBody>
      </p:sp>
      <p:sp>
        <p:nvSpPr>
          <p:cNvPr id="15" name="pole tekstowe 14">
            <a:extLst>
              <a:ext uri="{FF2B5EF4-FFF2-40B4-BE49-F238E27FC236}">
                <a16:creationId xmlns:a16="http://schemas.microsoft.com/office/drawing/2014/main" id="{3CB5D0D0-0B39-59F9-2196-38E65CCBBA52}"/>
              </a:ext>
            </a:extLst>
          </p:cNvPr>
          <p:cNvSpPr txBox="1"/>
          <p:nvPr/>
        </p:nvSpPr>
        <p:spPr>
          <a:xfrm>
            <a:off x="1075359" y="2827044"/>
            <a:ext cx="10325862" cy="707886"/>
          </a:xfrm>
          <a:prstGeom prst="rect">
            <a:avLst/>
          </a:prstGeom>
          <a:noFill/>
        </p:spPr>
        <p:txBody>
          <a:bodyPr wrap="square">
            <a:spAutoFit/>
          </a:bodyPr>
          <a:lstStyle/>
          <a:p>
            <a:r>
              <a:rPr lang="pl-PL" sz="2000" dirty="0"/>
              <a:t>Model, który uczy się na własnych błędach – i stoi za ChatGPT, filtrami na </a:t>
            </a:r>
            <a:r>
              <a:rPr lang="pl-PL" sz="2000" dirty="0" err="1"/>
              <a:t>Instragramie</a:t>
            </a:r>
            <a:r>
              <a:rPr lang="pl-PL" sz="2000" dirty="0"/>
              <a:t> i rekomendacjami na </a:t>
            </a:r>
            <a:r>
              <a:rPr lang="pl-PL" sz="2000" dirty="0" err="1"/>
              <a:t>Netflixie</a:t>
            </a:r>
            <a:endParaRPr lang="pl-PL" sz="2000" dirty="0"/>
          </a:p>
        </p:txBody>
      </p:sp>
    </p:spTree>
    <p:extLst>
      <p:ext uri="{BB962C8B-B14F-4D97-AF65-F5344CB8AC3E}">
        <p14:creationId xmlns:p14="http://schemas.microsoft.com/office/powerpoint/2010/main" val="2827270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AFA5C-E414-1ADE-3F82-7543E2CAD3AB}"/>
            </a:ext>
          </a:extLst>
        </p:cNvPr>
        <p:cNvGrpSpPr/>
        <p:nvPr/>
      </p:nvGrpSpPr>
      <p:grpSpPr>
        <a:xfrm>
          <a:off x="0" y="0"/>
          <a:ext cx="0" cy="0"/>
          <a:chOff x="0" y="0"/>
          <a:chExt cx="0" cy="0"/>
        </a:xfrm>
      </p:grpSpPr>
      <p:pic>
        <p:nvPicPr>
          <p:cNvPr id="5" name="Obraz 4">
            <a:extLst>
              <a:ext uri="{FF2B5EF4-FFF2-40B4-BE49-F238E27FC236}">
                <a16:creationId xmlns:a16="http://schemas.microsoft.com/office/drawing/2014/main" id="{F17676B4-4BFB-FA25-B874-DCF7A6A24B21}"/>
              </a:ext>
            </a:extLst>
          </p:cNvPr>
          <p:cNvPicPr>
            <a:picLocks noChangeAspect="1"/>
          </p:cNvPicPr>
          <p:nvPr/>
        </p:nvPicPr>
        <p:blipFill>
          <a:blip r:embed="rId3"/>
          <a:stretch>
            <a:fillRect/>
          </a:stretch>
        </p:blipFill>
        <p:spPr>
          <a:xfrm>
            <a:off x="2246829" y="1191659"/>
            <a:ext cx="7698341" cy="5029485"/>
          </a:xfrm>
          <a:prstGeom prst="rect">
            <a:avLst/>
          </a:prstGeom>
        </p:spPr>
      </p:pic>
      <p:sp>
        <p:nvSpPr>
          <p:cNvPr id="6" name="Title 1">
            <a:extLst>
              <a:ext uri="{FF2B5EF4-FFF2-40B4-BE49-F238E27FC236}">
                <a16:creationId xmlns:a16="http://schemas.microsoft.com/office/drawing/2014/main" id="{084D67FA-FF1E-9D79-97A1-8BA78F065097}"/>
              </a:ext>
            </a:extLst>
          </p:cNvPr>
          <p:cNvSpPr>
            <a:spLocks noGrp="1"/>
          </p:cNvSpPr>
          <p:nvPr>
            <p:ph type="ctrTitle"/>
          </p:nvPr>
        </p:nvSpPr>
        <p:spPr>
          <a:xfrm>
            <a:off x="1098701" y="229948"/>
            <a:ext cx="10158984" cy="813816"/>
          </a:xfrm>
        </p:spPr>
        <p:txBody>
          <a:bodyPr/>
          <a:lstStyle/>
          <a:p>
            <a:pPr algn="ctr"/>
            <a:r>
              <a:rPr lang="pl-PL" sz="3600" dirty="0"/>
              <a:t>Sieć neuronowa – przykład (I)</a:t>
            </a:r>
            <a:endParaRPr lang="en-US" sz="3600" dirty="0"/>
          </a:p>
        </p:txBody>
      </p:sp>
    </p:spTree>
    <p:extLst>
      <p:ext uri="{BB962C8B-B14F-4D97-AF65-F5344CB8AC3E}">
        <p14:creationId xmlns:p14="http://schemas.microsoft.com/office/powerpoint/2010/main" val="3089991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982FBD1-0353-5F52-DDE8-AFE487651163}"/>
              </a:ext>
            </a:extLst>
          </p:cNvPr>
          <p:cNvSpPr>
            <a:spLocks noGrp="1"/>
          </p:cNvSpPr>
          <p:nvPr>
            <p:ph type="ctrTitle"/>
          </p:nvPr>
        </p:nvSpPr>
        <p:spPr>
          <a:xfrm>
            <a:off x="1016508" y="453779"/>
            <a:ext cx="10158984" cy="813816"/>
          </a:xfrm>
        </p:spPr>
        <p:txBody>
          <a:bodyPr/>
          <a:lstStyle/>
          <a:p>
            <a:pPr algn="ctr"/>
            <a:r>
              <a:rPr lang="pl-PL" sz="3600" dirty="0"/>
              <a:t>Sieć neuronowa – przykład (II)</a:t>
            </a:r>
            <a:endParaRPr lang="en-US" sz="3600" dirty="0"/>
          </a:p>
        </p:txBody>
      </p:sp>
      <p:sp>
        <p:nvSpPr>
          <p:cNvPr id="7" name="Title 1">
            <a:extLst>
              <a:ext uri="{FF2B5EF4-FFF2-40B4-BE49-F238E27FC236}">
                <a16:creationId xmlns:a16="http://schemas.microsoft.com/office/drawing/2014/main" id="{BBA93D5C-9B06-0243-6316-88A4B1FB0727}"/>
              </a:ext>
            </a:extLst>
          </p:cNvPr>
          <p:cNvSpPr txBox="1">
            <a:spLocks/>
          </p:cNvSpPr>
          <p:nvPr/>
        </p:nvSpPr>
        <p:spPr>
          <a:xfrm>
            <a:off x="1426247" y="1507525"/>
            <a:ext cx="10938235" cy="1921475"/>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r>
              <a:rPr lang="pl-PL" sz="2400" dirty="0"/>
              <a:t>Wyobraźmy sobie rząd uczniów.</a:t>
            </a:r>
            <a:br>
              <a:rPr lang="pl-PL" sz="2400" dirty="0"/>
            </a:br>
            <a:r>
              <a:rPr lang="pl-PL" sz="2400" dirty="0"/>
              <a:t>Zadaniem jest podanie odpowiedzi na pytanie co jest na pokazanym zdjęciu. </a:t>
            </a:r>
          </a:p>
          <a:p>
            <a:r>
              <a:rPr lang="pl-PL" sz="2400" dirty="0"/>
              <a:t>Odpowiedź podaje ostatni uczeń w ostatnim rzędzie.</a:t>
            </a:r>
          </a:p>
          <a:p>
            <a:endParaRPr lang="pl-PL" sz="2400" dirty="0"/>
          </a:p>
        </p:txBody>
      </p:sp>
      <p:sp>
        <p:nvSpPr>
          <p:cNvPr id="8" name="Prostokąt 7">
            <a:extLst>
              <a:ext uri="{FF2B5EF4-FFF2-40B4-BE49-F238E27FC236}">
                <a16:creationId xmlns:a16="http://schemas.microsoft.com/office/drawing/2014/main" id="{DE575C4F-0EC6-B915-7F5D-BFB1D9ADBD10}"/>
              </a:ext>
            </a:extLst>
          </p:cNvPr>
          <p:cNvSpPr/>
          <p:nvPr/>
        </p:nvSpPr>
        <p:spPr>
          <a:xfrm>
            <a:off x="669303" y="4344069"/>
            <a:ext cx="2809187" cy="1640264"/>
          </a:xfrm>
          <a:prstGeom prst="rect">
            <a:avLst/>
          </a:pr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135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ole tekstowe 8">
            <a:extLst>
              <a:ext uri="{FF2B5EF4-FFF2-40B4-BE49-F238E27FC236}">
                <a16:creationId xmlns:a16="http://schemas.microsoft.com/office/drawing/2014/main" id="{3DB8FCBF-C453-C1D4-1DDF-11CB016627CE}"/>
              </a:ext>
            </a:extLst>
          </p:cNvPr>
          <p:cNvSpPr txBox="1"/>
          <p:nvPr/>
        </p:nvSpPr>
        <p:spPr>
          <a:xfrm>
            <a:off x="931667" y="3919863"/>
            <a:ext cx="2243178" cy="369332"/>
          </a:xfrm>
          <a:prstGeom prst="rect">
            <a:avLst/>
          </a:prstGeom>
          <a:noFill/>
        </p:spPr>
        <p:txBody>
          <a:bodyPr wrap="none" rtlCol="0">
            <a:spAutoFit/>
          </a:bodyPr>
          <a:lstStyle/>
          <a:p>
            <a:r>
              <a:rPr lang="pl-PL" b="1" dirty="0"/>
              <a:t>1. Podaj informację </a:t>
            </a:r>
            <a:endParaRPr lang="en-US" b="1" dirty="0"/>
          </a:p>
        </p:txBody>
      </p:sp>
      <p:sp>
        <p:nvSpPr>
          <p:cNvPr id="10" name="pole tekstowe 9">
            <a:extLst>
              <a:ext uri="{FF2B5EF4-FFF2-40B4-BE49-F238E27FC236}">
                <a16:creationId xmlns:a16="http://schemas.microsoft.com/office/drawing/2014/main" id="{CF265ED0-A340-DB9D-80A6-446054BD8944}"/>
              </a:ext>
            </a:extLst>
          </p:cNvPr>
          <p:cNvSpPr txBox="1"/>
          <p:nvPr/>
        </p:nvSpPr>
        <p:spPr>
          <a:xfrm>
            <a:off x="768261" y="4636298"/>
            <a:ext cx="2630079" cy="954107"/>
          </a:xfrm>
          <a:prstGeom prst="rect">
            <a:avLst/>
          </a:prstGeom>
          <a:noFill/>
        </p:spPr>
        <p:txBody>
          <a:bodyPr wrap="square" rtlCol="0">
            <a:spAutoFit/>
          </a:bodyPr>
          <a:lstStyle/>
          <a:p>
            <a:r>
              <a:rPr lang="pl-PL" sz="1400" dirty="0"/>
              <a:t>Każdy uczeń przekazuje swoją opinię koledze z tyłu, pomnożoną przez to, jak bardzo mu ufa (nazwijmy je wagami).</a:t>
            </a:r>
            <a:endParaRPr lang="en-US" sz="1400" dirty="0"/>
          </a:p>
        </p:txBody>
      </p:sp>
      <p:sp>
        <p:nvSpPr>
          <p:cNvPr id="12" name="Prostokąt 11">
            <a:extLst>
              <a:ext uri="{FF2B5EF4-FFF2-40B4-BE49-F238E27FC236}">
                <a16:creationId xmlns:a16="http://schemas.microsoft.com/office/drawing/2014/main" id="{B4FFE838-A517-89AD-D49B-289D94F71B93}"/>
              </a:ext>
            </a:extLst>
          </p:cNvPr>
          <p:cNvSpPr/>
          <p:nvPr/>
        </p:nvSpPr>
        <p:spPr>
          <a:xfrm>
            <a:off x="4477729" y="4344069"/>
            <a:ext cx="2809187" cy="164026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ole tekstowe 13">
            <a:extLst>
              <a:ext uri="{FF2B5EF4-FFF2-40B4-BE49-F238E27FC236}">
                <a16:creationId xmlns:a16="http://schemas.microsoft.com/office/drawing/2014/main" id="{A03636FF-7693-1812-651D-85EFC5F83E49}"/>
              </a:ext>
            </a:extLst>
          </p:cNvPr>
          <p:cNvSpPr txBox="1"/>
          <p:nvPr/>
        </p:nvSpPr>
        <p:spPr>
          <a:xfrm>
            <a:off x="4598767" y="3919863"/>
            <a:ext cx="2708627" cy="369332"/>
          </a:xfrm>
          <a:prstGeom prst="rect">
            <a:avLst/>
          </a:prstGeom>
          <a:noFill/>
        </p:spPr>
        <p:txBody>
          <a:bodyPr wrap="none" rtlCol="0">
            <a:spAutoFit/>
          </a:bodyPr>
          <a:lstStyle/>
          <a:p>
            <a:r>
              <a:rPr lang="pl-PL" b="1" dirty="0"/>
              <a:t>2. Ostatni krzyczy wynik </a:t>
            </a:r>
            <a:endParaRPr lang="en-US" b="1" dirty="0"/>
          </a:p>
        </p:txBody>
      </p:sp>
      <p:sp>
        <p:nvSpPr>
          <p:cNvPr id="16" name="pole tekstowe 15">
            <a:extLst>
              <a:ext uri="{FF2B5EF4-FFF2-40B4-BE49-F238E27FC236}">
                <a16:creationId xmlns:a16="http://schemas.microsoft.com/office/drawing/2014/main" id="{16762B41-51E0-367C-81BD-CB57DE7BD4E9}"/>
              </a:ext>
            </a:extLst>
          </p:cNvPr>
          <p:cNvSpPr txBox="1"/>
          <p:nvPr/>
        </p:nvSpPr>
        <p:spPr>
          <a:xfrm>
            <a:off x="4617213" y="4744020"/>
            <a:ext cx="2630079" cy="738664"/>
          </a:xfrm>
          <a:prstGeom prst="rect">
            <a:avLst/>
          </a:prstGeom>
          <a:noFill/>
        </p:spPr>
        <p:txBody>
          <a:bodyPr wrap="square" rtlCol="0">
            <a:spAutoFit/>
          </a:bodyPr>
          <a:lstStyle/>
          <a:p>
            <a:r>
              <a:rPr lang="pl-PL" sz="1400" dirty="0"/>
              <a:t>To jest pies! Albo „cena akcji spółki A jutro: 105 zł” – to jedna odpowiedź sieci</a:t>
            </a:r>
            <a:endParaRPr lang="en-US" sz="1400" dirty="0"/>
          </a:p>
        </p:txBody>
      </p:sp>
      <p:sp>
        <p:nvSpPr>
          <p:cNvPr id="18" name="Prostokąt 17">
            <a:extLst>
              <a:ext uri="{FF2B5EF4-FFF2-40B4-BE49-F238E27FC236}">
                <a16:creationId xmlns:a16="http://schemas.microsoft.com/office/drawing/2014/main" id="{F81464E0-2312-AE0A-6A48-BE4133DCF597}"/>
              </a:ext>
            </a:extLst>
          </p:cNvPr>
          <p:cNvSpPr/>
          <p:nvPr/>
        </p:nvSpPr>
        <p:spPr>
          <a:xfrm>
            <a:off x="8366305" y="4344069"/>
            <a:ext cx="2809187" cy="164026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ole tekstowe 19">
            <a:extLst>
              <a:ext uri="{FF2B5EF4-FFF2-40B4-BE49-F238E27FC236}">
                <a16:creationId xmlns:a16="http://schemas.microsoft.com/office/drawing/2014/main" id="{88F528F2-FC16-66DE-A6FA-02A0B6022487}"/>
              </a:ext>
            </a:extLst>
          </p:cNvPr>
          <p:cNvSpPr txBox="1"/>
          <p:nvPr/>
        </p:nvSpPr>
        <p:spPr>
          <a:xfrm>
            <a:off x="8483889" y="4851742"/>
            <a:ext cx="2953967" cy="523220"/>
          </a:xfrm>
          <a:prstGeom prst="rect">
            <a:avLst/>
          </a:prstGeom>
          <a:noFill/>
        </p:spPr>
        <p:txBody>
          <a:bodyPr wrap="square" rtlCol="0">
            <a:spAutoFit/>
          </a:bodyPr>
          <a:lstStyle/>
          <a:p>
            <a:r>
              <a:rPr lang="pl-PL" sz="1400" dirty="0"/>
              <a:t>Wagi są losowe. Sieć widzi kota i mów: „toster”. Totalny zółtodziób.</a:t>
            </a:r>
            <a:endParaRPr lang="en-US" sz="1400" dirty="0"/>
          </a:p>
        </p:txBody>
      </p:sp>
      <p:sp>
        <p:nvSpPr>
          <p:cNvPr id="22" name="pole tekstowe 21">
            <a:extLst>
              <a:ext uri="{FF2B5EF4-FFF2-40B4-BE49-F238E27FC236}">
                <a16:creationId xmlns:a16="http://schemas.microsoft.com/office/drawing/2014/main" id="{08287D0D-69EE-5B20-D751-276D65A3BAD8}"/>
              </a:ext>
            </a:extLst>
          </p:cNvPr>
          <p:cNvSpPr txBox="1"/>
          <p:nvPr/>
        </p:nvSpPr>
        <p:spPr>
          <a:xfrm>
            <a:off x="8663960" y="3919863"/>
            <a:ext cx="2293448" cy="369332"/>
          </a:xfrm>
          <a:prstGeom prst="rect">
            <a:avLst/>
          </a:prstGeom>
          <a:noFill/>
        </p:spPr>
        <p:txBody>
          <a:bodyPr wrap="none" rtlCol="0">
            <a:spAutoFit/>
          </a:bodyPr>
          <a:lstStyle/>
          <a:p>
            <a:r>
              <a:rPr lang="pl-PL" b="1" dirty="0"/>
              <a:t>3. Na stracie - chaos</a:t>
            </a:r>
            <a:endParaRPr lang="en-US" b="1" dirty="0"/>
          </a:p>
        </p:txBody>
      </p:sp>
    </p:spTree>
    <p:extLst>
      <p:ext uri="{BB962C8B-B14F-4D97-AF65-F5344CB8AC3E}">
        <p14:creationId xmlns:p14="http://schemas.microsoft.com/office/powerpoint/2010/main" val="1925098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3ED17-874D-F5AE-2384-964A09A36E70}"/>
            </a:ext>
          </a:extLst>
        </p:cNvPr>
        <p:cNvGrpSpPr/>
        <p:nvPr/>
      </p:nvGrpSpPr>
      <p:grpSpPr>
        <a:xfrm>
          <a:off x="0" y="0"/>
          <a:ext cx="0" cy="0"/>
          <a:chOff x="0" y="0"/>
          <a:chExt cx="0" cy="0"/>
        </a:xfrm>
      </p:grpSpPr>
      <p:sp>
        <p:nvSpPr>
          <p:cNvPr id="5" name="pole tekstowe 4">
            <a:extLst>
              <a:ext uri="{FF2B5EF4-FFF2-40B4-BE49-F238E27FC236}">
                <a16:creationId xmlns:a16="http://schemas.microsoft.com/office/drawing/2014/main" id="{3A5E3E54-73EA-0218-A9DB-7690C9331199}"/>
              </a:ext>
            </a:extLst>
          </p:cNvPr>
          <p:cNvSpPr txBox="1"/>
          <p:nvPr/>
        </p:nvSpPr>
        <p:spPr>
          <a:xfrm>
            <a:off x="3208967" y="641256"/>
            <a:ext cx="6094476" cy="646331"/>
          </a:xfrm>
          <a:prstGeom prst="rect">
            <a:avLst/>
          </a:prstGeom>
          <a:noFill/>
        </p:spPr>
        <p:txBody>
          <a:bodyPr wrap="square">
            <a:spAutoFit/>
          </a:bodyPr>
          <a:lstStyle/>
          <a:p>
            <a:r>
              <a:rPr lang="pl-PL" sz="3600" dirty="0"/>
              <a:t>Trzy warstwy „uczniów”</a:t>
            </a:r>
            <a:endParaRPr lang="en-US" sz="3600" dirty="0"/>
          </a:p>
        </p:txBody>
      </p:sp>
      <p:sp>
        <p:nvSpPr>
          <p:cNvPr id="6" name="Prostokąt 5">
            <a:extLst>
              <a:ext uri="{FF2B5EF4-FFF2-40B4-BE49-F238E27FC236}">
                <a16:creationId xmlns:a16="http://schemas.microsoft.com/office/drawing/2014/main" id="{A1706449-063A-DBEC-F277-A225F6F35D8C}"/>
              </a:ext>
            </a:extLst>
          </p:cNvPr>
          <p:cNvSpPr/>
          <p:nvPr/>
        </p:nvSpPr>
        <p:spPr>
          <a:xfrm>
            <a:off x="768095" y="2282470"/>
            <a:ext cx="3584448" cy="3489960"/>
          </a:xfrm>
          <a:prstGeom prst="rect">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rostokąt 10">
            <a:extLst>
              <a:ext uri="{FF2B5EF4-FFF2-40B4-BE49-F238E27FC236}">
                <a16:creationId xmlns:a16="http://schemas.microsoft.com/office/drawing/2014/main" id="{A0A4D124-17CD-FF7E-3401-EAAD1D4A10D5}"/>
              </a:ext>
            </a:extLst>
          </p:cNvPr>
          <p:cNvSpPr/>
          <p:nvPr/>
        </p:nvSpPr>
        <p:spPr>
          <a:xfrm>
            <a:off x="4352543" y="2295144"/>
            <a:ext cx="3584448" cy="3489960"/>
          </a:xfrm>
          <a:prstGeom prst="rect">
            <a:avLst/>
          </a:prstGeom>
          <a:gradFill flip="none" rotWithShape="1">
            <a:gsLst>
              <a:gs pos="0">
                <a:schemeClr val="tx2">
                  <a:lumMod val="75000"/>
                  <a:lumOff val="25000"/>
                  <a:shade val="30000"/>
                  <a:satMod val="115000"/>
                </a:schemeClr>
              </a:gs>
              <a:gs pos="50000">
                <a:schemeClr val="tx2">
                  <a:lumMod val="75000"/>
                  <a:lumOff val="25000"/>
                  <a:shade val="67500"/>
                  <a:satMod val="115000"/>
                </a:schemeClr>
              </a:gs>
              <a:gs pos="100000">
                <a:schemeClr val="tx2">
                  <a:lumMod val="75000"/>
                  <a:lumOff val="25000"/>
                  <a:shade val="100000"/>
                  <a:satMod val="115000"/>
                </a:scheme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rostokąt 15">
            <a:extLst>
              <a:ext uri="{FF2B5EF4-FFF2-40B4-BE49-F238E27FC236}">
                <a16:creationId xmlns:a16="http://schemas.microsoft.com/office/drawing/2014/main" id="{56A2C666-5068-AE4E-84F2-981422D5D0DC}"/>
              </a:ext>
            </a:extLst>
          </p:cNvPr>
          <p:cNvSpPr/>
          <p:nvPr/>
        </p:nvSpPr>
        <p:spPr>
          <a:xfrm>
            <a:off x="7952993" y="2295144"/>
            <a:ext cx="3584448" cy="3489960"/>
          </a:xfrm>
          <a:prstGeom prst="rect">
            <a:avLst/>
          </a:prstGeom>
          <a:gradFill flip="none" rotWithShape="1">
            <a:gsLst>
              <a:gs pos="0">
                <a:schemeClr val="accent2">
                  <a:lumMod val="60000"/>
                  <a:lumOff val="40000"/>
                  <a:shade val="30000"/>
                  <a:satMod val="115000"/>
                </a:schemeClr>
              </a:gs>
              <a:gs pos="50000">
                <a:schemeClr val="accent2">
                  <a:lumMod val="60000"/>
                  <a:lumOff val="40000"/>
                  <a:shade val="67500"/>
                  <a:satMod val="115000"/>
                </a:schemeClr>
              </a:gs>
              <a:gs pos="100000">
                <a:schemeClr val="accent2">
                  <a:lumMod val="60000"/>
                  <a:lumOff val="40000"/>
                  <a:shade val="100000"/>
                  <a:satMod val="115000"/>
                </a:schemeClr>
              </a:gs>
            </a:gsLst>
            <a:lin ang="81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ole tekstowe 17">
            <a:extLst>
              <a:ext uri="{FF2B5EF4-FFF2-40B4-BE49-F238E27FC236}">
                <a16:creationId xmlns:a16="http://schemas.microsoft.com/office/drawing/2014/main" id="{4F52BDA0-A3DE-8470-E582-80CA878311C4}"/>
              </a:ext>
            </a:extLst>
          </p:cNvPr>
          <p:cNvSpPr txBox="1"/>
          <p:nvPr/>
        </p:nvSpPr>
        <p:spPr>
          <a:xfrm>
            <a:off x="1718283" y="3035281"/>
            <a:ext cx="1233351" cy="461665"/>
          </a:xfrm>
          <a:prstGeom prst="rect">
            <a:avLst/>
          </a:prstGeom>
          <a:noFill/>
        </p:spPr>
        <p:txBody>
          <a:bodyPr wrap="none" rtlCol="0">
            <a:spAutoFit/>
          </a:bodyPr>
          <a:lstStyle/>
          <a:p>
            <a:pPr algn="ctr"/>
            <a:r>
              <a:rPr lang="pl-PL" sz="2400" dirty="0">
                <a:solidFill>
                  <a:srgbClr val="00B050"/>
                </a:solidFill>
              </a:rPr>
              <a:t>Wejście</a:t>
            </a:r>
            <a:endParaRPr lang="en-US" sz="2400" dirty="0">
              <a:solidFill>
                <a:srgbClr val="00B050"/>
              </a:solidFill>
            </a:endParaRPr>
          </a:p>
        </p:txBody>
      </p:sp>
      <p:sp>
        <p:nvSpPr>
          <p:cNvPr id="20" name="pole tekstowe 19">
            <a:extLst>
              <a:ext uri="{FF2B5EF4-FFF2-40B4-BE49-F238E27FC236}">
                <a16:creationId xmlns:a16="http://schemas.microsoft.com/office/drawing/2014/main" id="{12E09AF5-BA32-F798-74F7-BAC8DB8F0C57}"/>
              </a:ext>
            </a:extLst>
          </p:cNvPr>
          <p:cNvSpPr txBox="1"/>
          <p:nvPr/>
        </p:nvSpPr>
        <p:spPr>
          <a:xfrm>
            <a:off x="1019918" y="3624626"/>
            <a:ext cx="2630079" cy="523220"/>
          </a:xfrm>
          <a:prstGeom prst="rect">
            <a:avLst/>
          </a:prstGeom>
          <a:noFill/>
        </p:spPr>
        <p:txBody>
          <a:bodyPr wrap="square" rtlCol="0">
            <a:spAutoFit/>
          </a:bodyPr>
          <a:lstStyle/>
          <a:p>
            <a:r>
              <a:rPr lang="pl-PL" sz="1400" dirty="0">
                <a:solidFill>
                  <a:schemeClr val="bg1"/>
                </a:solidFill>
              </a:rPr>
              <a:t>Surowe dane: piksele zdjęcia, liczby, słowa</a:t>
            </a:r>
            <a:endParaRPr lang="en-US" sz="1400" dirty="0">
              <a:solidFill>
                <a:schemeClr val="bg1"/>
              </a:solidFill>
            </a:endParaRPr>
          </a:p>
        </p:txBody>
      </p:sp>
      <p:sp>
        <p:nvSpPr>
          <p:cNvPr id="24" name="pole tekstowe 23">
            <a:extLst>
              <a:ext uri="{FF2B5EF4-FFF2-40B4-BE49-F238E27FC236}">
                <a16:creationId xmlns:a16="http://schemas.microsoft.com/office/drawing/2014/main" id="{B6ECEF22-EC21-6306-CDF7-79EDC688F1C0}"/>
              </a:ext>
            </a:extLst>
          </p:cNvPr>
          <p:cNvSpPr txBox="1"/>
          <p:nvPr/>
        </p:nvSpPr>
        <p:spPr>
          <a:xfrm>
            <a:off x="5153147" y="3035281"/>
            <a:ext cx="2206117" cy="461665"/>
          </a:xfrm>
          <a:prstGeom prst="rect">
            <a:avLst/>
          </a:prstGeom>
          <a:noFill/>
        </p:spPr>
        <p:txBody>
          <a:bodyPr wrap="none" rtlCol="0">
            <a:spAutoFit/>
          </a:bodyPr>
          <a:lstStyle/>
          <a:p>
            <a:r>
              <a:rPr lang="pl-PL" sz="2400" dirty="0">
                <a:solidFill>
                  <a:srgbClr val="00B050"/>
                </a:solidFill>
              </a:rPr>
              <a:t>Warstwy ukryte</a:t>
            </a:r>
            <a:endParaRPr lang="en-US" sz="2400" dirty="0">
              <a:solidFill>
                <a:srgbClr val="00B050"/>
              </a:solidFill>
            </a:endParaRPr>
          </a:p>
        </p:txBody>
      </p:sp>
      <p:sp>
        <p:nvSpPr>
          <p:cNvPr id="26" name="pole tekstowe 25">
            <a:extLst>
              <a:ext uri="{FF2B5EF4-FFF2-40B4-BE49-F238E27FC236}">
                <a16:creationId xmlns:a16="http://schemas.microsoft.com/office/drawing/2014/main" id="{CA218467-6A7D-04C8-A7FC-F774087F3216}"/>
              </a:ext>
            </a:extLst>
          </p:cNvPr>
          <p:cNvSpPr txBox="1"/>
          <p:nvPr/>
        </p:nvSpPr>
        <p:spPr>
          <a:xfrm>
            <a:off x="4829727" y="3516904"/>
            <a:ext cx="2630079" cy="738664"/>
          </a:xfrm>
          <a:prstGeom prst="rect">
            <a:avLst/>
          </a:prstGeom>
          <a:noFill/>
        </p:spPr>
        <p:txBody>
          <a:bodyPr wrap="square" rtlCol="0">
            <a:spAutoFit/>
          </a:bodyPr>
          <a:lstStyle/>
          <a:p>
            <a:r>
              <a:rPr lang="pl-PL" sz="1400" dirty="0">
                <a:solidFill>
                  <a:schemeClr val="bg1"/>
                </a:solidFill>
              </a:rPr>
              <a:t>Każdy neuron sumuje sygnały, mnoży przez wagi i decyduje, czy przepuści dalej.</a:t>
            </a:r>
            <a:endParaRPr lang="en-US" sz="1400" dirty="0">
              <a:solidFill>
                <a:schemeClr val="bg1"/>
              </a:solidFill>
            </a:endParaRPr>
          </a:p>
        </p:txBody>
      </p:sp>
      <p:sp>
        <p:nvSpPr>
          <p:cNvPr id="28" name="pole tekstowe 27">
            <a:extLst>
              <a:ext uri="{FF2B5EF4-FFF2-40B4-BE49-F238E27FC236}">
                <a16:creationId xmlns:a16="http://schemas.microsoft.com/office/drawing/2014/main" id="{AEEEAD7D-BDC1-8DBA-9C7E-50138E789A4D}"/>
              </a:ext>
            </a:extLst>
          </p:cNvPr>
          <p:cNvSpPr txBox="1"/>
          <p:nvPr/>
        </p:nvSpPr>
        <p:spPr>
          <a:xfrm>
            <a:off x="9136076" y="3035281"/>
            <a:ext cx="1218282" cy="461665"/>
          </a:xfrm>
          <a:prstGeom prst="rect">
            <a:avLst/>
          </a:prstGeom>
          <a:noFill/>
        </p:spPr>
        <p:txBody>
          <a:bodyPr wrap="none" rtlCol="0">
            <a:spAutoFit/>
          </a:bodyPr>
          <a:lstStyle/>
          <a:p>
            <a:r>
              <a:rPr lang="pl-PL" sz="2400" dirty="0">
                <a:solidFill>
                  <a:srgbClr val="00B050"/>
                </a:solidFill>
              </a:rPr>
              <a:t>Wyjście</a:t>
            </a:r>
            <a:endParaRPr lang="en-US" sz="2400" dirty="0">
              <a:solidFill>
                <a:srgbClr val="00B050"/>
              </a:solidFill>
            </a:endParaRPr>
          </a:p>
        </p:txBody>
      </p:sp>
      <p:sp>
        <p:nvSpPr>
          <p:cNvPr id="32" name="pole tekstowe 31">
            <a:extLst>
              <a:ext uri="{FF2B5EF4-FFF2-40B4-BE49-F238E27FC236}">
                <a16:creationId xmlns:a16="http://schemas.microsoft.com/office/drawing/2014/main" id="{C80961B3-CECF-2641-7FFE-F722FFB22FB2}"/>
              </a:ext>
            </a:extLst>
          </p:cNvPr>
          <p:cNvSpPr txBox="1"/>
          <p:nvPr/>
        </p:nvSpPr>
        <p:spPr>
          <a:xfrm>
            <a:off x="8548061" y="3516904"/>
            <a:ext cx="2630079" cy="523220"/>
          </a:xfrm>
          <a:prstGeom prst="rect">
            <a:avLst/>
          </a:prstGeom>
          <a:noFill/>
        </p:spPr>
        <p:txBody>
          <a:bodyPr wrap="square" rtlCol="0">
            <a:spAutoFit/>
          </a:bodyPr>
          <a:lstStyle/>
          <a:p>
            <a:r>
              <a:rPr lang="pl-PL" sz="1400" dirty="0">
                <a:solidFill>
                  <a:schemeClr val="bg1"/>
                </a:solidFill>
              </a:rPr>
              <a:t>Ostateczna odpowiedź: „kot”, „pies”, liczba, decyzja</a:t>
            </a:r>
            <a:endParaRPr lang="en-US" sz="1400" dirty="0">
              <a:solidFill>
                <a:schemeClr val="bg1"/>
              </a:solidFill>
            </a:endParaRPr>
          </a:p>
        </p:txBody>
      </p:sp>
    </p:spTree>
    <p:extLst>
      <p:ext uri="{BB962C8B-B14F-4D97-AF65-F5344CB8AC3E}">
        <p14:creationId xmlns:p14="http://schemas.microsoft.com/office/powerpoint/2010/main" val="435174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4BDD9-48F9-7B24-2554-8B223580F153}"/>
            </a:ext>
          </a:extLst>
        </p:cNvPr>
        <p:cNvGrpSpPr/>
        <p:nvPr/>
      </p:nvGrpSpPr>
      <p:grpSpPr>
        <a:xfrm>
          <a:off x="0" y="0"/>
          <a:ext cx="0" cy="0"/>
          <a:chOff x="0" y="0"/>
          <a:chExt cx="0" cy="0"/>
        </a:xfrm>
      </p:grpSpPr>
      <p:sp>
        <p:nvSpPr>
          <p:cNvPr id="5" name="pole tekstowe 4">
            <a:extLst>
              <a:ext uri="{FF2B5EF4-FFF2-40B4-BE49-F238E27FC236}">
                <a16:creationId xmlns:a16="http://schemas.microsoft.com/office/drawing/2014/main" id="{21657906-15A6-4908-7808-63625A7A11F0}"/>
              </a:ext>
            </a:extLst>
          </p:cNvPr>
          <p:cNvSpPr txBox="1"/>
          <p:nvPr/>
        </p:nvSpPr>
        <p:spPr>
          <a:xfrm>
            <a:off x="3565776" y="245254"/>
            <a:ext cx="6094476" cy="646331"/>
          </a:xfrm>
          <a:prstGeom prst="rect">
            <a:avLst/>
          </a:prstGeom>
          <a:noFill/>
        </p:spPr>
        <p:txBody>
          <a:bodyPr wrap="square">
            <a:spAutoFit/>
          </a:bodyPr>
          <a:lstStyle/>
          <a:p>
            <a:r>
              <a:rPr lang="pl-PL" sz="3600" dirty="0"/>
              <a:t>Uczenie się na błędach</a:t>
            </a:r>
            <a:endParaRPr lang="en-US" sz="3600" dirty="0"/>
          </a:p>
        </p:txBody>
      </p:sp>
      <p:sp>
        <p:nvSpPr>
          <p:cNvPr id="20" name="pole tekstowe 19">
            <a:extLst>
              <a:ext uri="{FF2B5EF4-FFF2-40B4-BE49-F238E27FC236}">
                <a16:creationId xmlns:a16="http://schemas.microsoft.com/office/drawing/2014/main" id="{46AACE95-A300-02F7-D3C0-C18826D2DBDB}"/>
              </a:ext>
            </a:extLst>
          </p:cNvPr>
          <p:cNvSpPr txBox="1"/>
          <p:nvPr/>
        </p:nvSpPr>
        <p:spPr>
          <a:xfrm>
            <a:off x="1019918" y="3624626"/>
            <a:ext cx="2630079" cy="523220"/>
          </a:xfrm>
          <a:prstGeom prst="rect">
            <a:avLst/>
          </a:prstGeom>
          <a:noFill/>
        </p:spPr>
        <p:txBody>
          <a:bodyPr wrap="square" rtlCol="0">
            <a:spAutoFit/>
          </a:bodyPr>
          <a:lstStyle/>
          <a:p>
            <a:r>
              <a:rPr lang="pl-PL" sz="1400" dirty="0">
                <a:solidFill>
                  <a:schemeClr val="bg1"/>
                </a:solidFill>
              </a:rPr>
              <a:t>Surowe dane: piksele zdjęcia, liczby, słowa</a:t>
            </a:r>
            <a:endParaRPr lang="en-US" sz="1400" dirty="0">
              <a:solidFill>
                <a:schemeClr val="bg1"/>
              </a:solidFill>
            </a:endParaRPr>
          </a:p>
        </p:txBody>
      </p:sp>
      <p:sp>
        <p:nvSpPr>
          <p:cNvPr id="3" name="Title 1">
            <a:extLst>
              <a:ext uri="{FF2B5EF4-FFF2-40B4-BE49-F238E27FC236}">
                <a16:creationId xmlns:a16="http://schemas.microsoft.com/office/drawing/2014/main" id="{09FD1755-C498-FC37-7969-70B686533A06}"/>
              </a:ext>
            </a:extLst>
          </p:cNvPr>
          <p:cNvSpPr txBox="1">
            <a:spLocks/>
          </p:cNvSpPr>
          <p:nvPr/>
        </p:nvSpPr>
        <p:spPr>
          <a:xfrm>
            <a:off x="634503" y="2672072"/>
            <a:ext cx="4934194" cy="2558296"/>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r>
              <a:rPr lang="pl-PL" sz="2000" dirty="0"/>
              <a:t>Sieć porównuje swoją odpowiedź z prawdą i liczy, jak bardzo się pomyliła</a:t>
            </a:r>
          </a:p>
          <a:p>
            <a:endParaRPr lang="pl-PL" sz="2000" dirty="0"/>
          </a:p>
          <a:p>
            <a:r>
              <a:rPr lang="pl-PL" sz="2000" dirty="0"/>
              <a:t>Potem cofa się przez wszystkie warstwy, delikatnie poprawiając wagi – to </a:t>
            </a:r>
            <a:r>
              <a:rPr lang="pl-PL" sz="2000" b="1" dirty="0"/>
              <a:t>propagacja wsteczna</a:t>
            </a:r>
            <a:endParaRPr lang="pl-PL" sz="2000" dirty="0"/>
          </a:p>
          <a:p>
            <a:endParaRPr lang="pl-PL" sz="2000" dirty="0"/>
          </a:p>
          <a:p>
            <a:r>
              <a:rPr lang="pl-PL" sz="2000" dirty="0"/>
              <a:t>Powtórz to miliony razy na tysiącach przykładów, a zółtodziób staje się ekspertem</a:t>
            </a:r>
          </a:p>
        </p:txBody>
      </p:sp>
      <p:sp>
        <p:nvSpPr>
          <p:cNvPr id="8" name="Prostokąt 7">
            <a:extLst>
              <a:ext uri="{FF2B5EF4-FFF2-40B4-BE49-F238E27FC236}">
                <a16:creationId xmlns:a16="http://schemas.microsoft.com/office/drawing/2014/main" id="{6D253742-8367-9A7A-4D09-82A610859357}"/>
              </a:ext>
            </a:extLst>
          </p:cNvPr>
          <p:cNvSpPr/>
          <p:nvPr/>
        </p:nvSpPr>
        <p:spPr>
          <a:xfrm>
            <a:off x="7226228" y="2206240"/>
            <a:ext cx="3584448" cy="3489960"/>
          </a:xfrm>
          <a:prstGeom prst="rect">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ole tekstowe 9">
            <a:extLst>
              <a:ext uri="{FF2B5EF4-FFF2-40B4-BE49-F238E27FC236}">
                <a16:creationId xmlns:a16="http://schemas.microsoft.com/office/drawing/2014/main" id="{C3D1F594-A535-2739-151E-AC8040A591C2}"/>
              </a:ext>
            </a:extLst>
          </p:cNvPr>
          <p:cNvSpPr txBox="1"/>
          <p:nvPr/>
        </p:nvSpPr>
        <p:spPr>
          <a:xfrm>
            <a:off x="8261050" y="2397956"/>
            <a:ext cx="1296893" cy="461665"/>
          </a:xfrm>
          <a:prstGeom prst="rect">
            <a:avLst/>
          </a:prstGeom>
          <a:noFill/>
        </p:spPr>
        <p:txBody>
          <a:bodyPr wrap="none" rtlCol="0">
            <a:spAutoFit/>
          </a:bodyPr>
          <a:lstStyle/>
          <a:p>
            <a:pPr algn="ctr"/>
            <a:r>
              <a:rPr lang="pl-PL" sz="2400" dirty="0">
                <a:solidFill>
                  <a:srgbClr val="00B050"/>
                </a:solidFill>
              </a:rPr>
              <a:t>Przykład</a:t>
            </a:r>
            <a:endParaRPr lang="en-US" sz="2400" dirty="0">
              <a:solidFill>
                <a:srgbClr val="00B050"/>
              </a:solidFill>
            </a:endParaRPr>
          </a:p>
        </p:txBody>
      </p:sp>
      <p:sp>
        <p:nvSpPr>
          <p:cNvPr id="13" name="pole tekstowe 12">
            <a:extLst>
              <a:ext uri="{FF2B5EF4-FFF2-40B4-BE49-F238E27FC236}">
                <a16:creationId xmlns:a16="http://schemas.microsoft.com/office/drawing/2014/main" id="{23030E1F-F53C-4C0C-E808-37C71246931F}"/>
              </a:ext>
            </a:extLst>
          </p:cNvPr>
          <p:cNvSpPr txBox="1"/>
          <p:nvPr/>
        </p:nvSpPr>
        <p:spPr>
          <a:xfrm>
            <a:off x="7594456" y="3427438"/>
            <a:ext cx="2847992" cy="954107"/>
          </a:xfrm>
          <a:prstGeom prst="rect">
            <a:avLst/>
          </a:prstGeom>
          <a:noFill/>
        </p:spPr>
        <p:txBody>
          <a:bodyPr wrap="square" rtlCol="0">
            <a:spAutoFit/>
          </a:bodyPr>
          <a:lstStyle/>
          <a:p>
            <a:r>
              <a:rPr lang="pl-PL" sz="1400" dirty="0">
                <a:solidFill>
                  <a:schemeClr val="bg1"/>
                </a:solidFill>
              </a:rPr>
              <a:t>Pokazujesz zdjęcie kota </a:t>
            </a:r>
            <a:r>
              <a:rPr lang="pl-PL" sz="1400" dirty="0">
                <a:solidFill>
                  <a:schemeClr val="bg1"/>
                </a:solidFill>
                <a:sym typeface="Wingdings" panose="05000000000000000000" pitchFamily="2" charset="2"/>
              </a:rPr>
              <a:t></a:t>
            </a:r>
          </a:p>
          <a:p>
            <a:r>
              <a:rPr lang="pl-PL" sz="1400" dirty="0">
                <a:solidFill>
                  <a:schemeClr val="bg1"/>
                </a:solidFill>
                <a:sym typeface="Wingdings" panose="05000000000000000000" pitchFamily="2" charset="2"/>
              </a:rPr>
              <a:t>sieć mówi „toster”  </a:t>
            </a:r>
          </a:p>
          <a:p>
            <a:r>
              <a:rPr lang="pl-PL" sz="1400" dirty="0">
                <a:solidFill>
                  <a:schemeClr val="bg1"/>
                </a:solidFill>
                <a:sym typeface="Wingdings" panose="05000000000000000000" pitchFamily="2" charset="2"/>
              </a:rPr>
              <a:t>błąd  poprawka wag </a:t>
            </a:r>
          </a:p>
          <a:p>
            <a:r>
              <a:rPr lang="pl-PL" sz="1400" dirty="0">
                <a:solidFill>
                  <a:schemeClr val="bg1"/>
                </a:solidFill>
                <a:sym typeface="Wingdings" panose="05000000000000000000" pitchFamily="2" charset="2"/>
              </a:rPr>
              <a:t>następnym razem: bliżej „kota”</a:t>
            </a:r>
            <a:endParaRPr lang="en-US" sz="1400" dirty="0">
              <a:solidFill>
                <a:schemeClr val="bg1"/>
              </a:solidFill>
            </a:endParaRPr>
          </a:p>
        </p:txBody>
      </p:sp>
    </p:spTree>
    <p:extLst>
      <p:ext uri="{BB962C8B-B14F-4D97-AF65-F5344CB8AC3E}">
        <p14:creationId xmlns:p14="http://schemas.microsoft.com/office/powerpoint/2010/main" val="1596763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27C9E876-33AD-F0A6-7C06-07B9F893FD36}"/>
              </a:ext>
            </a:extLst>
          </p:cNvPr>
          <p:cNvSpPr txBox="1"/>
          <p:nvPr/>
        </p:nvSpPr>
        <p:spPr>
          <a:xfrm>
            <a:off x="2767264" y="136970"/>
            <a:ext cx="8109283" cy="646331"/>
          </a:xfrm>
          <a:prstGeom prst="rect">
            <a:avLst/>
          </a:prstGeom>
          <a:noFill/>
        </p:spPr>
        <p:txBody>
          <a:bodyPr wrap="square">
            <a:spAutoFit/>
          </a:bodyPr>
          <a:lstStyle/>
          <a:p>
            <a:r>
              <a:rPr lang="pl-PL" sz="3600" dirty="0"/>
              <a:t>Sztuczny neuron – jak on wygląda ?</a:t>
            </a:r>
            <a:endParaRPr lang="en-US" sz="3600" dirty="0"/>
          </a:p>
        </p:txBody>
      </p:sp>
      <p:sp>
        <p:nvSpPr>
          <p:cNvPr id="13" name="Schemat blokowy: łącznik 12">
            <a:extLst>
              <a:ext uri="{FF2B5EF4-FFF2-40B4-BE49-F238E27FC236}">
                <a16:creationId xmlns:a16="http://schemas.microsoft.com/office/drawing/2014/main" id="{1C5A88D3-139F-7345-BDB0-258DAD6B59A3}"/>
              </a:ext>
            </a:extLst>
          </p:cNvPr>
          <p:cNvSpPr/>
          <p:nvPr/>
        </p:nvSpPr>
        <p:spPr>
          <a:xfrm>
            <a:off x="1489750" y="1232896"/>
            <a:ext cx="750013" cy="773985"/>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400" dirty="0">
                <a:solidFill>
                  <a:schemeClr val="tx1"/>
                </a:solidFill>
              </a:rPr>
              <a:t>1</a:t>
            </a:r>
            <a:endParaRPr lang="en-US" sz="2400" dirty="0">
              <a:solidFill>
                <a:schemeClr val="tx1"/>
              </a:solidFill>
            </a:endParaRPr>
          </a:p>
        </p:txBody>
      </p:sp>
      <p:sp>
        <p:nvSpPr>
          <p:cNvPr id="15" name="Schemat blokowy: łącznik 14">
            <a:extLst>
              <a:ext uri="{FF2B5EF4-FFF2-40B4-BE49-F238E27FC236}">
                <a16:creationId xmlns:a16="http://schemas.microsoft.com/office/drawing/2014/main" id="{43121E53-2898-56CD-21D9-A1AD7312148B}"/>
              </a:ext>
            </a:extLst>
          </p:cNvPr>
          <p:cNvSpPr/>
          <p:nvPr/>
        </p:nvSpPr>
        <p:spPr>
          <a:xfrm>
            <a:off x="1489750" y="2449527"/>
            <a:ext cx="750014" cy="773985"/>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400" dirty="0">
                <a:solidFill>
                  <a:schemeClr val="tx1"/>
                </a:solidFill>
              </a:rPr>
              <a:t>x</a:t>
            </a:r>
            <a:r>
              <a:rPr lang="pl-PL" sz="2400" baseline="-25000" dirty="0">
                <a:solidFill>
                  <a:schemeClr val="tx1"/>
                </a:solidFill>
              </a:rPr>
              <a:t>1</a:t>
            </a:r>
            <a:endParaRPr lang="en-US" sz="2400" baseline="-25000" dirty="0">
              <a:solidFill>
                <a:schemeClr val="tx1"/>
              </a:solidFill>
            </a:endParaRPr>
          </a:p>
        </p:txBody>
      </p:sp>
      <p:sp>
        <p:nvSpPr>
          <p:cNvPr id="17" name="Schemat blokowy: łącznik 16">
            <a:extLst>
              <a:ext uri="{FF2B5EF4-FFF2-40B4-BE49-F238E27FC236}">
                <a16:creationId xmlns:a16="http://schemas.microsoft.com/office/drawing/2014/main" id="{E885FD86-A6F4-E0FA-2772-C8279A011761}"/>
              </a:ext>
            </a:extLst>
          </p:cNvPr>
          <p:cNvSpPr/>
          <p:nvPr/>
        </p:nvSpPr>
        <p:spPr>
          <a:xfrm>
            <a:off x="1489750" y="3634488"/>
            <a:ext cx="750014" cy="773986"/>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400" dirty="0">
                <a:solidFill>
                  <a:schemeClr val="tx1"/>
                </a:solidFill>
              </a:rPr>
              <a:t>x</a:t>
            </a:r>
            <a:r>
              <a:rPr lang="pl-PL" sz="2400" baseline="-25000" dirty="0">
                <a:solidFill>
                  <a:schemeClr val="tx1"/>
                </a:solidFill>
              </a:rPr>
              <a:t>2</a:t>
            </a:r>
            <a:endParaRPr lang="en-US" sz="2400" baseline="-25000" dirty="0">
              <a:solidFill>
                <a:schemeClr val="tx1"/>
              </a:solidFill>
            </a:endParaRPr>
          </a:p>
        </p:txBody>
      </p:sp>
      <p:sp>
        <p:nvSpPr>
          <p:cNvPr id="19" name="Schemat blokowy: łącznik 18">
            <a:extLst>
              <a:ext uri="{FF2B5EF4-FFF2-40B4-BE49-F238E27FC236}">
                <a16:creationId xmlns:a16="http://schemas.microsoft.com/office/drawing/2014/main" id="{81D88059-BB6B-4339-AC9D-A5657EEB89E8}"/>
              </a:ext>
            </a:extLst>
          </p:cNvPr>
          <p:cNvSpPr/>
          <p:nvPr/>
        </p:nvSpPr>
        <p:spPr>
          <a:xfrm>
            <a:off x="1489750" y="4851118"/>
            <a:ext cx="750014" cy="773986"/>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400" dirty="0" err="1">
                <a:solidFill>
                  <a:schemeClr val="tx1"/>
                </a:solidFill>
              </a:rPr>
              <a:t>x</a:t>
            </a:r>
            <a:r>
              <a:rPr lang="pl-PL" sz="2400" baseline="-25000" dirty="0" err="1">
                <a:solidFill>
                  <a:schemeClr val="tx1"/>
                </a:solidFill>
              </a:rPr>
              <a:t>m</a:t>
            </a:r>
            <a:endParaRPr lang="en-US" sz="2400" baseline="-25000" dirty="0">
              <a:solidFill>
                <a:schemeClr val="tx1"/>
              </a:solidFill>
            </a:endParaRPr>
          </a:p>
        </p:txBody>
      </p:sp>
      <p:sp>
        <p:nvSpPr>
          <p:cNvPr id="21" name="Schemat blokowy: łącznik 20">
            <a:extLst>
              <a:ext uri="{FF2B5EF4-FFF2-40B4-BE49-F238E27FC236}">
                <a16:creationId xmlns:a16="http://schemas.microsoft.com/office/drawing/2014/main" id="{3FC917BC-5E18-94E1-4C2E-F4B2019046FB}"/>
              </a:ext>
            </a:extLst>
          </p:cNvPr>
          <p:cNvSpPr/>
          <p:nvPr/>
        </p:nvSpPr>
        <p:spPr>
          <a:xfrm>
            <a:off x="2628469" y="1714071"/>
            <a:ext cx="854470" cy="802248"/>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400" dirty="0" err="1">
                <a:solidFill>
                  <a:schemeClr val="tx1"/>
                </a:solidFill>
              </a:rPr>
              <a:t>w</a:t>
            </a:r>
            <a:r>
              <a:rPr lang="pl-PL" sz="2400" baseline="-25000" dirty="0" err="1">
                <a:solidFill>
                  <a:schemeClr val="tx1"/>
                </a:solidFill>
              </a:rPr>
              <a:t>o</a:t>
            </a:r>
            <a:endParaRPr lang="en-US" sz="2400" baseline="-25000" dirty="0">
              <a:solidFill>
                <a:schemeClr val="tx1"/>
              </a:solidFill>
            </a:endParaRPr>
          </a:p>
        </p:txBody>
      </p:sp>
      <p:sp>
        <p:nvSpPr>
          <p:cNvPr id="23" name="Schemat blokowy: łącznik 22">
            <a:extLst>
              <a:ext uri="{FF2B5EF4-FFF2-40B4-BE49-F238E27FC236}">
                <a16:creationId xmlns:a16="http://schemas.microsoft.com/office/drawing/2014/main" id="{F8FF989A-DE91-8E09-0836-550A64A8A969}"/>
              </a:ext>
            </a:extLst>
          </p:cNvPr>
          <p:cNvSpPr/>
          <p:nvPr/>
        </p:nvSpPr>
        <p:spPr>
          <a:xfrm>
            <a:off x="2628468" y="2655015"/>
            <a:ext cx="854471" cy="802248"/>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400" dirty="0">
                <a:solidFill>
                  <a:schemeClr val="tx1"/>
                </a:solidFill>
              </a:rPr>
              <a:t>w</a:t>
            </a:r>
            <a:r>
              <a:rPr lang="pl-PL" sz="2400" baseline="-25000" dirty="0">
                <a:solidFill>
                  <a:schemeClr val="tx1"/>
                </a:solidFill>
              </a:rPr>
              <a:t>1</a:t>
            </a:r>
            <a:endParaRPr lang="en-US" sz="2400" baseline="-25000" dirty="0">
              <a:solidFill>
                <a:schemeClr val="tx1"/>
              </a:solidFill>
            </a:endParaRPr>
          </a:p>
        </p:txBody>
      </p:sp>
      <p:sp>
        <p:nvSpPr>
          <p:cNvPr id="25" name="Schemat blokowy: łącznik 24">
            <a:extLst>
              <a:ext uri="{FF2B5EF4-FFF2-40B4-BE49-F238E27FC236}">
                <a16:creationId xmlns:a16="http://schemas.microsoft.com/office/drawing/2014/main" id="{35420F79-7201-7BF3-6AD0-F5A3C2C333D9}"/>
              </a:ext>
            </a:extLst>
          </p:cNvPr>
          <p:cNvSpPr/>
          <p:nvPr/>
        </p:nvSpPr>
        <p:spPr>
          <a:xfrm>
            <a:off x="2628468" y="3634488"/>
            <a:ext cx="854471" cy="773985"/>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400" dirty="0">
                <a:solidFill>
                  <a:schemeClr val="tx1"/>
                </a:solidFill>
              </a:rPr>
              <a:t>w</a:t>
            </a:r>
            <a:r>
              <a:rPr lang="pl-PL" sz="2400" baseline="-25000" dirty="0">
                <a:solidFill>
                  <a:schemeClr val="tx1"/>
                </a:solidFill>
              </a:rPr>
              <a:t>2</a:t>
            </a:r>
            <a:endParaRPr lang="en-US" sz="2400" baseline="-25000" dirty="0">
              <a:solidFill>
                <a:schemeClr val="tx1"/>
              </a:solidFill>
            </a:endParaRPr>
          </a:p>
        </p:txBody>
      </p:sp>
      <p:sp>
        <p:nvSpPr>
          <p:cNvPr id="27" name="Schemat blokowy: łącznik 26">
            <a:extLst>
              <a:ext uri="{FF2B5EF4-FFF2-40B4-BE49-F238E27FC236}">
                <a16:creationId xmlns:a16="http://schemas.microsoft.com/office/drawing/2014/main" id="{CE928D7F-F0AA-CDE8-3B75-3DA9A5324CD6}"/>
              </a:ext>
            </a:extLst>
          </p:cNvPr>
          <p:cNvSpPr/>
          <p:nvPr/>
        </p:nvSpPr>
        <p:spPr>
          <a:xfrm>
            <a:off x="2628467" y="4585698"/>
            <a:ext cx="854472" cy="773985"/>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400" dirty="0" err="1">
                <a:solidFill>
                  <a:schemeClr val="tx1"/>
                </a:solidFill>
              </a:rPr>
              <a:t>w</a:t>
            </a:r>
            <a:r>
              <a:rPr lang="pl-PL" sz="2400" baseline="-25000" dirty="0" err="1">
                <a:solidFill>
                  <a:schemeClr val="tx1"/>
                </a:solidFill>
              </a:rPr>
              <a:t>m</a:t>
            </a:r>
            <a:endParaRPr lang="en-US" sz="2400" baseline="-25000" dirty="0">
              <a:solidFill>
                <a:schemeClr val="tx1"/>
              </a:solidFill>
            </a:endParaRPr>
          </a:p>
        </p:txBody>
      </p:sp>
      <p:sp>
        <p:nvSpPr>
          <p:cNvPr id="29" name="Schemat blokowy: łącznik 28">
            <a:extLst>
              <a:ext uri="{FF2B5EF4-FFF2-40B4-BE49-F238E27FC236}">
                <a16:creationId xmlns:a16="http://schemas.microsoft.com/office/drawing/2014/main" id="{84200BA9-D95E-569C-441D-A96619F2D23B}"/>
              </a:ext>
            </a:extLst>
          </p:cNvPr>
          <p:cNvSpPr/>
          <p:nvPr/>
        </p:nvSpPr>
        <p:spPr>
          <a:xfrm>
            <a:off x="4827139" y="3114355"/>
            <a:ext cx="854471" cy="913115"/>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pic>
        <p:nvPicPr>
          <p:cNvPr id="31" name="Obraz 30">
            <a:extLst>
              <a:ext uri="{FF2B5EF4-FFF2-40B4-BE49-F238E27FC236}">
                <a16:creationId xmlns:a16="http://schemas.microsoft.com/office/drawing/2014/main" id="{CE354B97-1894-FBE6-2462-EA1FF3B581C0}"/>
              </a:ext>
            </a:extLst>
          </p:cNvPr>
          <p:cNvPicPr>
            <a:picLocks noChangeAspect="1"/>
          </p:cNvPicPr>
          <p:nvPr/>
        </p:nvPicPr>
        <p:blipFill>
          <a:blip r:embed="rId3"/>
          <a:stretch>
            <a:fillRect/>
          </a:stretch>
        </p:blipFill>
        <p:spPr>
          <a:xfrm>
            <a:off x="5040770" y="3314444"/>
            <a:ext cx="427208" cy="512936"/>
          </a:xfrm>
          <a:prstGeom prst="rect">
            <a:avLst/>
          </a:prstGeom>
        </p:spPr>
      </p:pic>
      <p:cxnSp>
        <p:nvCxnSpPr>
          <p:cNvPr id="33" name="Łącznik prosty 32">
            <a:extLst>
              <a:ext uri="{FF2B5EF4-FFF2-40B4-BE49-F238E27FC236}">
                <a16:creationId xmlns:a16="http://schemas.microsoft.com/office/drawing/2014/main" id="{DC830516-6592-10F0-E7A5-C237DCB743AA}"/>
              </a:ext>
            </a:extLst>
          </p:cNvPr>
          <p:cNvCxnSpPr>
            <a:stCxn id="13" idx="6"/>
          </p:cNvCxnSpPr>
          <p:nvPr/>
        </p:nvCxnSpPr>
        <p:spPr>
          <a:xfrm>
            <a:off x="2239763" y="1619889"/>
            <a:ext cx="388704" cy="28083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Łącznik prosty 33">
            <a:extLst>
              <a:ext uri="{FF2B5EF4-FFF2-40B4-BE49-F238E27FC236}">
                <a16:creationId xmlns:a16="http://schemas.microsoft.com/office/drawing/2014/main" id="{AE1096A6-F983-81F4-BDFF-4CF97C0FD95B}"/>
              </a:ext>
            </a:extLst>
          </p:cNvPr>
          <p:cNvCxnSpPr/>
          <p:nvPr/>
        </p:nvCxnSpPr>
        <p:spPr>
          <a:xfrm>
            <a:off x="2239763" y="2775309"/>
            <a:ext cx="388704" cy="28083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Łącznik prosty 34">
            <a:extLst>
              <a:ext uri="{FF2B5EF4-FFF2-40B4-BE49-F238E27FC236}">
                <a16:creationId xmlns:a16="http://schemas.microsoft.com/office/drawing/2014/main" id="{145ECC29-39BC-578A-3736-00A22ABE1426}"/>
              </a:ext>
            </a:extLst>
          </p:cNvPr>
          <p:cNvCxnSpPr>
            <a:cxnSpLocks/>
            <a:stCxn id="17" idx="6"/>
            <a:endCxn id="25" idx="2"/>
          </p:cNvCxnSpPr>
          <p:nvPr/>
        </p:nvCxnSpPr>
        <p:spPr>
          <a:xfrm>
            <a:off x="2239764" y="4021481"/>
            <a:ext cx="388704"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8" name="Łącznik prosty 37">
            <a:extLst>
              <a:ext uri="{FF2B5EF4-FFF2-40B4-BE49-F238E27FC236}">
                <a16:creationId xmlns:a16="http://schemas.microsoft.com/office/drawing/2014/main" id="{F9884E32-A911-0F3D-A35E-BBFC53AB3D38}"/>
              </a:ext>
            </a:extLst>
          </p:cNvPr>
          <p:cNvCxnSpPr>
            <a:cxnSpLocks/>
            <a:stCxn id="19" idx="6"/>
            <a:endCxn id="27" idx="2"/>
          </p:cNvCxnSpPr>
          <p:nvPr/>
        </p:nvCxnSpPr>
        <p:spPr>
          <a:xfrm flipV="1">
            <a:off x="2239764" y="4972691"/>
            <a:ext cx="388703" cy="26542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 name="Łącznik prosty 40">
            <a:extLst>
              <a:ext uri="{FF2B5EF4-FFF2-40B4-BE49-F238E27FC236}">
                <a16:creationId xmlns:a16="http://schemas.microsoft.com/office/drawing/2014/main" id="{2D7B63E3-1FF3-6232-7D13-499A02774F5B}"/>
              </a:ext>
            </a:extLst>
          </p:cNvPr>
          <p:cNvCxnSpPr>
            <a:cxnSpLocks/>
            <a:stCxn id="21" idx="6"/>
            <a:endCxn id="29" idx="2"/>
          </p:cNvCxnSpPr>
          <p:nvPr/>
        </p:nvCxnSpPr>
        <p:spPr>
          <a:xfrm>
            <a:off x="3482939" y="2115195"/>
            <a:ext cx="1344200" cy="1455718"/>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Łącznik prosty 43">
            <a:extLst>
              <a:ext uri="{FF2B5EF4-FFF2-40B4-BE49-F238E27FC236}">
                <a16:creationId xmlns:a16="http://schemas.microsoft.com/office/drawing/2014/main" id="{D94974B1-72AA-0F9C-AB90-B958823CF332}"/>
              </a:ext>
            </a:extLst>
          </p:cNvPr>
          <p:cNvCxnSpPr>
            <a:cxnSpLocks/>
            <a:stCxn id="23" idx="6"/>
            <a:endCxn id="29" idx="2"/>
          </p:cNvCxnSpPr>
          <p:nvPr/>
        </p:nvCxnSpPr>
        <p:spPr>
          <a:xfrm>
            <a:off x="3482939" y="3056139"/>
            <a:ext cx="1344200" cy="514774"/>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Łącznik prosty 46">
            <a:extLst>
              <a:ext uri="{FF2B5EF4-FFF2-40B4-BE49-F238E27FC236}">
                <a16:creationId xmlns:a16="http://schemas.microsoft.com/office/drawing/2014/main" id="{A8182C5C-9037-D354-B4CC-C42654CC5F40}"/>
              </a:ext>
            </a:extLst>
          </p:cNvPr>
          <p:cNvCxnSpPr>
            <a:cxnSpLocks/>
            <a:stCxn id="25" idx="6"/>
            <a:endCxn id="29" idx="2"/>
          </p:cNvCxnSpPr>
          <p:nvPr/>
        </p:nvCxnSpPr>
        <p:spPr>
          <a:xfrm flipV="1">
            <a:off x="3482939" y="3570913"/>
            <a:ext cx="1344200" cy="450568"/>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Łącznik prosty 49">
            <a:extLst>
              <a:ext uri="{FF2B5EF4-FFF2-40B4-BE49-F238E27FC236}">
                <a16:creationId xmlns:a16="http://schemas.microsoft.com/office/drawing/2014/main" id="{6DC45740-4E2C-6F00-487E-97C66C357C4F}"/>
              </a:ext>
            </a:extLst>
          </p:cNvPr>
          <p:cNvCxnSpPr>
            <a:cxnSpLocks/>
            <a:stCxn id="27" idx="6"/>
            <a:endCxn id="29" idx="2"/>
          </p:cNvCxnSpPr>
          <p:nvPr/>
        </p:nvCxnSpPr>
        <p:spPr>
          <a:xfrm flipV="1">
            <a:off x="3482939" y="3570913"/>
            <a:ext cx="1344200" cy="1401778"/>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54" name="Schemat blokowy: łącznik 53">
            <a:extLst>
              <a:ext uri="{FF2B5EF4-FFF2-40B4-BE49-F238E27FC236}">
                <a16:creationId xmlns:a16="http://schemas.microsoft.com/office/drawing/2014/main" id="{21A0031C-F073-6AC9-FAA0-2731803F579E}"/>
              </a:ext>
            </a:extLst>
          </p:cNvPr>
          <p:cNvSpPr/>
          <p:nvPr/>
        </p:nvSpPr>
        <p:spPr>
          <a:xfrm>
            <a:off x="6937627" y="3108365"/>
            <a:ext cx="854471" cy="913115"/>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pic>
        <p:nvPicPr>
          <p:cNvPr id="58" name="Obraz 57">
            <a:extLst>
              <a:ext uri="{FF2B5EF4-FFF2-40B4-BE49-F238E27FC236}">
                <a16:creationId xmlns:a16="http://schemas.microsoft.com/office/drawing/2014/main" id="{D2476D3A-408F-BDE7-3A1E-7FDEAF7110CD}"/>
              </a:ext>
            </a:extLst>
          </p:cNvPr>
          <p:cNvPicPr>
            <a:picLocks noChangeAspect="1"/>
          </p:cNvPicPr>
          <p:nvPr/>
        </p:nvPicPr>
        <p:blipFill>
          <a:blip r:embed="rId4"/>
          <a:stretch>
            <a:fillRect/>
          </a:stretch>
        </p:blipFill>
        <p:spPr>
          <a:xfrm>
            <a:off x="2216974" y="4335559"/>
            <a:ext cx="259211" cy="532822"/>
          </a:xfrm>
          <a:prstGeom prst="rect">
            <a:avLst/>
          </a:prstGeom>
        </p:spPr>
      </p:pic>
      <p:cxnSp>
        <p:nvCxnSpPr>
          <p:cNvPr id="59" name="Łącznik prosty 58">
            <a:extLst>
              <a:ext uri="{FF2B5EF4-FFF2-40B4-BE49-F238E27FC236}">
                <a16:creationId xmlns:a16="http://schemas.microsoft.com/office/drawing/2014/main" id="{3733DBBA-F77C-50BB-F885-F9AA101D6FFA}"/>
              </a:ext>
            </a:extLst>
          </p:cNvPr>
          <p:cNvCxnSpPr>
            <a:cxnSpLocks/>
          </p:cNvCxnSpPr>
          <p:nvPr/>
        </p:nvCxnSpPr>
        <p:spPr>
          <a:xfrm>
            <a:off x="7792098" y="3511945"/>
            <a:ext cx="1588208" cy="0"/>
          </a:xfrm>
          <a:prstGeom prst="line">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 name="Łącznik prosty 60">
            <a:extLst>
              <a:ext uri="{FF2B5EF4-FFF2-40B4-BE49-F238E27FC236}">
                <a16:creationId xmlns:a16="http://schemas.microsoft.com/office/drawing/2014/main" id="{5344D9E9-5DE0-A702-F748-903135BB313C}"/>
              </a:ext>
            </a:extLst>
          </p:cNvPr>
          <p:cNvCxnSpPr>
            <a:cxnSpLocks/>
            <a:stCxn id="29" idx="6"/>
            <a:endCxn id="54" idx="2"/>
          </p:cNvCxnSpPr>
          <p:nvPr/>
        </p:nvCxnSpPr>
        <p:spPr>
          <a:xfrm flipV="1">
            <a:off x="5681610" y="3564923"/>
            <a:ext cx="1256017" cy="599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pic>
        <p:nvPicPr>
          <p:cNvPr id="65" name="Obraz 64">
            <a:extLst>
              <a:ext uri="{FF2B5EF4-FFF2-40B4-BE49-F238E27FC236}">
                <a16:creationId xmlns:a16="http://schemas.microsoft.com/office/drawing/2014/main" id="{30C7427A-B7BF-86B4-91FE-64F3CCB47C71}"/>
              </a:ext>
            </a:extLst>
          </p:cNvPr>
          <p:cNvPicPr>
            <a:picLocks noChangeAspect="1"/>
          </p:cNvPicPr>
          <p:nvPr/>
        </p:nvPicPr>
        <p:blipFill>
          <a:blip r:embed="rId5"/>
          <a:stretch>
            <a:fillRect/>
          </a:stretch>
        </p:blipFill>
        <p:spPr>
          <a:xfrm>
            <a:off x="7090988" y="3210674"/>
            <a:ext cx="547749" cy="665124"/>
          </a:xfrm>
          <a:prstGeom prst="rect">
            <a:avLst/>
          </a:prstGeom>
        </p:spPr>
      </p:pic>
      <p:sp>
        <p:nvSpPr>
          <p:cNvPr id="66" name="pole tekstowe 65">
            <a:extLst>
              <a:ext uri="{FF2B5EF4-FFF2-40B4-BE49-F238E27FC236}">
                <a16:creationId xmlns:a16="http://schemas.microsoft.com/office/drawing/2014/main" id="{0288D186-977F-D449-F273-2E8290B664F0}"/>
              </a:ext>
            </a:extLst>
          </p:cNvPr>
          <p:cNvSpPr txBox="1"/>
          <p:nvPr/>
        </p:nvSpPr>
        <p:spPr>
          <a:xfrm>
            <a:off x="9423256" y="3327279"/>
            <a:ext cx="1012650" cy="369332"/>
          </a:xfrm>
          <a:prstGeom prst="rect">
            <a:avLst/>
          </a:prstGeom>
          <a:noFill/>
        </p:spPr>
        <p:txBody>
          <a:bodyPr wrap="none" rtlCol="0">
            <a:spAutoFit/>
          </a:bodyPr>
          <a:lstStyle/>
          <a:p>
            <a:r>
              <a:rPr lang="pl-PL" b="1" dirty="0"/>
              <a:t>Wyjście</a:t>
            </a:r>
            <a:endParaRPr lang="en-US" b="1" dirty="0"/>
          </a:p>
        </p:txBody>
      </p:sp>
      <p:sp>
        <p:nvSpPr>
          <p:cNvPr id="68" name="pole tekstowe 67">
            <a:extLst>
              <a:ext uri="{FF2B5EF4-FFF2-40B4-BE49-F238E27FC236}">
                <a16:creationId xmlns:a16="http://schemas.microsoft.com/office/drawing/2014/main" id="{FD2C729F-41D1-9270-3DD9-67051307BB46}"/>
              </a:ext>
            </a:extLst>
          </p:cNvPr>
          <p:cNvSpPr txBox="1"/>
          <p:nvPr/>
        </p:nvSpPr>
        <p:spPr>
          <a:xfrm>
            <a:off x="6868571" y="4123789"/>
            <a:ext cx="1081835" cy="646331"/>
          </a:xfrm>
          <a:prstGeom prst="rect">
            <a:avLst/>
          </a:prstGeom>
          <a:noFill/>
        </p:spPr>
        <p:txBody>
          <a:bodyPr wrap="none" rtlCol="0">
            <a:spAutoFit/>
          </a:bodyPr>
          <a:lstStyle/>
          <a:p>
            <a:pPr algn="ctr"/>
            <a:r>
              <a:rPr lang="pl-PL" b="1" dirty="0"/>
              <a:t>Funkcja</a:t>
            </a:r>
            <a:br>
              <a:rPr lang="pl-PL" b="1" dirty="0"/>
            </a:br>
            <a:r>
              <a:rPr lang="pl-PL" b="1" dirty="0"/>
              <a:t>progowa</a:t>
            </a:r>
            <a:endParaRPr lang="en-US" b="1" dirty="0"/>
          </a:p>
        </p:txBody>
      </p:sp>
      <p:sp>
        <p:nvSpPr>
          <p:cNvPr id="70" name="pole tekstowe 69">
            <a:extLst>
              <a:ext uri="{FF2B5EF4-FFF2-40B4-BE49-F238E27FC236}">
                <a16:creationId xmlns:a16="http://schemas.microsoft.com/office/drawing/2014/main" id="{0B8F2CDD-B704-3107-F68F-23703D6406E3}"/>
              </a:ext>
            </a:extLst>
          </p:cNvPr>
          <p:cNvSpPr txBox="1"/>
          <p:nvPr/>
        </p:nvSpPr>
        <p:spPr>
          <a:xfrm>
            <a:off x="4528986" y="4123789"/>
            <a:ext cx="1450782" cy="923330"/>
          </a:xfrm>
          <a:prstGeom prst="rect">
            <a:avLst/>
          </a:prstGeom>
          <a:noFill/>
        </p:spPr>
        <p:txBody>
          <a:bodyPr wrap="none" rtlCol="0">
            <a:spAutoFit/>
          </a:bodyPr>
          <a:lstStyle/>
          <a:p>
            <a:pPr algn="ctr"/>
            <a:r>
              <a:rPr lang="pl-PL" b="1" dirty="0"/>
              <a:t>Funkcja</a:t>
            </a:r>
            <a:br>
              <a:rPr lang="pl-PL" b="1" dirty="0"/>
            </a:br>
            <a:r>
              <a:rPr lang="pl-PL" b="1" dirty="0"/>
              <a:t>całkowitego</a:t>
            </a:r>
          </a:p>
          <a:p>
            <a:pPr algn="ctr"/>
            <a:r>
              <a:rPr lang="pl-PL" b="1" dirty="0"/>
              <a:t>pobudzenia</a:t>
            </a:r>
            <a:endParaRPr lang="en-US" b="1" dirty="0"/>
          </a:p>
        </p:txBody>
      </p:sp>
      <p:sp>
        <p:nvSpPr>
          <p:cNvPr id="71" name="Prostokąt 70">
            <a:extLst>
              <a:ext uri="{FF2B5EF4-FFF2-40B4-BE49-F238E27FC236}">
                <a16:creationId xmlns:a16="http://schemas.microsoft.com/office/drawing/2014/main" id="{0E4CAC32-8A8B-EC48-4DCD-FF3613AFD537}"/>
              </a:ext>
            </a:extLst>
          </p:cNvPr>
          <p:cNvSpPr/>
          <p:nvPr/>
        </p:nvSpPr>
        <p:spPr>
          <a:xfrm>
            <a:off x="5941071" y="2260315"/>
            <a:ext cx="996556" cy="4970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pole tekstowe 72">
            <a:extLst>
              <a:ext uri="{FF2B5EF4-FFF2-40B4-BE49-F238E27FC236}">
                <a16:creationId xmlns:a16="http://schemas.microsoft.com/office/drawing/2014/main" id="{53F3C892-C208-589D-FBD9-343CDC15A8E5}"/>
              </a:ext>
            </a:extLst>
          </p:cNvPr>
          <p:cNvSpPr txBox="1"/>
          <p:nvPr/>
        </p:nvSpPr>
        <p:spPr>
          <a:xfrm>
            <a:off x="6093452" y="2331653"/>
            <a:ext cx="657552" cy="369332"/>
          </a:xfrm>
          <a:prstGeom prst="rect">
            <a:avLst/>
          </a:prstGeom>
          <a:noFill/>
        </p:spPr>
        <p:txBody>
          <a:bodyPr wrap="none" rtlCol="0">
            <a:spAutoFit/>
          </a:bodyPr>
          <a:lstStyle/>
          <a:p>
            <a:r>
              <a:rPr lang="pl-PL" b="1" dirty="0"/>
              <a:t>Błąd</a:t>
            </a:r>
            <a:endParaRPr lang="en-US" b="1" dirty="0"/>
          </a:p>
        </p:txBody>
      </p:sp>
      <p:cxnSp>
        <p:nvCxnSpPr>
          <p:cNvPr id="75" name="Łącznik: łamany 74">
            <a:extLst>
              <a:ext uri="{FF2B5EF4-FFF2-40B4-BE49-F238E27FC236}">
                <a16:creationId xmlns:a16="http://schemas.microsoft.com/office/drawing/2014/main" id="{2CC73735-D6FB-3453-5FE3-D788E60F1DAB}"/>
              </a:ext>
            </a:extLst>
          </p:cNvPr>
          <p:cNvCxnSpPr>
            <a:cxnSpLocks/>
            <a:endCxn id="71" idx="3"/>
          </p:cNvCxnSpPr>
          <p:nvPr/>
        </p:nvCxnSpPr>
        <p:spPr>
          <a:xfrm rot="10800000">
            <a:off x="6937628" y="2508827"/>
            <a:ext cx="1648575" cy="1003118"/>
          </a:xfrm>
          <a:prstGeom prst="bentConnector3">
            <a:avLst>
              <a:gd name="adj1" fmla="val 2013"/>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2" name="Łącznik prosty 81">
            <a:extLst>
              <a:ext uri="{FF2B5EF4-FFF2-40B4-BE49-F238E27FC236}">
                <a16:creationId xmlns:a16="http://schemas.microsoft.com/office/drawing/2014/main" id="{EE3BCA49-030E-BCB8-ADF4-C6C32748820B}"/>
              </a:ext>
            </a:extLst>
          </p:cNvPr>
          <p:cNvCxnSpPr>
            <a:cxnSpLocks/>
            <a:stCxn id="71" idx="1"/>
          </p:cNvCxnSpPr>
          <p:nvPr/>
        </p:nvCxnSpPr>
        <p:spPr>
          <a:xfrm flipH="1" flipV="1">
            <a:off x="4559817" y="2507757"/>
            <a:ext cx="1381254" cy="1070"/>
          </a:xfrm>
          <a:prstGeom prst="line">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6" name="pole tekstowe 85">
            <a:extLst>
              <a:ext uri="{FF2B5EF4-FFF2-40B4-BE49-F238E27FC236}">
                <a16:creationId xmlns:a16="http://schemas.microsoft.com/office/drawing/2014/main" id="{FEB9A6D9-ABE8-F558-F6EB-C19B1B2091F4}"/>
              </a:ext>
            </a:extLst>
          </p:cNvPr>
          <p:cNvSpPr txBox="1"/>
          <p:nvPr/>
        </p:nvSpPr>
        <p:spPr>
          <a:xfrm>
            <a:off x="4155039" y="1818262"/>
            <a:ext cx="1843582" cy="369332"/>
          </a:xfrm>
          <a:prstGeom prst="rect">
            <a:avLst/>
          </a:prstGeom>
          <a:noFill/>
        </p:spPr>
        <p:txBody>
          <a:bodyPr wrap="none" rtlCol="0">
            <a:spAutoFit/>
          </a:bodyPr>
          <a:lstStyle/>
          <a:p>
            <a:pPr algn="ctr"/>
            <a:r>
              <a:rPr lang="pl-PL" dirty="0"/>
              <a:t>Aktualizacja wag</a:t>
            </a:r>
            <a:endParaRPr lang="en-US" dirty="0"/>
          </a:p>
        </p:txBody>
      </p:sp>
      <p:pic>
        <p:nvPicPr>
          <p:cNvPr id="88" name="Obraz 87">
            <a:extLst>
              <a:ext uri="{FF2B5EF4-FFF2-40B4-BE49-F238E27FC236}">
                <a16:creationId xmlns:a16="http://schemas.microsoft.com/office/drawing/2014/main" id="{A31B2F93-8FF7-FAAE-E336-42413D2739FF}"/>
              </a:ext>
            </a:extLst>
          </p:cNvPr>
          <p:cNvPicPr>
            <a:picLocks noChangeAspect="1"/>
          </p:cNvPicPr>
          <p:nvPr/>
        </p:nvPicPr>
        <p:blipFill>
          <a:blip r:embed="rId6"/>
          <a:stretch>
            <a:fillRect/>
          </a:stretch>
        </p:blipFill>
        <p:spPr>
          <a:xfrm>
            <a:off x="3682261" y="5525567"/>
            <a:ext cx="2289755" cy="1232944"/>
          </a:xfrm>
          <a:prstGeom prst="rect">
            <a:avLst/>
          </a:prstGeom>
        </p:spPr>
      </p:pic>
      <p:pic>
        <p:nvPicPr>
          <p:cNvPr id="92" name="Obraz 91">
            <a:extLst>
              <a:ext uri="{FF2B5EF4-FFF2-40B4-BE49-F238E27FC236}">
                <a16:creationId xmlns:a16="http://schemas.microsoft.com/office/drawing/2014/main" id="{C1A1C602-E378-F4C6-F870-C5374CED0846}"/>
              </a:ext>
            </a:extLst>
          </p:cNvPr>
          <p:cNvPicPr>
            <a:picLocks noChangeAspect="1"/>
          </p:cNvPicPr>
          <p:nvPr/>
        </p:nvPicPr>
        <p:blipFill>
          <a:blip r:embed="rId7"/>
          <a:stretch>
            <a:fillRect/>
          </a:stretch>
        </p:blipFill>
        <p:spPr>
          <a:xfrm>
            <a:off x="2942795" y="1091820"/>
            <a:ext cx="540144" cy="569342"/>
          </a:xfrm>
          <a:prstGeom prst="rect">
            <a:avLst/>
          </a:prstGeom>
        </p:spPr>
      </p:pic>
      <p:pic>
        <p:nvPicPr>
          <p:cNvPr id="94" name="Obraz 93">
            <a:extLst>
              <a:ext uri="{FF2B5EF4-FFF2-40B4-BE49-F238E27FC236}">
                <a16:creationId xmlns:a16="http://schemas.microsoft.com/office/drawing/2014/main" id="{22C4E177-530C-3751-34DA-7217ED056471}"/>
              </a:ext>
            </a:extLst>
          </p:cNvPr>
          <p:cNvPicPr>
            <a:picLocks noChangeAspect="1"/>
          </p:cNvPicPr>
          <p:nvPr/>
        </p:nvPicPr>
        <p:blipFill>
          <a:blip r:embed="rId8"/>
          <a:stretch>
            <a:fillRect/>
          </a:stretch>
        </p:blipFill>
        <p:spPr>
          <a:xfrm>
            <a:off x="6218859" y="5625104"/>
            <a:ext cx="5602716" cy="800388"/>
          </a:xfrm>
          <a:prstGeom prst="rect">
            <a:avLst/>
          </a:prstGeom>
        </p:spPr>
      </p:pic>
      <p:pic>
        <p:nvPicPr>
          <p:cNvPr id="96" name="Obraz 95">
            <a:extLst>
              <a:ext uri="{FF2B5EF4-FFF2-40B4-BE49-F238E27FC236}">
                <a16:creationId xmlns:a16="http://schemas.microsoft.com/office/drawing/2014/main" id="{924E8E57-8A57-C74C-BB09-37CB1E2445D6}"/>
              </a:ext>
            </a:extLst>
          </p:cNvPr>
          <p:cNvPicPr>
            <a:picLocks noChangeAspect="1"/>
          </p:cNvPicPr>
          <p:nvPr/>
        </p:nvPicPr>
        <p:blipFill>
          <a:blip r:embed="rId9"/>
          <a:stretch>
            <a:fillRect/>
          </a:stretch>
        </p:blipFill>
        <p:spPr>
          <a:xfrm>
            <a:off x="8419440" y="1086021"/>
            <a:ext cx="3101797" cy="1101573"/>
          </a:xfrm>
          <a:prstGeom prst="rect">
            <a:avLst/>
          </a:prstGeom>
        </p:spPr>
      </p:pic>
      <p:cxnSp>
        <p:nvCxnSpPr>
          <p:cNvPr id="98" name="Łącznik prosty ze strzałką 97">
            <a:extLst>
              <a:ext uri="{FF2B5EF4-FFF2-40B4-BE49-F238E27FC236}">
                <a16:creationId xmlns:a16="http://schemas.microsoft.com/office/drawing/2014/main" id="{80B6D66F-3797-4939-8F15-BD367F859769}"/>
              </a:ext>
            </a:extLst>
          </p:cNvPr>
          <p:cNvCxnSpPr>
            <a:cxnSpLocks/>
          </p:cNvCxnSpPr>
          <p:nvPr/>
        </p:nvCxnSpPr>
        <p:spPr>
          <a:xfrm flipH="1">
            <a:off x="8065820" y="2095721"/>
            <a:ext cx="1314486" cy="960418"/>
          </a:xfrm>
          <a:prstGeom prst="straightConnector1">
            <a:avLst/>
          </a:prstGeom>
          <a:ln w="50800">
            <a:solidFill>
              <a:srgbClr val="00B050"/>
            </a:solidFill>
            <a:prstDash val="lgDash"/>
            <a:tailEnd type="triangle"/>
          </a:ln>
        </p:spPr>
        <p:style>
          <a:lnRef idx="2">
            <a:schemeClr val="accent1"/>
          </a:lnRef>
          <a:fillRef idx="0">
            <a:schemeClr val="accent1"/>
          </a:fillRef>
          <a:effectRef idx="1">
            <a:schemeClr val="accent1"/>
          </a:effectRef>
          <a:fontRef idx="minor">
            <a:schemeClr val="tx1"/>
          </a:fontRef>
        </p:style>
      </p:cxnSp>
      <p:cxnSp>
        <p:nvCxnSpPr>
          <p:cNvPr id="101" name="Łącznik prosty ze strzałką 100">
            <a:extLst>
              <a:ext uri="{FF2B5EF4-FFF2-40B4-BE49-F238E27FC236}">
                <a16:creationId xmlns:a16="http://schemas.microsoft.com/office/drawing/2014/main" id="{5B79DD63-84D7-9CC9-12AE-40E55579F34C}"/>
              </a:ext>
            </a:extLst>
          </p:cNvPr>
          <p:cNvCxnSpPr>
            <a:cxnSpLocks/>
          </p:cNvCxnSpPr>
          <p:nvPr/>
        </p:nvCxnSpPr>
        <p:spPr>
          <a:xfrm flipH="1" flipV="1">
            <a:off x="5941071" y="5141952"/>
            <a:ext cx="1911626" cy="596971"/>
          </a:xfrm>
          <a:prstGeom prst="straightConnector1">
            <a:avLst/>
          </a:prstGeom>
          <a:ln w="50800">
            <a:solidFill>
              <a:srgbClr val="FF0000"/>
            </a:solidFill>
            <a:prstDash val="lgDash"/>
            <a:tailEnd type="triangle"/>
          </a:ln>
        </p:spPr>
        <p:style>
          <a:lnRef idx="2">
            <a:schemeClr val="accent1"/>
          </a:lnRef>
          <a:fillRef idx="0">
            <a:schemeClr val="accent1"/>
          </a:fillRef>
          <a:effectRef idx="1">
            <a:schemeClr val="accent1"/>
          </a:effectRef>
          <a:fontRef idx="minor">
            <a:schemeClr val="tx1"/>
          </a:fontRef>
        </p:style>
      </p:cxnSp>
      <p:cxnSp>
        <p:nvCxnSpPr>
          <p:cNvPr id="105" name="Łącznik prosty ze strzałką 104">
            <a:extLst>
              <a:ext uri="{FF2B5EF4-FFF2-40B4-BE49-F238E27FC236}">
                <a16:creationId xmlns:a16="http://schemas.microsoft.com/office/drawing/2014/main" id="{E3E242D0-7557-9E3A-8F10-F02D716AE43B}"/>
              </a:ext>
            </a:extLst>
          </p:cNvPr>
          <p:cNvCxnSpPr>
            <a:cxnSpLocks/>
            <a:stCxn id="88" idx="1"/>
          </p:cNvCxnSpPr>
          <p:nvPr/>
        </p:nvCxnSpPr>
        <p:spPr>
          <a:xfrm flipH="1" flipV="1">
            <a:off x="3212867" y="5525567"/>
            <a:ext cx="469394" cy="616472"/>
          </a:xfrm>
          <a:prstGeom prst="straightConnector1">
            <a:avLst/>
          </a:prstGeom>
          <a:ln w="50800">
            <a:solidFill>
              <a:srgbClr val="0070C0"/>
            </a:solidFill>
            <a:prstDash val="lg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225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19C5ED21-6932-2D43-0E69-C11AB31F9421}"/>
              </a:ext>
            </a:extLst>
          </p:cNvPr>
          <p:cNvSpPr txBox="1"/>
          <p:nvPr/>
        </p:nvSpPr>
        <p:spPr>
          <a:xfrm>
            <a:off x="2368296" y="191125"/>
            <a:ext cx="8650224" cy="646331"/>
          </a:xfrm>
          <a:prstGeom prst="rect">
            <a:avLst/>
          </a:prstGeom>
          <a:noFill/>
        </p:spPr>
        <p:txBody>
          <a:bodyPr wrap="square">
            <a:spAutoFit/>
          </a:bodyPr>
          <a:lstStyle/>
          <a:p>
            <a:r>
              <a:rPr lang="pl-PL" sz="3600" dirty="0"/>
              <a:t>Sieć neuronowa – jak ona wygląda?</a:t>
            </a:r>
            <a:endParaRPr lang="en-US" sz="3600" dirty="0"/>
          </a:p>
        </p:txBody>
      </p:sp>
      <p:pic>
        <p:nvPicPr>
          <p:cNvPr id="9" name="Obraz 8">
            <a:extLst>
              <a:ext uri="{FF2B5EF4-FFF2-40B4-BE49-F238E27FC236}">
                <a16:creationId xmlns:a16="http://schemas.microsoft.com/office/drawing/2014/main" id="{A6CF649A-06CB-B28B-8647-48BA276F2A6C}"/>
              </a:ext>
            </a:extLst>
          </p:cNvPr>
          <p:cNvPicPr>
            <a:picLocks noChangeAspect="1"/>
          </p:cNvPicPr>
          <p:nvPr/>
        </p:nvPicPr>
        <p:blipFill>
          <a:blip r:embed="rId3"/>
          <a:stretch>
            <a:fillRect/>
          </a:stretch>
        </p:blipFill>
        <p:spPr>
          <a:xfrm>
            <a:off x="2904931" y="1457416"/>
            <a:ext cx="8933280" cy="3943168"/>
          </a:xfrm>
          <a:prstGeom prst="rect">
            <a:avLst/>
          </a:prstGeom>
          <a:ln w="53975">
            <a:solidFill>
              <a:schemeClr val="tx1"/>
            </a:solidFill>
          </a:ln>
        </p:spPr>
      </p:pic>
      <p:sp>
        <p:nvSpPr>
          <p:cNvPr id="10" name="pole tekstowe 9">
            <a:extLst>
              <a:ext uri="{FF2B5EF4-FFF2-40B4-BE49-F238E27FC236}">
                <a16:creationId xmlns:a16="http://schemas.microsoft.com/office/drawing/2014/main" id="{3ACF6A6B-EDAA-A00B-8A0E-91A63ED309AE}"/>
              </a:ext>
            </a:extLst>
          </p:cNvPr>
          <p:cNvSpPr txBox="1"/>
          <p:nvPr/>
        </p:nvSpPr>
        <p:spPr>
          <a:xfrm>
            <a:off x="3814350" y="5633267"/>
            <a:ext cx="2088777" cy="523220"/>
          </a:xfrm>
          <a:prstGeom prst="rect">
            <a:avLst/>
          </a:prstGeom>
          <a:noFill/>
        </p:spPr>
        <p:txBody>
          <a:bodyPr wrap="none" rtlCol="0">
            <a:spAutoFit/>
          </a:bodyPr>
          <a:lstStyle/>
          <a:p>
            <a:pPr algn="ctr"/>
            <a:r>
              <a:rPr lang="pl-PL" sz="1400" b="1" dirty="0"/>
              <a:t>Warstwa pierwsza</a:t>
            </a:r>
            <a:br>
              <a:rPr lang="pl-PL" sz="1400" dirty="0"/>
            </a:br>
            <a:r>
              <a:rPr lang="pl-PL" sz="1400" dirty="0"/>
              <a:t>(warstwa wejściowa we) </a:t>
            </a:r>
            <a:endParaRPr lang="en-US" sz="1400" dirty="0"/>
          </a:p>
        </p:txBody>
      </p:sp>
      <p:sp>
        <p:nvSpPr>
          <p:cNvPr id="12" name="pole tekstowe 11">
            <a:extLst>
              <a:ext uri="{FF2B5EF4-FFF2-40B4-BE49-F238E27FC236}">
                <a16:creationId xmlns:a16="http://schemas.microsoft.com/office/drawing/2014/main" id="{8D2AAED6-0CE0-3ACB-1A14-8BB61FB23E95}"/>
              </a:ext>
            </a:extLst>
          </p:cNvPr>
          <p:cNvSpPr txBox="1"/>
          <p:nvPr/>
        </p:nvSpPr>
        <p:spPr>
          <a:xfrm>
            <a:off x="6392337" y="5633267"/>
            <a:ext cx="1638142" cy="523220"/>
          </a:xfrm>
          <a:prstGeom prst="rect">
            <a:avLst/>
          </a:prstGeom>
          <a:noFill/>
        </p:spPr>
        <p:txBody>
          <a:bodyPr wrap="none" rtlCol="0">
            <a:spAutoFit/>
          </a:bodyPr>
          <a:lstStyle/>
          <a:p>
            <a:pPr algn="ctr"/>
            <a:r>
              <a:rPr lang="pl-PL" sz="1400" b="1" dirty="0"/>
              <a:t>Warstwa druga</a:t>
            </a:r>
            <a:br>
              <a:rPr lang="pl-PL" sz="1400" dirty="0"/>
            </a:br>
            <a:r>
              <a:rPr lang="pl-PL" sz="1400" dirty="0"/>
              <a:t>(warstwa ukryta h) </a:t>
            </a:r>
            <a:endParaRPr lang="en-US" sz="1400" dirty="0"/>
          </a:p>
        </p:txBody>
      </p:sp>
      <p:sp>
        <p:nvSpPr>
          <p:cNvPr id="14" name="pole tekstowe 13">
            <a:extLst>
              <a:ext uri="{FF2B5EF4-FFF2-40B4-BE49-F238E27FC236}">
                <a16:creationId xmlns:a16="http://schemas.microsoft.com/office/drawing/2014/main" id="{F81FC3F2-7469-1650-1CD7-CB01D43218D8}"/>
              </a:ext>
            </a:extLst>
          </p:cNvPr>
          <p:cNvSpPr txBox="1"/>
          <p:nvPr/>
        </p:nvSpPr>
        <p:spPr>
          <a:xfrm>
            <a:off x="8212323" y="5633267"/>
            <a:ext cx="2066592" cy="523220"/>
          </a:xfrm>
          <a:prstGeom prst="rect">
            <a:avLst/>
          </a:prstGeom>
          <a:noFill/>
        </p:spPr>
        <p:txBody>
          <a:bodyPr wrap="none" rtlCol="0">
            <a:spAutoFit/>
          </a:bodyPr>
          <a:lstStyle/>
          <a:p>
            <a:pPr algn="ctr"/>
            <a:r>
              <a:rPr lang="pl-PL" sz="1400" b="1" dirty="0"/>
              <a:t>Warstwa druga</a:t>
            </a:r>
            <a:br>
              <a:rPr lang="pl-PL" sz="1400" dirty="0"/>
            </a:br>
            <a:r>
              <a:rPr lang="pl-PL" sz="1400" dirty="0"/>
              <a:t>(warstwa wyjściowa wy) </a:t>
            </a:r>
            <a:endParaRPr lang="en-US" sz="1400" dirty="0"/>
          </a:p>
        </p:txBody>
      </p:sp>
      <p:sp>
        <p:nvSpPr>
          <p:cNvPr id="16" name="pole tekstowe 15">
            <a:extLst>
              <a:ext uri="{FF2B5EF4-FFF2-40B4-BE49-F238E27FC236}">
                <a16:creationId xmlns:a16="http://schemas.microsoft.com/office/drawing/2014/main" id="{4228F451-24F9-79B3-4A2D-66E1B0B0FBCB}"/>
              </a:ext>
            </a:extLst>
          </p:cNvPr>
          <p:cNvSpPr txBox="1"/>
          <p:nvPr/>
        </p:nvSpPr>
        <p:spPr>
          <a:xfrm>
            <a:off x="3046459" y="879409"/>
            <a:ext cx="8650224" cy="523220"/>
          </a:xfrm>
          <a:prstGeom prst="rect">
            <a:avLst/>
          </a:prstGeom>
          <a:noFill/>
        </p:spPr>
        <p:txBody>
          <a:bodyPr wrap="square">
            <a:spAutoFit/>
          </a:bodyPr>
          <a:lstStyle/>
          <a:p>
            <a:pPr algn="ctr"/>
            <a:r>
              <a:rPr lang="pl-PL" sz="2800" dirty="0">
                <a:solidFill>
                  <a:schemeClr val="accent1"/>
                </a:solidFill>
              </a:rPr>
              <a:t>Multi - </a:t>
            </a:r>
            <a:r>
              <a:rPr lang="pl-PL" sz="2800" dirty="0" err="1">
                <a:solidFill>
                  <a:schemeClr val="accent1"/>
                </a:solidFill>
              </a:rPr>
              <a:t>layer</a:t>
            </a:r>
            <a:r>
              <a:rPr lang="pl-PL" sz="2800" dirty="0">
                <a:solidFill>
                  <a:schemeClr val="accent1"/>
                </a:solidFill>
              </a:rPr>
              <a:t> percepton (MLP)</a:t>
            </a:r>
            <a:endParaRPr lang="en-US" sz="2800" dirty="0">
              <a:solidFill>
                <a:schemeClr val="accent1"/>
              </a:solidFill>
            </a:endParaRPr>
          </a:p>
        </p:txBody>
      </p:sp>
      <p:grpSp>
        <p:nvGrpSpPr>
          <p:cNvPr id="35" name="Grupa 34">
            <a:extLst>
              <a:ext uri="{FF2B5EF4-FFF2-40B4-BE49-F238E27FC236}">
                <a16:creationId xmlns:a16="http://schemas.microsoft.com/office/drawing/2014/main" id="{A49E5C96-E194-90F5-3ECF-99A6786837DF}"/>
              </a:ext>
            </a:extLst>
          </p:cNvPr>
          <p:cNvGrpSpPr/>
          <p:nvPr/>
        </p:nvGrpSpPr>
        <p:grpSpPr>
          <a:xfrm>
            <a:off x="353789" y="1148809"/>
            <a:ext cx="2350752" cy="2877109"/>
            <a:chOff x="472863" y="1578451"/>
            <a:chExt cx="2596049" cy="2877109"/>
          </a:xfrm>
          <a:noFill/>
        </p:grpSpPr>
        <p:pic>
          <p:nvPicPr>
            <p:cNvPr id="20" name="Obraz 19">
              <a:extLst>
                <a:ext uri="{FF2B5EF4-FFF2-40B4-BE49-F238E27FC236}">
                  <a16:creationId xmlns:a16="http://schemas.microsoft.com/office/drawing/2014/main" id="{7172521D-D17A-80B4-6BFF-29CC9AAADDC9}"/>
                </a:ext>
              </a:extLst>
            </p:cNvPr>
            <p:cNvPicPr>
              <a:picLocks noChangeAspect="1"/>
            </p:cNvPicPr>
            <p:nvPr/>
          </p:nvPicPr>
          <p:blipFill>
            <a:blip r:embed="rId4"/>
            <a:stretch>
              <a:fillRect/>
            </a:stretch>
          </p:blipFill>
          <p:spPr>
            <a:xfrm>
              <a:off x="742802" y="1578451"/>
              <a:ext cx="1762346" cy="728872"/>
            </a:xfrm>
            <a:prstGeom prst="rect">
              <a:avLst/>
            </a:prstGeom>
            <a:grpFill/>
            <a:ln>
              <a:noFill/>
            </a:ln>
          </p:spPr>
        </p:pic>
        <p:pic>
          <p:nvPicPr>
            <p:cNvPr id="22" name="Obraz 21">
              <a:extLst>
                <a:ext uri="{FF2B5EF4-FFF2-40B4-BE49-F238E27FC236}">
                  <a16:creationId xmlns:a16="http://schemas.microsoft.com/office/drawing/2014/main" id="{980201B9-8E51-BAE8-7068-DE38549954BF}"/>
                </a:ext>
              </a:extLst>
            </p:cNvPr>
            <p:cNvPicPr>
              <a:picLocks noChangeAspect="1"/>
            </p:cNvPicPr>
            <p:nvPr/>
          </p:nvPicPr>
          <p:blipFill>
            <a:blip r:embed="rId5"/>
            <a:stretch>
              <a:fillRect/>
            </a:stretch>
          </p:blipFill>
          <p:spPr>
            <a:xfrm>
              <a:off x="752410" y="2466640"/>
              <a:ext cx="1790366" cy="387389"/>
            </a:xfrm>
            <a:prstGeom prst="rect">
              <a:avLst/>
            </a:prstGeom>
            <a:grpFill/>
            <a:ln>
              <a:noFill/>
            </a:ln>
          </p:spPr>
        </p:pic>
        <p:pic>
          <p:nvPicPr>
            <p:cNvPr id="24" name="Obraz 23">
              <a:extLst>
                <a:ext uri="{FF2B5EF4-FFF2-40B4-BE49-F238E27FC236}">
                  <a16:creationId xmlns:a16="http://schemas.microsoft.com/office/drawing/2014/main" id="{B4F84952-3AAC-28D8-B6D8-48D8E95DD391}"/>
                </a:ext>
              </a:extLst>
            </p:cNvPr>
            <p:cNvPicPr>
              <a:picLocks noChangeAspect="1"/>
            </p:cNvPicPr>
            <p:nvPr/>
          </p:nvPicPr>
          <p:blipFill>
            <a:blip r:embed="rId6"/>
            <a:stretch>
              <a:fillRect/>
            </a:stretch>
          </p:blipFill>
          <p:spPr>
            <a:xfrm>
              <a:off x="872820" y="2924894"/>
              <a:ext cx="1254397" cy="387388"/>
            </a:xfrm>
            <a:prstGeom prst="rect">
              <a:avLst/>
            </a:prstGeom>
            <a:grpFill/>
            <a:ln>
              <a:noFill/>
            </a:ln>
          </p:spPr>
        </p:pic>
        <p:pic>
          <p:nvPicPr>
            <p:cNvPr id="26" name="Obraz 25">
              <a:extLst>
                <a:ext uri="{FF2B5EF4-FFF2-40B4-BE49-F238E27FC236}">
                  <a16:creationId xmlns:a16="http://schemas.microsoft.com/office/drawing/2014/main" id="{62EEFC03-4458-1F02-F437-3AF8DFD7565C}"/>
                </a:ext>
              </a:extLst>
            </p:cNvPr>
            <p:cNvPicPr>
              <a:picLocks noChangeAspect="1"/>
            </p:cNvPicPr>
            <p:nvPr/>
          </p:nvPicPr>
          <p:blipFill>
            <a:blip r:embed="rId7"/>
            <a:stretch>
              <a:fillRect/>
            </a:stretch>
          </p:blipFill>
          <p:spPr>
            <a:xfrm>
              <a:off x="752410" y="3471599"/>
              <a:ext cx="1752738" cy="366391"/>
            </a:xfrm>
            <a:prstGeom prst="rect">
              <a:avLst/>
            </a:prstGeom>
            <a:grpFill/>
            <a:ln>
              <a:noFill/>
            </a:ln>
          </p:spPr>
        </p:pic>
        <p:pic>
          <p:nvPicPr>
            <p:cNvPr id="28" name="Obraz 27">
              <a:extLst>
                <a:ext uri="{FF2B5EF4-FFF2-40B4-BE49-F238E27FC236}">
                  <a16:creationId xmlns:a16="http://schemas.microsoft.com/office/drawing/2014/main" id="{CA63C180-25F8-9B5C-B4D1-1FC920767A47}"/>
                </a:ext>
              </a:extLst>
            </p:cNvPr>
            <p:cNvPicPr>
              <a:picLocks noChangeAspect="1"/>
            </p:cNvPicPr>
            <p:nvPr/>
          </p:nvPicPr>
          <p:blipFill>
            <a:blip r:embed="rId8"/>
            <a:stretch>
              <a:fillRect/>
            </a:stretch>
          </p:blipFill>
          <p:spPr>
            <a:xfrm>
              <a:off x="472863" y="4016103"/>
              <a:ext cx="2596049" cy="439457"/>
            </a:xfrm>
            <a:prstGeom prst="rect">
              <a:avLst/>
            </a:prstGeom>
            <a:grpFill/>
            <a:ln>
              <a:noFill/>
            </a:ln>
          </p:spPr>
        </p:pic>
      </p:grpSp>
      <p:sp>
        <p:nvSpPr>
          <p:cNvPr id="30" name="pole tekstowe 29">
            <a:extLst>
              <a:ext uri="{FF2B5EF4-FFF2-40B4-BE49-F238E27FC236}">
                <a16:creationId xmlns:a16="http://schemas.microsoft.com/office/drawing/2014/main" id="{52FFDE99-40B1-4C9F-BCDF-50A5BFFA67E8}"/>
              </a:ext>
            </a:extLst>
          </p:cNvPr>
          <p:cNvSpPr txBox="1"/>
          <p:nvPr/>
        </p:nvSpPr>
        <p:spPr>
          <a:xfrm>
            <a:off x="-190350" y="5562158"/>
            <a:ext cx="3515490" cy="1015663"/>
          </a:xfrm>
          <a:prstGeom prst="rect">
            <a:avLst/>
          </a:prstGeom>
          <a:noFill/>
        </p:spPr>
        <p:txBody>
          <a:bodyPr wrap="square" rtlCol="0">
            <a:spAutoFit/>
          </a:bodyPr>
          <a:lstStyle/>
          <a:p>
            <a:pPr algn="ctr"/>
            <a:r>
              <a:rPr lang="pl-PL" sz="2000" dirty="0">
                <a:solidFill>
                  <a:srgbClr val="00B050"/>
                </a:solidFill>
              </a:rPr>
              <a:t> Mnożenie macierzy + </a:t>
            </a:r>
            <a:br>
              <a:rPr lang="pl-PL" sz="2000" dirty="0">
                <a:solidFill>
                  <a:srgbClr val="00B050"/>
                </a:solidFill>
              </a:rPr>
            </a:br>
            <a:r>
              <a:rPr lang="pl-PL" sz="2000" dirty="0">
                <a:solidFill>
                  <a:srgbClr val="00B050"/>
                </a:solidFill>
              </a:rPr>
              <a:t>Wykonanie funkcji na macierzy</a:t>
            </a:r>
            <a:endParaRPr lang="en-US" sz="2000" dirty="0">
              <a:solidFill>
                <a:srgbClr val="00B050"/>
              </a:solidFill>
            </a:endParaRPr>
          </a:p>
        </p:txBody>
      </p:sp>
      <p:cxnSp>
        <p:nvCxnSpPr>
          <p:cNvPr id="32" name="Łącznik prosty ze strzałką 31">
            <a:extLst>
              <a:ext uri="{FF2B5EF4-FFF2-40B4-BE49-F238E27FC236}">
                <a16:creationId xmlns:a16="http://schemas.microsoft.com/office/drawing/2014/main" id="{CED1BE6D-C1FD-8685-2825-45185186BC6B}"/>
              </a:ext>
            </a:extLst>
          </p:cNvPr>
          <p:cNvCxnSpPr>
            <a:cxnSpLocks/>
          </p:cNvCxnSpPr>
          <p:nvPr/>
        </p:nvCxnSpPr>
        <p:spPr>
          <a:xfrm flipV="1">
            <a:off x="1598876" y="4557915"/>
            <a:ext cx="0" cy="928485"/>
          </a:xfrm>
          <a:prstGeom prst="straightConnector1">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8668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FC2D9-F7B0-7A77-8720-C5AC5D1B7D3F}"/>
            </a:ext>
          </a:extLst>
        </p:cNvPr>
        <p:cNvGrpSpPr/>
        <p:nvPr/>
      </p:nvGrpSpPr>
      <p:grpSpPr>
        <a:xfrm>
          <a:off x="0" y="0"/>
          <a:ext cx="0" cy="0"/>
          <a:chOff x="0" y="0"/>
          <a:chExt cx="0" cy="0"/>
        </a:xfrm>
      </p:grpSpPr>
      <p:sp>
        <p:nvSpPr>
          <p:cNvPr id="7" name="pole tekstowe 6">
            <a:extLst>
              <a:ext uri="{FF2B5EF4-FFF2-40B4-BE49-F238E27FC236}">
                <a16:creationId xmlns:a16="http://schemas.microsoft.com/office/drawing/2014/main" id="{AA3FB862-B637-7415-CA86-7825EE316396}"/>
              </a:ext>
            </a:extLst>
          </p:cNvPr>
          <p:cNvSpPr txBox="1"/>
          <p:nvPr/>
        </p:nvSpPr>
        <p:spPr>
          <a:xfrm>
            <a:off x="1216152" y="72253"/>
            <a:ext cx="9921240" cy="646331"/>
          </a:xfrm>
          <a:prstGeom prst="rect">
            <a:avLst/>
          </a:prstGeom>
          <a:noFill/>
        </p:spPr>
        <p:txBody>
          <a:bodyPr wrap="square">
            <a:spAutoFit/>
          </a:bodyPr>
          <a:lstStyle/>
          <a:p>
            <a:pPr algn="ctr"/>
            <a:r>
              <a:rPr lang="pl-PL" sz="3600" dirty="0"/>
              <a:t>Proces uczenia się/trenowania sieci</a:t>
            </a:r>
          </a:p>
        </p:txBody>
      </p:sp>
      <p:pic>
        <p:nvPicPr>
          <p:cNvPr id="3" name="Graphic 23" descr="Cloud Computing with solid fill">
            <a:extLst>
              <a:ext uri="{FF2B5EF4-FFF2-40B4-BE49-F238E27FC236}">
                <a16:creationId xmlns:a16="http://schemas.microsoft.com/office/drawing/2014/main" id="{80BB3799-9180-F6DF-8F51-D77C703DC9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62277" y="1584753"/>
            <a:ext cx="1834626" cy="1834626"/>
          </a:xfrm>
          <a:prstGeom prst="rect">
            <a:avLst/>
          </a:prstGeom>
        </p:spPr>
      </p:pic>
      <p:grpSp>
        <p:nvGrpSpPr>
          <p:cNvPr id="12" name="Grupa 11">
            <a:extLst>
              <a:ext uri="{FF2B5EF4-FFF2-40B4-BE49-F238E27FC236}">
                <a16:creationId xmlns:a16="http://schemas.microsoft.com/office/drawing/2014/main" id="{AF3C3D7E-DB66-3428-0B4C-2886B1D6A3B0}"/>
              </a:ext>
            </a:extLst>
          </p:cNvPr>
          <p:cNvGrpSpPr/>
          <p:nvPr/>
        </p:nvGrpSpPr>
        <p:grpSpPr>
          <a:xfrm>
            <a:off x="513708" y="1747637"/>
            <a:ext cx="2028757" cy="869772"/>
            <a:chOff x="936534" y="1747638"/>
            <a:chExt cx="1435406" cy="826772"/>
          </a:xfrm>
        </p:grpSpPr>
        <p:sp>
          <p:nvSpPr>
            <p:cNvPr id="10" name="Rectangle 6">
              <a:extLst>
                <a:ext uri="{FF2B5EF4-FFF2-40B4-BE49-F238E27FC236}">
                  <a16:creationId xmlns:a16="http://schemas.microsoft.com/office/drawing/2014/main" id="{D136A86F-BB31-8D2A-0A83-25DFF898C6A1}"/>
                </a:ext>
              </a:extLst>
            </p:cNvPr>
            <p:cNvSpPr/>
            <p:nvPr/>
          </p:nvSpPr>
          <p:spPr>
            <a:xfrm>
              <a:off x="936534" y="1747638"/>
              <a:ext cx="1323781" cy="70788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ole tekstowe 10">
              <a:extLst>
                <a:ext uri="{FF2B5EF4-FFF2-40B4-BE49-F238E27FC236}">
                  <a16:creationId xmlns:a16="http://schemas.microsoft.com/office/drawing/2014/main" id="{2F8731ED-C5FD-7D8F-8085-9294892C241A}"/>
                </a:ext>
              </a:extLst>
            </p:cNvPr>
            <p:cNvSpPr txBox="1"/>
            <p:nvPr/>
          </p:nvSpPr>
          <p:spPr>
            <a:xfrm>
              <a:off x="976240" y="1928079"/>
              <a:ext cx="1395700" cy="646331"/>
            </a:xfrm>
            <a:prstGeom prst="rect">
              <a:avLst/>
            </a:prstGeom>
            <a:noFill/>
          </p:spPr>
          <p:txBody>
            <a:bodyPr wrap="square" rtlCol="0">
              <a:spAutoFit/>
            </a:bodyPr>
            <a:lstStyle/>
            <a:p>
              <a:r>
                <a:rPr lang="pl-PL" dirty="0"/>
                <a:t>Dane treningowe</a:t>
              </a:r>
              <a:endParaRPr lang="en-US" dirty="0"/>
            </a:p>
          </p:txBody>
        </p:sp>
      </p:grpSp>
      <p:sp>
        <p:nvSpPr>
          <p:cNvPr id="13" name="Strzałka: w prawo 12">
            <a:extLst>
              <a:ext uri="{FF2B5EF4-FFF2-40B4-BE49-F238E27FC236}">
                <a16:creationId xmlns:a16="http://schemas.microsoft.com/office/drawing/2014/main" id="{D6F23B52-B349-F946-39F2-7D8EC087737F}"/>
              </a:ext>
            </a:extLst>
          </p:cNvPr>
          <p:cNvSpPr/>
          <p:nvPr/>
        </p:nvSpPr>
        <p:spPr>
          <a:xfrm>
            <a:off x="2593289" y="2009057"/>
            <a:ext cx="2421148" cy="284285"/>
          </a:xfrm>
          <a:prstGeom prst="rightArrow">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ole tekstowe 14">
            <a:extLst>
              <a:ext uri="{FF2B5EF4-FFF2-40B4-BE49-F238E27FC236}">
                <a16:creationId xmlns:a16="http://schemas.microsoft.com/office/drawing/2014/main" id="{A0FDF918-044F-B16A-52F2-37C1A9979F74}"/>
              </a:ext>
            </a:extLst>
          </p:cNvPr>
          <p:cNvSpPr txBox="1"/>
          <p:nvPr/>
        </p:nvSpPr>
        <p:spPr>
          <a:xfrm>
            <a:off x="3135196" y="1667703"/>
            <a:ext cx="1683399" cy="369332"/>
          </a:xfrm>
          <a:prstGeom prst="rect">
            <a:avLst/>
          </a:prstGeom>
          <a:noFill/>
        </p:spPr>
        <p:txBody>
          <a:bodyPr wrap="square" rtlCol="0">
            <a:spAutoFit/>
          </a:bodyPr>
          <a:lstStyle/>
          <a:p>
            <a:r>
              <a:rPr lang="pl-PL" dirty="0"/>
              <a:t>Trenowanie</a:t>
            </a:r>
            <a:endParaRPr lang="en-US" dirty="0"/>
          </a:p>
        </p:txBody>
      </p:sp>
      <p:sp>
        <p:nvSpPr>
          <p:cNvPr id="19" name="pole tekstowe 18">
            <a:extLst>
              <a:ext uri="{FF2B5EF4-FFF2-40B4-BE49-F238E27FC236}">
                <a16:creationId xmlns:a16="http://schemas.microsoft.com/office/drawing/2014/main" id="{AA51E95E-6BFC-2FC5-AA25-72B1B7687600}"/>
              </a:ext>
            </a:extLst>
          </p:cNvPr>
          <p:cNvSpPr txBox="1"/>
          <p:nvPr/>
        </p:nvSpPr>
        <p:spPr>
          <a:xfrm>
            <a:off x="4572418" y="3337478"/>
            <a:ext cx="3273879" cy="954107"/>
          </a:xfrm>
          <a:prstGeom prst="rect">
            <a:avLst/>
          </a:prstGeom>
          <a:noFill/>
        </p:spPr>
        <p:txBody>
          <a:bodyPr wrap="square" rtlCol="0">
            <a:spAutoFit/>
          </a:bodyPr>
          <a:lstStyle/>
          <a:p>
            <a:pPr algn="ctr"/>
            <a:r>
              <a:rPr lang="pl-PL" sz="2800" b="1" dirty="0"/>
              <a:t>Sieć neuronowa</a:t>
            </a:r>
            <a:br>
              <a:rPr lang="pl-PL" sz="2800" b="1" dirty="0"/>
            </a:br>
            <a:r>
              <a:rPr lang="pl-PL" sz="2800" b="1" dirty="0"/>
              <a:t> (hiperparametry) </a:t>
            </a:r>
            <a:endParaRPr lang="en-US" sz="2800" b="1" dirty="0"/>
          </a:p>
        </p:txBody>
      </p:sp>
      <p:grpSp>
        <p:nvGrpSpPr>
          <p:cNvPr id="22" name="Grupa 21">
            <a:extLst>
              <a:ext uri="{FF2B5EF4-FFF2-40B4-BE49-F238E27FC236}">
                <a16:creationId xmlns:a16="http://schemas.microsoft.com/office/drawing/2014/main" id="{3C18C3BC-7483-0A17-6548-89AFFE248E2E}"/>
              </a:ext>
            </a:extLst>
          </p:cNvPr>
          <p:cNvGrpSpPr/>
          <p:nvPr/>
        </p:nvGrpSpPr>
        <p:grpSpPr>
          <a:xfrm>
            <a:off x="513708" y="3577356"/>
            <a:ext cx="2079581" cy="744703"/>
            <a:chOff x="936534" y="1747638"/>
            <a:chExt cx="1471365" cy="707886"/>
          </a:xfrm>
        </p:grpSpPr>
        <p:sp>
          <p:nvSpPr>
            <p:cNvPr id="23" name="Rectangle 6">
              <a:extLst>
                <a:ext uri="{FF2B5EF4-FFF2-40B4-BE49-F238E27FC236}">
                  <a16:creationId xmlns:a16="http://schemas.microsoft.com/office/drawing/2014/main" id="{ECA83B31-B00E-2F30-ACD8-EA4E7F421840}"/>
                </a:ext>
              </a:extLst>
            </p:cNvPr>
            <p:cNvSpPr/>
            <p:nvPr/>
          </p:nvSpPr>
          <p:spPr>
            <a:xfrm>
              <a:off x="936534" y="1747638"/>
              <a:ext cx="1323781" cy="70788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pole tekstowe 23">
              <a:extLst>
                <a:ext uri="{FF2B5EF4-FFF2-40B4-BE49-F238E27FC236}">
                  <a16:creationId xmlns:a16="http://schemas.microsoft.com/office/drawing/2014/main" id="{82E609EE-B1A2-C9CC-7FBB-0C87C47EB5C9}"/>
                </a:ext>
              </a:extLst>
            </p:cNvPr>
            <p:cNvSpPr txBox="1"/>
            <p:nvPr/>
          </p:nvSpPr>
          <p:spPr>
            <a:xfrm>
              <a:off x="1012199" y="1926044"/>
              <a:ext cx="1395700" cy="351073"/>
            </a:xfrm>
            <a:prstGeom prst="rect">
              <a:avLst/>
            </a:prstGeom>
            <a:noFill/>
          </p:spPr>
          <p:txBody>
            <a:bodyPr wrap="square" rtlCol="0">
              <a:spAutoFit/>
            </a:bodyPr>
            <a:lstStyle/>
            <a:p>
              <a:r>
                <a:rPr lang="pl-PL" dirty="0"/>
                <a:t>Dane testowe</a:t>
              </a:r>
              <a:endParaRPr lang="en-US" dirty="0"/>
            </a:p>
          </p:txBody>
        </p:sp>
      </p:grpSp>
      <p:sp>
        <p:nvSpPr>
          <p:cNvPr id="29" name="Strzałka: w prawo 28">
            <a:extLst>
              <a:ext uri="{FF2B5EF4-FFF2-40B4-BE49-F238E27FC236}">
                <a16:creationId xmlns:a16="http://schemas.microsoft.com/office/drawing/2014/main" id="{03C5717F-8D01-62D2-E962-84002D35A3D0}"/>
              </a:ext>
            </a:extLst>
          </p:cNvPr>
          <p:cNvSpPr/>
          <p:nvPr/>
        </p:nvSpPr>
        <p:spPr>
          <a:xfrm rot="20110450">
            <a:off x="2568382" y="3115918"/>
            <a:ext cx="2680115" cy="284285"/>
          </a:xfrm>
          <a:prstGeom prst="rightArrow">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ole tekstowe 32">
            <a:extLst>
              <a:ext uri="{FF2B5EF4-FFF2-40B4-BE49-F238E27FC236}">
                <a16:creationId xmlns:a16="http://schemas.microsoft.com/office/drawing/2014/main" id="{C73045DB-F415-5C19-3AE6-A53C6829EF6A}"/>
              </a:ext>
            </a:extLst>
          </p:cNvPr>
          <p:cNvSpPr txBox="1"/>
          <p:nvPr/>
        </p:nvSpPr>
        <p:spPr>
          <a:xfrm rot="19966838">
            <a:off x="3339779" y="3244334"/>
            <a:ext cx="1683399" cy="369332"/>
          </a:xfrm>
          <a:prstGeom prst="rect">
            <a:avLst/>
          </a:prstGeom>
          <a:noFill/>
        </p:spPr>
        <p:txBody>
          <a:bodyPr wrap="square" rtlCol="0">
            <a:spAutoFit/>
          </a:bodyPr>
          <a:lstStyle/>
          <a:p>
            <a:r>
              <a:rPr lang="pl-PL" dirty="0"/>
              <a:t>Testowanie</a:t>
            </a:r>
            <a:endParaRPr lang="en-US" dirty="0"/>
          </a:p>
        </p:txBody>
      </p:sp>
      <p:grpSp>
        <p:nvGrpSpPr>
          <p:cNvPr id="34" name="Grupa 33">
            <a:extLst>
              <a:ext uri="{FF2B5EF4-FFF2-40B4-BE49-F238E27FC236}">
                <a16:creationId xmlns:a16="http://schemas.microsoft.com/office/drawing/2014/main" id="{E7A3D82B-156D-E0CC-1542-AF19ECEEE720}"/>
              </a:ext>
            </a:extLst>
          </p:cNvPr>
          <p:cNvGrpSpPr/>
          <p:nvPr/>
        </p:nvGrpSpPr>
        <p:grpSpPr>
          <a:xfrm>
            <a:off x="9070194" y="3679475"/>
            <a:ext cx="2495906" cy="845623"/>
            <a:chOff x="1481235" y="1481880"/>
            <a:chExt cx="1575292" cy="707886"/>
          </a:xfrm>
        </p:grpSpPr>
        <p:sp>
          <p:nvSpPr>
            <p:cNvPr id="35" name="Rectangle 6">
              <a:extLst>
                <a:ext uri="{FF2B5EF4-FFF2-40B4-BE49-F238E27FC236}">
                  <a16:creationId xmlns:a16="http://schemas.microsoft.com/office/drawing/2014/main" id="{B0091EE5-052B-A139-39E1-FF547C950926}"/>
                </a:ext>
              </a:extLst>
            </p:cNvPr>
            <p:cNvSpPr/>
            <p:nvPr/>
          </p:nvSpPr>
          <p:spPr>
            <a:xfrm>
              <a:off x="1481235" y="1481880"/>
              <a:ext cx="1323781" cy="70788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pole tekstowe 35">
              <a:extLst>
                <a:ext uri="{FF2B5EF4-FFF2-40B4-BE49-F238E27FC236}">
                  <a16:creationId xmlns:a16="http://schemas.microsoft.com/office/drawing/2014/main" id="{A877474E-C554-5A5A-9FC9-6701383750B4}"/>
                </a:ext>
              </a:extLst>
            </p:cNvPr>
            <p:cNvSpPr txBox="1"/>
            <p:nvPr/>
          </p:nvSpPr>
          <p:spPr>
            <a:xfrm>
              <a:off x="1660827" y="1662415"/>
              <a:ext cx="1395700" cy="309174"/>
            </a:xfrm>
            <a:prstGeom prst="rect">
              <a:avLst/>
            </a:prstGeom>
            <a:noFill/>
          </p:spPr>
          <p:txBody>
            <a:bodyPr wrap="square" rtlCol="0">
              <a:spAutoFit/>
            </a:bodyPr>
            <a:lstStyle/>
            <a:p>
              <a:r>
                <a:rPr lang="pl-PL" dirty="0"/>
                <a:t>Nowe Dane</a:t>
              </a:r>
              <a:endParaRPr lang="en-US" dirty="0"/>
            </a:p>
          </p:txBody>
        </p:sp>
      </p:grpSp>
      <p:sp>
        <p:nvSpPr>
          <p:cNvPr id="40" name="Strzałka: w prawo 39">
            <a:extLst>
              <a:ext uri="{FF2B5EF4-FFF2-40B4-BE49-F238E27FC236}">
                <a16:creationId xmlns:a16="http://schemas.microsoft.com/office/drawing/2014/main" id="{E4DC1268-33F9-7518-CB4D-8DBD027AD1F4}"/>
              </a:ext>
            </a:extLst>
          </p:cNvPr>
          <p:cNvSpPr/>
          <p:nvPr/>
        </p:nvSpPr>
        <p:spPr>
          <a:xfrm rot="16200000">
            <a:off x="9433721" y="2475266"/>
            <a:ext cx="1484878" cy="284285"/>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pole tekstowe 41">
            <a:extLst>
              <a:ext uri="{FF2B5EF4-FFF2-40B4-BE49-F238E27FC236}">
                <a16:creationId xmlns:a16="http://schemas.microsoft.com/office/drawing/2014/main" id="{3B1858DF-9838-06FC-F597-37A0088DF142}"/>
              </a:ext>
            </a:extLst>
          </p:cNvPr>
          <p:cNvSpPr txBox="1"/>
          <p:nvPr/>
        </p:nvSpPr>
        <p:spPr>
          <a:xfrm>
            <a:off x="9192317" y="2483182"/>
            <a:ext cx="1683399" cy="369332"/>
          </a:xfrm>
          <a:prstGeom prst="rect">
            <a:avLst/>
          </a:prstGeom>
          <a:noFill/>
        </p:spPr>
        <p:txBody>
          <a:bodyPr wrap="square" rtlCol="0">
            <a:spAutoFit/>
          </a:bodyPr>
          <a:lstStyle/>
          <a:p>
            <a:r>
              <a:rPr lang="pl-PL" dirty="0"/>
              <a:t>Użycie</a:t>
            </a:r>
            <a:endParaRPr lang="en-US" dirty="0"/>
          </a:p>
        </p:txBody>
      </p:sp>
      <p:sp>
        <p:nvSpPr>
          <p:cNvPr id="43" name="Strzałka: zakrzywiona w prawo 42">
            <a:extLst>
              <a:ext uri="{FF2B5EF4-FFF2-40B4-BE49-F238E27FC236}">
                <a16:creationId xmlns:a16="http://schemas.microsoft.com/office/drawing/2014/main" id="{B4D349D8-8832-6068-31D5-178242AEA57D}"/>
              </a:ext>
            </a:extLst>
          </p:cNvPr>
          <p:cNvSpPr/>
          <p:nvPr/>
        </p:nvSpPr>
        <p:spPr>
          <a:xfrm rot="5400000">
            <a:off x="5792060" y="758834"/>
            <a:ext cx="697062" cy="1077340"/>
          </a:xfrm>
          <a:prstGeom prst="curvedRightArrow">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pole tekstowe 44">
            <a:extLst>
              <a:ext uri="{FF2B5EF4-FFF2-40B4-BE49-F238E27FC236}">
                <a16:creationId xmlns:a16="http://schemas.microsoft.com/office/drawing/2014/main" id="{CC3D030B-6F52-8233-213A-1A32A0573596}"/>
              </a:ext>
            </a:extLst>
          </p:cNvPr>
          <p:cNvSpPr txBox="1"/>
          <p:nvPr/>
        </p:nvSpPr>
        <p:spPr>
          <a:xfrm>
            <a:off x="6495860" y="685128"/>
            <a:ext cx="1683399" cy="369332"/>
          </a:xfrm>
          <a:prstGeom prst="rect">
            <a:avLst/>
          </a:prstGeom>
          <a:noFill/>
        </p:spPr>
        <p:txBody>
          <a:bodyPr wrap="square" rtlCol="0">
            <a:spAutoFit/>
          </a:bodyPr>
          <a:lstStyle/>
          <a:p>
            <a:r>
              <a:rPr lang="pl-PL" dirty="0"/>
              <a:t>Walidacja</a:t>
            </a:r>
            <a:endParaRPr lang="en-US" dirty="0"/>
          </a:p>
        </p:txBody>
      </p:sp>
      <p:sp>
        <p:nvSpPr>
          <p:cNvPr id="47" name="Strzałka: w prawo 46">
            <a:extLst>
              <a:ext uri="{FF2B5EF4-FFF2-40B4-BE49-F238E27FC236}">
                <a16:creationId xmlns:a16="http://schemas.microsoft.com/office/drawing/2014/main" id="{8A879BF6-6BA2-39CE-BF94-B9FFC24524A0}"/>
              </a:ext>
            </a:extLst>
          </p:cNvPr>
          <p:cNvSpPr/>
          <p:nvPr/>
        </p:nvSpPr>
        <p:spPr>
          <a:xfrm rot="9818301">
            <a:off x="4596194" y="1329982"/>
            <a:ext cx="803314" cy="284285"/>
          </a:xfrm>
          <a:prstGeom prst="rightArrow">
            <a:avLst/>
          </a:prstGeom>
          <a:solidFill>
            <a:schemeClr val="tx2">
              <a:lumMod val="50000"/>
              <a:lumOff val="50000"/>
              <a:alpha val="36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pole tekstowe 48">
            <a:extLst>
              <a:ext uri="{FF2B5EF4-FFF2-40B4-BE49-F238E27FC236}">
                <a16:creationId xmlns:a16="http://schemas.microsoft.com/office/drawing/2014/main" id="{47C5F5A1-5F75-D465-B80D-842756FF189D}"/>
              </a:ext>
            </a:extLst>
          </p:cNvPr>
          <p:cNvSpPr txBox="1"/>
          <p:nvPr/>
        </p:nvSpPr>
        <p:spPr>
          <a:xfrm>
            <a:off x="4342579" y="726353"/>
            <a:ext cx="1683399" cy="646331"/>
          </a:xfrm>
          <a:prstGeom prst="rect">
            <a:avLst/>
          </a:prstGeom>
          <a:noFill/>
        </p:spPr>
        <p:txBody>
          <a:bodyPr wrap="square" rtlCol="0">
            <a:spAutoFit/>
          </a:bodyPr>
          <a:lstStyle/>
          <a:p>
            <a:r>
              <a:rPr lang="pl-PL" dirty="0"/>
              <a:t>Ponowne trenowanie </a:t>
            </a:r>
            <a:endParaRPr lang="en-US" dirty="0"/>
          </a:p>
        </p:txBody>
      </p:sp>
      <p:sp>
        <p:nvSpPr>
          <p:cNvPr id="50" name="Dymek myśli: chmurka 49">
            <a:extLst>
              <a:ext uri="{FF2B5EF4-FFF2-40B4-BE49-F238E27FC236}">
                <a16:creationId xmlns:a16="http://schemas.microsoft.com/office/drawing/2014/main" id="{70E64C81-054A-45B1-571F-81F28ECC6419}"/>
              </a:ext>
            </a:extLst>
          </p:cNvPr>
          <p:cNvSpPr/>
          <p:nvPr/>
        </p:nvSpPr>
        <p:spPr>
          <a:xfrm>
            <a:off x="9718960" y="931508"/>
            <a:ext cx="914400" cy="612648"/>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Strzałka: w prawo 51">
            <a:extLst>
              <a:ext uri="{FF2B5EF4-FFF2-40B4-BE49-F238E27FC236}">
                <a16:creationId xmlns:a16="http://schemas.microsoft.com/office/drawing/2014/main" id="{9DE4ACB0-C0BD-F29F-6824-578F66033510}"/>
              </a:ext>
            </a:extLst>
          </p:cNvPr>
          <p:cNvSpPr/>
          <p:nvPr/>
        </p:nvSpPr>
        <p:spPr>
          <a:xfrm>
            <a:off x="7285320" y="1121745"/>
            <a:ext cx="1992243" cy="284285"/>
          </a:xfrm>
          <a:prstGeom prst="rightArrow">
            <a:avLst>
              <a:gd name="adj1" fmla="val 57228"/>
              <a:gd name="adj2" fmla="val 50000"/>
            </a:avLst>
          </a:prstGeom>
          <a:solidFill>
            <a:schemeClr val="tx2">
              <a:lumMod val="50000"/>
              <a:lumOff val="50000"/>
              <a:alpha val="36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pole tekstowe 53">
            <a:extLst>
              <a:ext uri="{FF2B5EF4-FFF2-40B4-BE49-F238E27FC236}">
                <a16:creationId xmlns:a16="http://schemas.microsoft.com/office/drawing/2014/main" id="{B5903ADA-BF56-F8B9-4EB8-7C10363B4244}"/>
              </a:ext>
            </a:extLst>
          </p:cNvPr>
          <p:cNvSpPr txBox="1"/>
          <p:nvPr/>
        </p:nvSpPr>
        <p:spPr>
          <a:xfrm>
            <a:off x="10724401" y="1079222"/>
            <a:ext cx="1683399" cy="369332"/>
          </a:xfrm>
          <a:prstGeom prst="rect">
            <a:avLst/>
          </a:prstGeom>
          <a:noFill/>
        </p:spPr>
        <p:txBody>
          <a:bodyPr wrap="square" rtlCol="0">
            <a:spAutoFit/>
          </a:bodyPr>
          <a:lstStyle/>
          <a:p>
            <a:r>
              <a:rPr lang="pl-PL" dirty="0"/>
              <a:t>Użycie</a:t>
            </a:r>
            <a:endParaRPr lang="en-US" dirty="0"/>
          </a:p>
        </p:txBody>
      </p:sp>
      <p:sp>
        <p:nvSpPr>
          <p:cNvPr id="4" name="pole tekstowe 3">
            <a:extLst>
              <a:ext uri="{FF2B5EF4-FFF2-40B4-BE49-F238E27FC236}">
                <a16:creationId xmlns:a16="http://schemas.microsoft.com/office/drawing/2014/main" id="{55E756FA-20AF-94AC-4083-AEA4E67CAC99}"/>
              </a:ext>
            </a:extLst>
          </p:cNvPr>
          <p:cNvSpPr txBox="1"/>
          <p:nvPr/>
        </p:nvSpPr>
        <p:spPr>
          <a:xfrm>
            <a:off x="7621283" y="1422434"/>
            <a:ext cx="1683399" cy="369332"/>
          </a:xfrm>
          <a:prstGeom prst="rect">
            <a:avLst/>
          </a:prstGeom>
          <a:noFill/>
        </p:spPr>
        <p:txBody>
          <a:bodyPr wrap="square" rtlCol="0">
            <a:spAutoFit/>
          </a:bodyPr>
          <a:lstStyle/>
          <a:p>
            <a:r>
              <a:rPr lang="pl-PL" dirty="0"/>
              <a:t>Wdrożenie</a:t>
            </a:r>
            <a:endParaRPr lang="en-US" dirty="0"/>
          </a:p>
        </p:txBody>
      </p:sp>
      <p:sp>
        <p:nvSpPr>
          <p:cNvPr id="5" name="pole tekstowe 4">
            <a:extLst>
              <a:ext uri="{FF2B5EF4-FFF2-40B4-BE49-F238E27FC236}">
                <a16:creationId xmlns:a16="http://schemas.microsoft.com/office/drawing/2014/main" id="{A42E16B2-FF19-B75B-1B60-6FC4EFC29E84}"/>
              </a:ext>
            </a:extLst>
          </p:cNvPr>
          <p:cNvSpPr txBox="1"/>
          <p:nvPr/>
        </p:nvSpPr>
        <p:spPr>
          <a:xfrm>
            <a:off x="4572417" y="4488417"/>
            <a:ext cx="3606841" cy="1569660"/>
          </a:xfrm>
          <a:prstGeom prst="rect">
            <a:avLst/>
          </a:prstGeom>
          <a:noFill/>
        </p:spPr>
        <p:txBody>
          <a:bodyPr wrap="square" rtlCol="0">
            <a:spAutoFit/>
          </a:bodyPr>
          <a:lstStyle/>
          <a:p>
            <a:pPr marL="285750" indent="-285750">
              <a:buFont typeface="Arial" panose="020B0604020202020204" pitchFamily="34" charset="0"/>
              <a:buChar char="•"/>
            </a:pPr>
            <a:r>
              <a:rPr lang="pl-PL" sz="1600" dirty="0"/>
              <a:t>Liczba warstw ukrytych</a:t>
            </a:r>
          </a:p>
          <a:p>
            <a:pPr marL="285750" indent="-285750">
              <a:buFont typeface="Arial" panose="020B0604020202020204" pitchFamily="34" charset="0"/>
              <a:buChar char="•"/>
            </a:pPr>
            <a:r>
              <a:rPr lang="pl-PL" sz="1600" dirty="0"/>
              <a:t>Liczna neuronów w warstwach</a:t>
            </a:r>
          </a:p>
          <a:p>
            <a:pPr marL="285750" indent="-285750">
              <a:buFont typeface="Arial" panose="020B0604020202020204" pitchFamily="34" charset="0"/>
              <a:buChar char="•"/>
            </a:pPr>
            <a:r>
              <a:rPr lang="pl-PL" sz="1600" dirty="0"/>
              <a:t>Funkcja aktywacji</a:t>
            </a:r>
          </a:p>
          <a:p>
            <a:pPr marL="285750" indent="-285750">
              <a:buFont typeface="Arial" panose="020B0604020202020204" pitchFamily="34" charset="0"/>
              <a:buChar char="•"/>
            </a:pPr>
            <a:r>
              <a:rPr lang="pl-PL" sz="1600" dirty="0"/>
              <a:t>Tempo uczenia się</a:t>
            </a:r>
          </a:p>
          <a:p>
            <a:pPr marL="285750" indent="-285750">
              <a:buFont typeface="Arial" panose="020B0604020202020204" pitchFamily="34" charset="0"/>
              <a:buChar char="•"/>
            </a:pPr>
            <a:r>
              <a:rPr lang="pl-PL" sz="1600" dirty="0"/>
              <a:t>Siła </a:t>
            </a:r>
            <a:r>
              <a:rPr lang="pl-PL" sz="1600" dirty="0" err="1"/>
              <a:t>regularyzacji</a:t>
            </a:r>
            <a:endParaRPr lang="pl-PL" sz="1600" dirty="0"/>
          </a:p>
          <a:p>
            <a:r>
              <a:rPr lang="pl-PL" sz="1600" dirty="0"/>
              <a:t>…..</a:t>
            </a:r>
          </a:p>
        </p:txBody>
      </p:sp>
    </p:spTree>
    <p:extLst>
      <p:ext uri="{BB962C8B-B14F-4D97-AF65-F5344CB8AC3E}">
        <p14:creationId xmlns:p14="http://schemas.microsoft.com/office/powerpoint/2010/main" val="505656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05E30A3-9EF6-E84E-2855-6477363C712E}"/>
              </a:ext>
            </a:extLst>
          </p:cNvPr>
          <p:cNvSpPr txBox="1">
            <a:spLocks/>
          </p:cNvSpPr>
          <p:nvPr/>
        </p:nvSpPr>
        <p:spPr>
          <a:xfrm>
            <a:off x="838200" y="256244"/>
            <a:ext cx="10515600" cy="736215"/>
          </a:xfrm>
          <a:prstGeom prst="rect">
            <a:avLst/>
          </a:prstGeom>
          <a:noFill/>
        </p:spPr>
        <p:txBody>
          <a:bodyPr vert="horz" wrap="square" lIns="0" tIns="0" rIns="0" bIns="91440" rtlCol="0" anchor="b">
            <a:norm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3600" b="1" dirty="0">
                <a:latin typeface="+mn-lt"/>
              </a:rPr>
              <a:t>Uczenie maszynowe – przeuczenie</a:t>
            </a:r>
          </a:p>
        </p:txBody>
      </p:sp>
      <p:cxnSp>
        <p:nvCxnSpPr>
          <p:cNvPr id="8" name="Straight Arrow Connector 13">
            <a:extLst>
              <a:ext uri="{FF2B5EF4-FFF2-40B4-BE49-F238E27FC236}">
                <a16:creationId xmlns:a16="http://schemas.microsoft.com/office/drawing/2014/main" id="{477A9DE4-E7E0-6994-0F59-0DC859F864C3}"/>
              </a:ext>
            </a:extLst>
          </p:cNvPr>
          <p:cNvCxnSpPr>
            <a:cxnSpLocks/>
          </p:cNvCxnSpPr>
          <p:nvPr/>
        </p:nvCxnSpPr>
        <p:spPr>
          <a:xfrm flipH="1">
            <a:off x="3096719" y="1907692"/>
            <a:ext cx="581429" cy="9690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19">
            <a:extLst>
              <a:ext uri="{FF2B5EF4-FFF2-40B4-BE49-F238E27FC236}">
                <a16:creationId xmlns:a16="http://schemas.microsoft.com/office/drawing/2014/main" id="{BF8460C4-8C68-830F-2AFD-3683AB65FFC1}"/>
              </a:ext>
            </a:extLst>
          </p:cNvPr>
          <p:cNvSpPr txBox="1"/>
          <p:nvPr/>
        </p:nvSpPr>
        <p:spPr>
          <a:xfrm>
            <a:off x="2457516" y="1521648"/>
            <a:ext cx="1967783" cy="307777"/>
          </a:xfrm>
          <a:prstGeom prst="rect">
            <a:avLst/>
          </a:prstGeom>
          <a:noFill/>
        </p:spPr>
        <p:txBody>
          <a:bodyPr wrap="none" rtlCol="0">
            <a:spAutoFit/>
          </a:bodyPr>
          <a:lstStyle/>
          <a:p>
            <a:r>
              <a:rPr lang="pl-PL" sz="1400" dirty="0"/>
              <a:t>Linia/Krzywa decyzyjna</a:t>
            </a:r>
            <a:endParaRPr lang="en-US" sz="1400" dirty="0"/>
          </a:p>
        </p:txBody>
      </p:sp>
      <p:sp>
        <p:nvSpPr>
          <p:cNvPr id="10" name="TextBox 23">
            <a:extLst>
              <a:ext uri="{FF2B5EF4-FFF2-40B4-BE49-F238E27FC236}">
                <a16:creationId xmlns:a16="http://schemas.microsoft.com/office/drawing/2014/main" id="{255D7CE5-F304-48A5-2B07-3F6297A05869}"/>
              </a:ext>
            </a:extLst>
          </p:cNvPr>
          <p:cNvSpPr txBox="1"/>
          <p:nvPr/>
        </p:nvSpPr>
        <p:spPr>
          <a:xfrm>
            <a:off x="512479" y="4511314"/>
            <a:ext cx="3890074" cy="566758"/>
          </a:xfrm>
          <a:prstGeom prst="rect">
            <a:avLst/>
          </a:prstGeom>
          <a:noFill/>
        </p:spPr>
        <p:txBody>
          <a:bodyPr wrap="square">
            <a:spAutoFit/>
          </a:bodyPr>
          <a:lstStyle/>
          <a:p>
            <a:pPr>
              <a:lnSpc>
                <a:spcPct val="115000"/>
              </a:lnSpc>
            </a:pPr>
            <a:r>
              <a:rPr lang="pl-PL" sz="1400" dirty="0">
                <a:effectLst/>
                <a:latin typeface="Arial" panose="020B0604020202020204" pitchFamily="34" charset="0"/>
                <a:ea typeface="Arial" panose="020B0604020202020204" pitchFamily="34" charset="0"/>
              </a:rPr>
              <a:t>Słabe wyniki dla nowych danych i danych treningowych.</a:t>
            </a:r>
            <a:endParaRPr lang="en-US" sz="1400" dirty="0">
              <a:effectLst/>
              <a:latin typeface="Arial" panose="020B0604020202020204" pitchFamily="34" charset="0"/>
              <a:ea typeface="Arial" panose="020B0604020202020204" pitchFamily="34" charset="0"/>
            </a:endParaRPr>
          </a:p>
        </p:txBody>
      </p:sp>
      <p:sp>
        <p:nvSpPr>
          <p:cNvPr id="12" name="TextBox 15">
            <a:extLst>
              <a:ext uri="{FF2B5EF4-FFF2-40B4-BE49-F238E27FC236}">
                <a16:creationId xmlns:a16="http://schemas.microsoft.com/office/drawing/2014/main" id="{C23EBAC1-6E39-3FE8-2353-BBCC20D49D60}"/>
              </a:ext>
            </a:extLst>
          </p:cNvPr>
          <p:cNvSpPr txBox="1"/>
          <p:nvPr/>
        </p:nvSpPr>
        <p:spPr>
          <a:xfrm>
            <a:off x="4427398" y="4506105"/>
            <a:ext cx="3728435" cy="566758"/>
          </a:xfrm>
          <a:prstGeom prst="rect">
            <a:avLst/>
          </a:prstGeom>
          <a:noFill/>
        </p:spPr>
        <p:txBody>
          <a:bodyPr wrap="square">
            <a:spAutoFit/>
          </a:bodyPr>
          <a:lstStyle/>
          <a:p>
            <a:pPr>
              <a:lnSpc>
                <a:spcPct val="115000"/>
              </a:lnSpc>
            </a:pPr>
            <a:r>
              <a:rPr lang="pl-PL" sz="1400" dirty="0">
                <a:effectLst/>
                <a:latin typeface="Arial" panose="020B0604020202020204" pitchFamily="34" charset="0"/>
                <a:ea typeface="Arial" panose="020B0604020202020204" pitchFamily="34" charset="0"/>
              </a:rPr>
              <a:t>Dobre wyniki dla danych treningowych, ale bardzo słabe dla nowych danych</a:t>
            </a:r>
            <a:endParaRPr lang="en-US" sz="1400" dirty="0">
              <a:effectLst/>
              <a:latin typeface="Arial" panose="020B0604020202020204" pitchFamily="34" charset="0"/>
              <a:ea typeface="Arial" panose="020B0604020202020204" pitchFamily="34" charset="0"/>
            </a:endParaRPr>
          </a:p>
        </p:txBody>
      </p:sp>
      <p:sp>
        <p:nvSpPr>
          <p:cNvPr id="14" name="TextBox 27">
            <a:extLst>
              <a:ext uri="{FF2B5EF4-FFF2-40B4-BE49-F238E27FC236}">
                <a16:creationId xmlns:a16="http://schemas.microsoft.com/office/drawing/2014/main" id="{A29DB7A9-560F-5E6B-5296-13C3C6F94C09}"/>
              </a:ext>
            </a:extLst>
          </p:cNvPr>
          <p:cNvSpPr txBox="1"/>
          <p:nvPr/>
        </p:nvSpPr>
        <p:spPr>
          <a:xfrm>
            <a:off x="8576316" y="4506105"/>
            <a:ext cx="3349785" cy="566758"/>
          </a:xfrm>
          <a:prstGeom prst="rect">
            <a:avLst/>
          </a:prstGeom>
          <a:noFill/>
        </p:spPr>
        <p:txBody>
          <a:bodyPr wrap="square">
            <a:spAutoFit/>
          </a:bodyPr>
          <a:lstStyle/>
          <a:p>
            <a:pPr>
              <a:lnSpc>
                <a:spcPct val="115000"/>
              </a:lnSpc>
            </a:pPr>
            <a:r>
              <a:rPr lang="pl-PL" sz="1400" dirty="0">
                <a:latin typeface="Arial" panose="020B0604020202020204" pitchFamily="34" charset="0"/>
                <a:ea typeface="Arial" panose="020B0604020202020204" pitchFamily="34" charset="0"/>
              </a:rPr>
              <a:t>Dobre wyniki dla danych treningowych, jak i nowych danych</a:t>
            </a:r>
            <a:endParaRPr lang="en-US" sz="1400" dirty="0">
              <a:latin typeface="Arial" panose="020B0604020202020204" pitchFamily="34" charset="0"/>
              <a:ea typeface="Arial" panose="020B0604020202020204" pitchFamily="34" charset="0"/>
            </a:endParaRPr>
          </a:p>
        </p:txBody>
      </p:sp>
      <p:sp>
        <p:nvSpPr>
          <p:cNvPr id="15" name="TextBox 28">
            <a:extLst>
              <a:ext uri="{FF2B5EF4-FFF2-40B4-BE49-F238E27FC236}">
                <a16:creationId xmlns:a16="http://schemas.microsoft.com/office/drawing/2014/main" id="{E0C250E9-A7A6-0BCD-51A5-8436EC044FA4}"/>
              </a:ext>
            </a:extLst>
          </p:cNvPr>
          <p:cNvSpPr txBox="1"/>
          <p:nvPr/>
        </p:nvSpPr>
        <p:spPr>
          <a:xfrm>
            <a:off x="1091746" y="1028804"/>
            <a:ext cx="2349661" cy="461665"/>
          </a:xfrm>
          <a:prstGeom prst="rect">
            <a:avLst/>
          </a:prstGeom>
          <a:noFill/>
        </p:spPr>
        <p:txBody>
          <a:bodyPr wrap="square" rtlCol="0">
            <a:spAutoFit/>
          </a:bodyPr>
          <a:lstStyle/>
          <a:p>
            <a:r>
              <a:rPr lang="pl-PL" sz="24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Niedouczenie</a:t>
            </a:r>
            <a:endParaRPr lang="en-US" sz="2400" dirty="0">
              <a:solidFill>
                <a:srgbClr val="FF0000"/>
              </a:solidFill>
            </a:endParaRPr>
          </a:p>
        </p:txBody>
      </p:sp>
      <p:sp>
        <p:nvSpPr>
          <p:cNvPr id="16" name="TextBox 29">
            <a:extLst>
              <a:ext uri="{FF2B5EF4-FFF2-40B4-BE49-F238E27FC236}">
                <a16:creationId xmlns:a16="http://schemas.microsoft.com/office/drawing/2014/main" id="{19F3D3BD-2AAE-190A-C724-611AB73A2983}"/>
              </a:ext>
            </a:extLst>
          </p:cNvPr>
          <p:cNvSpPr txBox="1"/>
          <p:nvPr/>
        </p:nvSpPr>
        <p:spPr>
          <a:xfrm>
            <a:off x="5116786" y="1026221"/>
            <a:ext cx="2349661" cy="461665"/>
          </a:xfrm>
          <a:prstGeom prst="rect">
            <a:avLst/>
          </a:prstGeom>
          <a:noFill/>
        </p:spPr>
        <p:txBody>
          <a:bodyPr wrap="square" rtlCol="0">
            <a:spAutoFit/>
          </a:bodyPr>
          <a:lstStyle/>
          <a:p>
            <a:r>
              <a:rPr lang="pl-PL" sz="24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Przeuczenie</a:t>
            </a:r>
            <a:endParaRPr lang="en-US" sz="2400" dirty="0">
              <a:solidFill>
                <a:srgbClr val="FF0000"/>
              </a:solidFill>
            </a:endParaRPr>
          </a:p>
        </p:txBody>
      </p:sp>
      <p:sp>
        <p:nvSpPr>
          <p:cNvPr id="17" name="TextBox 30">
            <a:extLst>
              <a:ext uri="{FF2B5EF4-FFF2-40B4-BE49-F238E27FC236}">
                <a16:creationId xmlns:a16="http://schemas.microsoft.com/office/drawing/2014/main" id="{E6F5F52A-FFE1-F38E-7096-B53F0026CC15}"/>
              </a:ext>
            </a:extLst>
          </p:cNvPr>
          <p:cNvSpPr txBox="1"/>
          <p:nvPr/>
        </p:nvSpPr>
        <p:spPr>
          <a:xfrm>
            <a:off x="8829797" y="1026221"/>
            <a:ext cx="2349661" cy="461665"/>
          </a:xfrm>
          <a:prstGeom prst="rect">
            <a:avLst/>
          </a:prstGeom>
          <a:noFill/>
        </p:spPr>
        <p:txBody>
          <a:bodyPr wrap="square" rtlCol="0">
            <a:spAutoFit/>
          </a:bodyPr>
          <a:lstStyle/>
          <a:p>
            <a:r>
              <a:rPr lang="pl-PL" sz="2400"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Dobry trening</a:t>
            </a:r>
            <a:endParaRPr lang="en-US" sz="2400" dirty="0">
              <a:solidFill>
                <a:srgbClr val="00B050"/>
              </a:solidFill>
            </a:endParaRPr>
          </a:p>
        </p:txBody>
      </p:sp>
      <p:sp>
        <p:nvSpPr>
          <p:cNvPr id="18" name="TextBox 6">
            <a:extLst>
              <a:ext uri="{FF2B5EF4-FFF2-40B4-BE49-F238E27FC236}">
                <a16:creationId xmlns:a16="http://schemas.microsoft.com/office/drawing/2014/main" id="{7ED19896-5413-AAF1-63ED-13C35ECD8549}"/>
              </a:ext>
            </a:extLst>
          </p:cNvPr>
          <p:cNvSpPr txBox="1"/>
          <p:nvPr/>
        </p:nvSpPr>
        <p:spPr>
          <a:xfrm>
            <a:off x="6003533" y="5268960"/>
            <a:ext cx="3048285" cy="954107"/>
          </a:xfrm>
          <a:prstGeom prst="rect">
            <a:avLst/>
          </a:prstGeom>
          <a:noFill/>
        </p:spPr>
        <p:txBody>
          <a:bodyPr wrap="square" rtlCol="0">
            <a:spAutoFit/>
          </a:bodyPr>
          <a:lstStyle/>
          <a:p>
            <a:r>
              <a:rPr lang="pl-PL" sz="1400" b="1" dirty="0"/>
              <a:t>Przykład z życia</a:t>
            </a:r>
            <a:br>
              <a:rPr lang="pl-PL" sz="1400" dirty="0"/>
            </a:br>
            <a:r>
              <a:rPr lang="pl-PL" sz="1400" dirty="0"/>
              <a:t>Podczas klasówki: Profesorze, na której stronie książki ten temat był </a:t>
            </a:r>
            <a:br>
              <a:rPr lang="pl-PL" sz="1400" dirty="0"/>
            </a:br>
            <a:r>
              <a:rPr lang="pl-PL" sz="1400" dirty="0"/>
              <a:t>przedstawiony?</a:t>
            </a:r>
            <a:endParaRPr lang="en-US" sz="1400" dirty="0"/>
          </a:p>
        </p:txBody>
      </p:sp>
      <p:pic>
        <p:nvPicPr>
          <p:cNvPr id="19" name="Graphic 10" descr="Winking face with solid fill with solid fill">
            <a:extLst>
              <a:ext uri="{FF2B5EF4-FFF2-40B4-BE49-F238E27FC236}">
                <a16:creationId xmlns:a16="http://schemas.microsoft.com/office/drawing/2014/main" id="{58633DD4-FCF8-2FBC-12CB-875E653A65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65216" y="5268960"/>
            <a:ext cx="914400" cy="914400"/>
          </a:xfrm>
          <a:prstGeom prst="rect">
            <a:avLst/>
          </a:prstGeom>
        </p:spPr>
      </p:pic>
      <p:pic>
        <p:nvPicPr>
          <p:cNvPr id="26" name="Obraz 25">
            <a:extLst>
              <a:ext uri="{FF2B5EF4-FFF2-40B4-BE49-F238E27FC236}">
                <a16:creationId xmlns:a16="http://schemas.microsoft.com/office/drawing/2014/main" id="{762045B1-C84D-177E-BF83-D2A166CCF9FE}"/>
              </a:ext>
            </a:extLst>
          </p:cNvPr>
          <p:cNvPicPr>
            <a:picLocks noChangeAspect="1"/>
          </p:cNvPicPr>
          <p:nvPr/>
        </p:nvPicPr>
        <p:blipFill>
          <a:blip r:embed="rId4"/>
          <a:stretch>
            <a:fillRect/>
          </a:stretch>
        </p:blipFill>
        <p:spPr>
          <a:xfrm>
            <a:off x="827548" y="2307744"/>
            <a:ext cx="2152454" cy="2059319"/>
          </a:xfrm>
          <a:prstGeom prst="rect">
            <a:avLst/>
          </a:prstGeom>
        </p:spPr>
      </p:pic>
      <p:pic>
        <p:nvPicPr>
          <p:cNvPr id="33" name="Obraz 32">
            <a:extLst>
              <a:ext uri="{FF2B5EF4-FFF2-40B4-BE49-F238E27FC236}">
                <a16:creationId xmlns:a16="http://schemas.microsoft.com/office/drawing/2014/main" id="{05BF0A63-2D08-5A04-C9B1-BDC78DE4B51C}"/>
              </a:ext>
            </a:extLst>
          </p:cNvPr>
          <p:cNvPicPr>
            <a:picLocks noChangeAspect="1"/>
          </p:cNvPicPr>
          <p:nvPr/>
        </p:nvPicPr>
        <p:blipFill>
          <a:blip r:embed="rId5"/>
          <a:stretch>
            <a:fillRect/>
          </a:stretch>
        </p:blipFill>
        <p:spPr>
          <a:xfrm>
            <a:off x="4865216" y="2290396"/>
            <a:ext cx="2276634" cy="2059319"/>
          </a:xfrm>
          <a:prstGeom prst="rect">
            <a:avLst/>
          </a:prstGeom>
        </p:spPr>
      </p:pic>
      <p:pic>
        <p:nvPicPr>
          <p:cNvPr id="35" name="Obraz 34">
            <a:extLst>
              <a:ext uri="{FF2B5EF4-FFF2-40B4-BE49-F238E27FC236}">
                <a16:creationId xmlns:a16="http://schemas.microsoft.com/office/drawing/2014/main" id="{54890467-9C1B-CC5B-C253-3C671890563D}"/>
              </a:ext>
            </a:extLst>
          </p:cNvPr>
          <p:cNvPicPr>
            <a:picLocks noChangeAspect="1"/>
          </p:cNvPicPr>
          <p:nvPr/>
        </p:nvPicPr>
        <p:blipFill>
          <a:blip r:embed="rId6"/>
          <a:stretch>
            <a:fillRect/>
          </a:stretch>
        </p:blipFill>
        <p:spPr>
          <a:xfrm>
            <a:off x="8686691" y="2301975"/>
            <a:ext cx="2276634" cy="2065088"/>
          </a:xfrm>
          <a:prstGeom prst="rect">
            <a:avLst/>
          </a:prstGeom>
        </p:spPr>
      </p:pic>
    </p:spTree>
    <p:extLst>
      <p:ext uri="{BB962C8B-B14F-4D97-AF65-F5344CB8AC3E}">
        <p14:creationId xmlns:p14="http://schemas.microsoft.com/office/powerpoint/2010/main" val="2174891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22522-89FA-DA07-6A56-E2F7A0E18A36}"/>
            </a:ext>
          </a:extLst>
        </p:cNvPr>
        <p:cNvGrpSpPr/>
        <p:nvPr/>
      </p:nvGrpSpPr>
      <p:grpSpPr>
        <a:xfrm>
          <a:off x="0" y="0"/>
          <a:ext cx="0" cy="0"/>
          <a:chOff x="0" y="0"/>
          <a:chExt cx="0" cy="0"/>
        </a:xfrm>
      </p:grpSpPr>
      <p:sp>
        <p:nvSpPr>
          <p:cNvPr id="5" name="pole tekstowe 4">
            <a:extLst>
              <a:ext uri="{FF2B5EF4-FFF2-40B4-BE49-F238E27FC236}">
                <a16:creationId xmlns:a16="http://schemas.microsoft.com/office/drawing/2014/main" id="{1A230D46-6067-BADA-502B-84B90DB8AD35}"/>
              </a:ext>
            </a:extLst>
          </p:cNvPr>
          <p:cNvSpPr txBox="1"/>
          <p:nvPr/>
        </p:nvSpPr>
        <p:spPr>
          <a:xfrm>
            <a:off x="2985079" y="220297"/>
            <a:ext cx="7303770" cy="646331"/>
          </a:xfrm>
          <a:prstGeom prst="rect">
            <a:avLst/>
          </a:prstGeom>
          <a:noFill/>
        </p:spPr>
        <p:txBody>
          <a:bodyPr wrap="square">
            <a:spAutoFit/>
          </a:bodyPr>
          <a:lstStyle/>
          <a:p>
            <a:r>
              <a:rPr lang="pl-PL" sz="3600" dirty="0"/>
              <a:t>To nie magia - to matematyka</a:t>
            </a:r>
            <a:endParaRPr lang="en-US" sz="3600" dirty="0"/>
          </a:p>
        </p:txBody>
      </p:sp>
      <p:sp>
        <p:nvSpPr>
          <p:cNvPr id="13" name="pole tekstowe 12">
            <a:extLst>
              <a:ext uri="{FF2B5EF4-FFF2-40B4-BE49-F238E27FC236}">
                <a16:creationId xmlns:a16="http://schemas.microsoft.com/office/drawing/2014/main" id="{59E22403-2322-2964-7D85-E48B8D0F5D48}"/>
              </a:ext>
            </a:extLst>
          </p:cNvPr>
          <p:cNvSpPr txBox="1"/>
          <p:nvPr/>
        </p:nvSpPr>
        <p:spPr>
          <a:xfrm>
            <a:off x="7594456" y="3427438"/>
            <a:ext cx="2847992" cy="954107"/>
          </a:xfrm>
          <a:prstGeom prst="rect">
            <a:avLst/>
          </a:prstGeom>
          <a:noFill/>
        </p:spPr>
        <p:txBody>
          <a:bodyPr wrap="square" rtlCol="0">
            <a:spAutoFit/>
          </a:bodyPr>
          <a:lstStyle/>
          <a:p>
            <a:r>
              <a:rPr lang="pl-PL" sz="1400" dirty="0">
                <a:solidFill>
                  <a:schemeClr val="bg1"/>
                </a:solidFill>
              </a:rPr>
              <a:t>Pokazujesz zdjęcie kota </a:t>
            </a:r>
            <a:r>
              <a:rPr lang="pl-PL" sz="1400" dirty="0">
                <a:solidFill>
                  <a:schemeClr val="bg1"/>
                </a:solidFill>
                <a:sym typeface="Wingdings" panose="05000000000000000000" pitchFamily="2" charset="2"/>
              </a:rPr>
              <a:t></a:t>
            </a:r>
          </a:p>
          <a:p>
            <a:r>
              <a:rPr lang="pl-PL" sz="1400" dirty="0">
                <a:solidFill>
                  <a:schemeClr val="bg1"/>
                </a:solidFill>
                <a:sym typeface="Wingdings" panose="05000000000000000000" pitchFamily="2" charset="2"/>
              </a:rPr>
              <a:t>sieć mówi „toster”  </a:t>
            </a:r>
          </a:p>
          <a:p>
            <a:r>
              <a:rPr lang="pl-PL" sz="1400" dirty="0">
                <a:solidFill>
                  <a:schemeClr val="bg1"/>
                </a:solidFill>
                <a:sym typeface="Wingdings" panose="05000000000000000000" pitchFamily="2" charset="2"/>
              </a:rPr>
              <a:t>błąd  poprawka wag </a:t>
            </a:r>
          </a:p>
          <a:p>
            <a:r>
              <a:rPr lang="pl-PL" sz="1400" dirty="0">
                <a:solidFill>
                  <a:schemeClr val="bg1"/>
                </a:solidFill>
                <a:sym typeface="Wingdings" panose="05000000000000000000" pitchFamily="2" charset="2"/>
              </a:rPr>
              <a:t>następnym razem: bliżej „kota”</a:t>
            </a:r>
            <a:endParaRPr lang="en-US" sz="1400" dirty="0">
              <a:solidFill>
                <a:schemeClr val="bg1"/>
              </a:solidFill>
            </a:endParaRPr>
          </a:p>
        </p:txBody>
      </p:sp>
      <p:sp>
        <p:nvSpPr>
          <p:cNvPr id="4" name="Title 1">
            <a:extLst>
              <a:ext uri="{FF2B5EF4-FFF2-40B4-BE49-F238E27FC236}">
                <a16:creationId xmlns:a16="http://schemas.microsoft.com/office/drawing/2014/main" id="{DCD8A6D9-C018-C2C8-C1D3-8735B6A3BE27}"/>
              </a:ext>
            </a:extLst>
          </p:cNvPr>
          <p:cNvSpPr txBox="1">
            <a:spLocks/>
          </p:cNvSpPr>
          <p:nvPr/>
        </p:nvSpPr>
        <p:spPr>
          <a:xfrm>
            <a:off x="1987296" y="1381439"/>
            <a:ext cx="10393162" cy="755366"/>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r>
              <a:rPr lang="pl-PL" sz="2000" dirty="0"/>
              <a:t>Dokładnie ten mechanizm stoi za technologiami, z których korzystasz codziennie</a:t>
            </a:r>
          </a:p>
        </p:txBody>
      </p:sp>
      <p:grpSp>
        <p:nvGrpSpPr>
          <p:cNvPr id="2" name="Grupa 1">
            <a:extLst>
              <a:ext uri="{FF2B5EF4-FFF2-40B4-BE49-F238E27FC236}">
                <a16:creationId xmlns:a16="http://schemas.microsoft.com/office/drawing/2014/main" id="{D9CE7AC5-9C4D-BF1C-BABC-A94430A6E6B5}"/>
              </a:ext>
            </a:extLst>
          </p:cNvPr>
          <p:cNvGrpSpPr/>
          <p:nvPr/>
        </p:nvGrpSpPr>
        <p:grpSpPr>
          <a:xfrm>
            <a:off x="2184364" y="2397817"/>
            <a:ext cx="3370672" cy="1791028"/>
            <a:chOff x="1019918" y="2356818"/>
            <a:chExt cx="3370672" cy="1791028"/>
          </a:xfrm>
        </p:grpSpPr>
        <p:sp>
          <p:nvSpPr>
            <p:cNvPr id="20" name="pole tekstowe 19">
              <a:extLst>
                <a:ext uri="{FF2B5EF4-FFF2-40B4-BE49-F238E27FC236}">
                  <a16:creationId xmlns:a16="http://schemas.microsoft.com/office/drawing/2014/main" id="{FFF9E888-F5E5-CA28-4A23-D0CD6E8E61B6}"/>
                </a:ext>
              </a:extLst>
            </p:cNvPr>
            <p:cNvSpPr txBox="1"/>
            <p:nvPr/>
          </p:nvSpPr>
          <p:spPr>
            <a:xfrm>
              <a:off x="1019918" y="3624626"/>
              <a:ext cx="2630079" cy="523220"/>
            </a:xfrm>
            <a:prstGeom prst="rect">
              <a:avLst/>
            </a:prstGeom>
            <a:noFill/>
          </p:spPr>
          <p:txBody>
            <a:bodyPr wrap="square" rtlCol="0">
              <a:spAutoFit/>
            </a:bodyPr>
            <a:lstStyle/>
            <a:p>
              <a:r>
                <a:rPr lang="pl-PL" sz="1400" dirty="0">
                  <a:solidFill>
                    <a:schemeClr val="bg1"/>
                  </a:solidFill>
                </a:rPr>
                <a:t>Surowe dane: piksele zdjęcia, liczby, słowa</a:t>
              </a:r>
              <a:endParaRPr lang="en-US" sz="1400" dirty="0">
                <a:solidFill>
                  <a:schemeClr val="bg1"/>
                </a:solidFill>
              </a:endParaRPr>
            </a:p>
          </p:txBody>
        </p:sp>
        <p:sp>
          <p:nvSpPr>
            <p:cNvPr id="9" name="Prostokąt 8">
              <a:extLst>
                <a:ext uri="{FF2B5EF4-FFF2-40B4-BE49-F238E27FC236}">
                  <a16:creationId xmlns:a16="http://schemas.microsoft.com/office/drawing/2014/main" id="{8AF758FD-1D79-9851-E39D-D02A3D0011A8}"/>
                </a:ext>
              </a:extLst>
            </p:cNvPr>
            <p:cNvSpPr/>
            <p:nvPr/>
          </p:nvSpPr>
          <p:spPr>
            <a:xfrm>
              <a:off x="1235909" y="2356818"/>
              <a:ext cx="3154681" cy="168602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ole tekstowe 11">
              <a:extLst>
                <a:ext uri="{FF2B5EF4-FFF2-40B4-BE49-F238E27FC236}">
                  <a16:creationId xmlns:a16="http://schemas.microsoft.com/office/drawing/2014/main" id="{4962592A-55BE-8DF8-8849-27602DDBEDAF}"/>
                </a:ext>
              </a:extLst>
            </p:cNvPr>
            <p:cNvSpPr txBox="1"/>
            <p:nvPr/>
          </p:nvSpPr>
          <p:spPr>
            <a:xfrm>
              <a:off x="1760510" y="2465305"/>
              <a:ext cx="1942070" cy="369332"/>
            </a:xfrm>
            <a:prstGeom prst="rect">
              <a:avLst/>
            </a:prstGeom>
            <a:noFill/>
          </p:spPr>
          <p:txBody>
            <a:bodyPr wrap="none" rtlCol="0">
              <a:spAutoFit/>
            </a:bodyPr>
            <a:lstStyle/>
            <a:p>
              <a:pPr algn="ctr"/>
              <a:r>
                <a:rPr lang="pl-PL" dirty="0">
                  <a:solidFill>
                    <a:srgbClr val="00B050"/>
                  </a:solidFill>
                </a:rPr>
                <a:t>ChatGPT i Claude</a:t>
              </a:r>
              <a:endParaRPr lang="en-US" dirty="0">
                <a:solidFill>
                  <a:srgbClr val="00B050"/>
                </a:solidFill>
              </a:endParaRPr>
            </a:p>
          </p:txBody>
        </p:sp>
        <p:sp>
          <p:nvSpPr>
            <p:cNvPr id="15" name="pole tekstowe 14">
              <a:extLst>
                <a:ext uri="{FF2B5EF4-FFF2-40B4-BE49-F238E27FC236}">
                  <a16:creationId xmlns:a16="http://schemas.microsoft.com/office/drawing/2014/main" id="{DD26DD79-4563-05B6-B574-DE999057E1D5}"/>
                </a:ext>
              </a:extLst>
            </p:cNvPr>
            <p:cNvSpPr txBox="1"/>
            <p:nvPr/>
          </p:nvSpPr>
          <p:spPr>
            <a:xfrm>
              <a:off x="1498207" y="2901256"/>
              <a:ext cx="2630079" cy="307777"/>
            </a:xfrm>
            <a:prstGeom prst="rect">
              <a:avLst/>
            </a:prstGeom>
            <a:noFill/>
          </p:spPr>
          <p:txBody>
            <a:bodyPr wrap="square" rtlCol="0">
              <a:spAutoFit/>
            </a:bodyPr>
            <a:lstStyle/>
            <a:p>
              <a:r>
                <a:rPr lang="pl-PL" sz="1400" dirty="0"/>
                <a:t>Rozmowa i generowanie tekstu</a:t>
              </a:r>
              <a:endParaRPr lang="en-US" sz="1400" dirty="0"/>
            </a:p>
          </p:txBody>
        </p:sp>
      </p:grpSp>
      <p:sp>
        <p:nvSpPr>
          <p:cNvPr id="17" name="Prostokąt 16">
            <a:extLst>
              <a:ext uri="{FF2B5EF4-FFF2-40B4-BE49-F238E27FC236}">
                <a16:creationId xmlns:a16="http://schemas.microsoft.com/office/drawing/2014/main" id="{7FB0763C-E0FC-EAE7-44DA-063CF22D1FB7}"/>
              </a:ext>
            </a:extLst>
          </p:cNvPr>
          <p:cNvSpPr/>
          <p:nvPr/>
        </p:nvSpPr>
        <p:spPr>
          <a:xfrm>
            <a:off x="6636964" y="2397817"/>
            <a:ext cx="3154681" cy="168602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ole tekstowe 18">
            <a:extLst>
              <a:ext uri="{FF2B5EF4-FFF2-40B4-BE49-F238E27FC236}">
                <a16:creationId xmlns:a16="http://schemas.microsoft.com/office/drawing/2014/main" id="{8AF7DD19-FD74-9E30-AA2A-65157FD7B529}"/>
              </a:ext>
            </a:extLst>
          </p:cNvPr>
          <p:cNvSpPr txBox="1"/>
          <p:nvPr/>
        </p:nvSpPr>
        <p:spPr>
          <a:xfrm>
            <a:off x="7526487" y="2477723"/>
            <a:ext cx="1375634" cy="369332"/>
          </a:xfrm>
          <a:prstGeom prst="rect">
            <a:avLst/>
          </a:prstGeom>
          <a:noFill/>
        </p:spPr>
        <p:txBody>
          <a:bodyPr wrap="none" rtlCol="0">
            <a:spAutoFit/>
          </a:bodyPr>
          <a:lstStyle/>
          <a:p>
            <a:pPr algn="ctr"/>
            <a:r>
              <a:rPr lang="pl-PL" dirty="0">
                <a:solidFill>
                  <a:srgbClr val="00B050"/>
                </a:solidFill>
              </a:rPr>
              <a:t>Twój telefon</a:t>
            </a:r>
            <a:endParaRPr lang="en-US" dirty="0">
              <a:solidFill>
                <a:srgbClr val="00B050"/>
              </a:solidFill>
            </a:endParaRPr>
          </a:p>
        </p:txBody>
      </p:sp>
      <p:sp>
        <p:nvSpPr>
          <p:cNvPr id="22" name="pole tekstowe 21">
            <a:extLst>
              <a:ext uri="{FF2B5EF4-FFF2-40B4-BE49-F238E27FC236}">
                <a16:creationId xmlns:a16="http://schemas.microsoft.com/office/drawing/2014/main" id="{B4F1309A-A089-6BEB-CC6B-3E176677FFA5}"/>
              </a:ext>
            </a:extLst>
          </p:cNvPr>
          <p:cNvSpPr txBox="1"/>
          <p:nvPr/>
        </p:nvSpPr>
        <p:spPr>
          <a:xfrm>
            <a:off x="7033553" y="2875636"/>
            <a:ext cx="2630079" cy="523220"/>
          </a:xfrm>
          <a:prstGeom prst="rect">
            <a:avLst/>
          </a:prstGeom>
          <a:noFill/>
        </p:spPr>
        <p:txBody>
          <a:bodyPr wrap="square" rtlCol="0">
            <a:spAutoFit/>
          </a:bodyPr>
          <a:lstStyle/>
          <a:p>
            <a:r>
              <a:rPr lang="pl-PL" sz="1400" dirty="0"/>
              <a:t>Rozpoznawanie twarzy przy odblokowaniu</a:t>
            </a:r>
            <a:endParaRPr lang="en-US" sz="1400" dirty="0"/>
          </a:p>
        </p:txBody>
      </p:sp>
      <p:grpSp>
        <p:nvGrpSpPr>
          <p:cNvPr id="6" name="Grupa 5">
            <a:extLst>
              <a:ext uri="{FF2B5EF4-FFF2-40B4-BE49-F238E27FC236}">
                <a16:creationId xmlns:a16="http://schemas.microsoft.com/office/drawing/2014/main" id="{C9D64317-4A40-E829-EBE1-253D2FB6E355}"/>
              </a:ext>
            </a:extLst>
          </p:cNvPr>
          <p:cNvGrpSpPr/>
          <p:nvPr/>
        </p:nvGrpSpPr>
        <p:grpSpPr>
          <a:xfrm>
            <a:off x="2400354" y="4363260"/>
            <a:ext cx="3154681" cy="1686026"/>
            <a:chOff x="1235908" y="4363260"/>
            <a:chExt cx="3154681" cy="1686026"/>
          </a:xfrm>
        </p:grpSpPr>
        <p:sp>
          <p:nvSpPr>
            <p:cNvPr id="24" name="Prostokąt 23">
              <a:extLst>
                <a:ext uri="{FF2B5EF4-FFF2-40B4-BE49-F238E27FC236}">
                  <a16:creationId xmlns:a16="http://schemas.microsoft.com/office/drawing/2014/main" id="{A5860853-8B82-BB3B-2F0E-88685A4381C9}"/>
                </a:ext>
              </a:extLst>
            </p:cNvPr>
            <p:cNvSpPr/>
            <p:nvPr/>
          </p:nvSpPr>
          <p:spPr>
            <a:xfrm>
              <a:off x="1235908" y="4363260"/>
              <a:ext cx="3154681" cy="168602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pole tekstowe 25">
              <a:extLst>
                <a:ext uri="{FF2B5EF4-FFF2-40B4-BE49-F238E27FC236}">
                  <a16:creationId xmlns:a16="http://schemas.microsoft.com/office/drawing/2014/main" id="{0742F43F-08EA-5921-D7C9-E5438F794599}"/>
                </a:ext>
              </a:extLst>
            </p:cNvPr>
            <p:cNvSpPr txBox="1"/>
            <p:nvPr/>
          </p:nvSpPr>
          <p:spPr>
            <a:xfrm>
              <a:off x="2222124" y="4416838"/>
              <a:ext cx="1182247" cy="369332"/>
            </a:xfrm>
            <a:prstGeom prst="rect">
              <a:avLst/>
            </a:prstGeom>
            <a:noFill/>
          </p:spPr>
          <p:txBody>
            <a:bodyPr wrap="none" rtlCol="0">
              <a:spAutoFit/>
            </a:bodyPr>
            <a:lstStyle/>
            <a:p>
              <a:pPr algn="ctr"/>
              <a:r>
                <a:rPr lang="pl-PL" dirty="0">
                  <a:solidFill>
                    <a:srgbClr val="00B050"/>
                  </a:solidFill>
                </a:rPr>
                <a:t>Instagram</a:t>
              </a:r>
              <a:endParaRPr lang="en-US" dirty="0">
                <a:solidFill>
                  <a:srgbClr val="00B050"/>
                </a:solidFill>
              </a:endParaRPr>
            </a:p>
          </p:txBody>
        </p:sp>
        <p:sp>
          <p:nvSpPr>
            <p:cNvPr id="28" name="pole tekstowe 27">
              <a:extLst>
                <a:ext uri="{FF2B5EF4-FFF2-40B4-BE49-F238E27FC236}">
                  <a16:creationId xmlns:a16="http://schemas.microsoft.com/office/drawing/2014/main" id="{F06CCF4E-AB7A-7726-1149-664E11C39F09}"/>
                </a:ext>
              </a:extLst>
            </p:cNvPr>
            <p:cNvSpPr txBox="1"/>
            <p:nvPr/>
          </p:nvSpPr>
          <p:spPr>
            <a:xfrm>
              <a:off x="1760510" y="4764904"/>
              <a:ext cx="2630079" cy="523220"/>
            </a:xfrm>
            <a:prstGeom prst="rect">
              <a:avLst/>
            </a:prstGeom>
            <a:noFill/>
          </p:spPr>
          <p:txBody>
            <a:bodyPr wrap="square" rtlCol="0">
              <a:spAutoFit/>
            </a:bodyPr>
            <a:lstStyle/>
            <a:p>
              <a:r>
                <a:rPr lang="pl-PL" sz="1400" dirty="0"/>
                <a:t>Filtry w twarz w czasie rzeczywistym</a:t>
              </a:r>
              <a:endParaRPr lang="en-US" sz="1400" dirty="0"/>
            </a:p>
          </p:txBody>
        </p:sp>
      </p:grpSp>
      <p:grpSp>
        <p:nvGrpSpPr>
          <p:cNvPr id="8" name="Grupa 7">
            <a:extLst>
              <a:ext uri="{FF2B5EF4-FFF2-40B4-BE49-F238E27FC236}">
                <a16:creationId xmlns:a16="http://schemas.microsoft.com/office/drawing/2014/main" id="{FF4C1102-E920-BDB1-3304-EB821504EF19}"/>
              </a:ext>
            </a:extLst>
          </p:cNvPr>
          <p:cNvGrpSpPr/>
          <p:nvPr/>
        </p:nvGrpSpPr>
        <p:grpSpPr>
          <a:xfrm>
            <a:off x="6636964" y="4363260"/>
            <a:ext cx="3154681" cy="1686026"/>
            <a:chOff x="6636964" y="4363260"/>
            <a:chExt cx="3154681" cy="1686026"/>
          </a:xfrm>
        </p:grpSpPr>
        <p:sp>
          <p:nvSpPr>
            <p:cNvPr id="30" name="Prostokąt 29">
              <a:extLst>
                <a:ext uri="{FF2B5EF4-FFF2-40B4-BE49-F238E27FC236}">
                  <a16:creationId xmlns:a16="http://schemas.microsoft.com/office/drawing/2014/main" id="{8637AA5A-ADF9-5CCC-C978-7C4208A0393C}"/>
                </a:ext>
              </a:extLst>
            </p:cNvPr>
            <p:cNvSpPr/>
            <p:nvPr/>
          </p:nvSpPr>
          <p:spPr>
            <a:xfrm>
              <a:off x="6636964" y="4363260"/>
              <a:ext cx="3154681" cy="168602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ole tekstowe 31">
              <a:extLst>
                <a:ext uri="{FF2B5EF4-FFF2-40B4-BE49-F238E27FC236}">
                  <a16:creationId xmlns:a16="http://schemas.microsoft.com/office/drawing/2014/main" id="{3E3788E2-A199-BB3E-06C1-9E7F226521E8}"/>
                </a:ext>
              </a:extLst>
            </p:cNvPr>
            <p:cNvSpPr txBox="1"/>
            <p:nvPr/>
          </p:nvSpPr>
          <p:spPr>
            <a:xfrm>
              <a:off x="7366828" y="4390014"/>
              <a:ext cx="1694952" cy="369332"/>
            </a:xfrm>
            <a:prstGeom prst="rect">
              <a:avLst/>
            </a:prstGeom>
            <a:noFill/>
          </p:spPr>
          <p:txBody>
            <a:bodyPr wrap="none" rtlCol="0">
              <a:spAutoFit/>
            </a:bodyPr>
            <a:lstStyle/>
            <a:p>
              <a:pPr algn="ctr"/>
              <a:r>
                <a:rPr lang="pl-PL" dirty="0">
                  <a:solidFill>
                    <a:srgbClr val="00B050"/>
                  </a:solidFill>
                </a:rPr>
                <a:t>Netflix / Spotify</a:t>
              </a:r>
              <a:endParaRPr lang="en-US" dirty="0">
                <a:solidFill>
                  <a:srgbClr val="00B050"/>
                </a:solidFill>
              </a:endParaRPr>
            </a:p>
          </p:txBody>
        </p:sp>
        <p:sp>
          <p:nvSpPr>
            <p:cNvPr id="34" name="pole tekstowe 33">
              <a:extLst>
                <a:ext uri="{FF2B5EF4-FFF2-40B4-BE49-F238E27FC236}">
                  <a16:creationId xmlns:a16="http://schemas.microsoft.com/office/drawing/2014/main" id="{A17279EA-250B-D675-A291-900C5C41C6BC}"/>
                </a:ext>
              </a:extLst>
            </p:cNvPr>
            <p:cNvSpPr txBox="1"/>
            <p:nvPr/>
          </p:nvSpPr>
          <p:spPr>
            <a:xfrm>
              <a:off x="7033552" y="4872626"/>
              <a:ext cx="2630079" cy="307777"/>
            </a:xfrm>
            <a:prstGeom prst="rect">
              <a:avLst/>
            </a:prstGeom>
            <a:noFill/>
          </p:spPr>
          <p:txBody>
            <a:bodyPr wrap="square" rtlCol="0">
              <a:spAutoFit/>
            </a:bodyPr>
            <a:lstStyle/>
            <a:p>
              <a:r>
                <a:rPr lang="pl-PL" sz="1400" dirty="0"/>
                <a:t>Rekomendacje „dla Ciebie”</a:t>
              </a:r>
              <a:endParaRPr lang="en-US" sz="1400" dirty="0"/>
            </a:p>
          </p:txBody>
        </p:sp>
      </p:grpSp>
      <p:pic>
        <p:nvPicPr>
          <p:cNvPr id="7" name="Obraz 6">
            <a:extLst>
              <a:ext uri="{FF2B5EF4-FFF2-40B4-BE49-F238E27FC236}">
                <a16:creationId xmlns:a16="http://schemas.microsoft.com/office/drawing/2014/main" id="{25378EB1-1DA1-26C7-4B89-C95E9EFC3C74}"/>
              </a:ext>
            </a:extLst>
          </p:cNvPr>
          <p:cNvPicPr>
            <a:picLocks noChangeAspect="1"/>
          </p:cNvPicPr>
          <p:nvPr/>
        </p:nvPicPr>
        <p:blipFill>
          <a:blip r:embed="rId3"/>
          <a:stretch>
            <a:fillRect/>
          </a:stretch>
        </p:blipFill>
        <p:spPr>
          <a:xfrm>
            <a:off x="9474431" y="4759346"/>
            <a:ext cx="1399143" cy="755366"/>
          </a:xfrm>
          <a:prstGeom prst="rect">
            <a:avLst/>
          </a:prstGeom>
        </p:spPr>
      </p:pic>
      <p:pic>
        <p:nvPicPr>
          <p:cNvPr id="11" name="Obraz 10">
            <a:extLst>
              <a:ext uri="{FF2B5EF4-FFF2-40B4-BE49-F238E27FC236}">
                <a16:creationId xmlns:a16="http://schemas.microsoft.com/office/drawing/2014/main" id="{7E93573B-5557-5B23-ED22-FB5C35C86DD3}"/>
              </a:ext>
            </a:extLst>
          </p:cNvPr>
          <p:cNvPicPr>
            <a:picLocks noChangeAspect="1"/>
          </p:cNvPicPr>
          <p:nvPr/>
        </p:nvPicPr>
        <p:blipFill>
          <a:blip r:embed="rId4"/>
          <a:stretch>
            <a:fillRect/>
          </a:stretch>
        </p:blipFill>
        <p:spPr>
          <a:xfrm>
            <a:off x="9471354" y="2619735"/>
            <a:ext cx="894933" cy="1262714"/>
          </a:xfrm>
          <a:prstGeom prst="rect">
            <a:avLst/>
          </a:prstGeom>
        </p:spPr>
      </p:pic>
      <p:pic>
        <p:nvPicPr>
          <p:cNvPr id="21" name="Obraz 20">
            <a:extLst>
              <a:ext uri="{FF2B5EF4-FFF2-40B4-BE49-F238E27FC236}">
                <a16:creationId xmlns:a16="http://schemas.microsoft.com/office/drawing/2014/main" id="{EF70E6C1-90A2-D699-AECE-E579298ED254}"/>
              </a:ext>
            </a:extLst>
          </p:cNvPr>
          <p:cNvPicPr>
            <a:picLocks noChangeAspect="1"/>
          </p:cNvPicPr>
          <p:nvPr/>
        </p:nvPicPr>
        <p:blipFill>
          <a:blip r:embed="rId5"/>
          <a:stretch>
            <a:fillRect/>
          </a:stretch>
        </p:blipFill>
        <p:spPr>
          <a:xfrm>
            <a:off x="1582010" y="4593755"/>
            <a:ext cx="1065490" cy="1086547"/>
          </a:xfrm>
          <a:prstGeom prst="rect">
            <a:avLst/>
          </a:prstGeom>
        </p:spPr>
      </p:pic>
      <p:pic>
        <p:nvPicPr>
          <p:cNvPr id="25" name="Obraz 24">
            <a:extLst>
              <a:ext uri="{FF2B5EF4-FFF2-40B4-BE49-F238E27FC236}">
                <a16:creationId xmlns:a16="http://schemas.microsoft.com/office/drawing/2014/main" id="{27021127-7F35-3C85-493B-02B07CDE4662}"/>
              </a:ext>
            </a:extLst>
          </p:cNvPr>
          <p:cNvPicPr>
            <a:picLocks noChangeAspect="1"/>
          </p:cNvPicPr>
          <p:nvPr/>
        </p:nvPicPr>
        <p:blipFill>
          <a:blip r:embed="rId6"/>
          <a:stretch>
            <a:fillRect/>
          </a:stretch>
        </p:blipFill>
        <p:spPr>
          <a:xfrm>
            <a:off x="556176" y="2942255"/>
            <a:ext cx="2049097" cy="777244"/>
          </a:xfrm>
          <a:prstGeom prst="rect">
            <a:avLst/>
          </a:prstGeom>
        </p:spPr>
      </p:pic>
    </p:spTree>
    <p:extLst>
      <p:ext uri="{BB962C8B-B14F-4D97-AF65-F5344CB8AC3E}">
        <p14:creationId xmlns:p14="http://schemas.microsoft.com/office/powerpoint/2010/main" val="3531060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CE6CB494-DEC3-5690-57B0-CE7A8D7B4B54}"/>
              </a:ext>
            </a:extLst>
          </p:cNvPr>
          <p:cNvSpPr txBox="1"/>
          <p:nvPr/>
        </p:nvSpPr>
        <p:spPr>
          <a:xfrm>
            <a:off x="1682057" y="82426"/>
            <a:ext cx="9588694" cy="646331"/>
          </a:xfrm>
          <a:prstGeom prst="rect">
            <a:avLst/>
          </a:prstGeom>
          <a:noFill/>
        </p:spPr>
        <p:txBody>
          <a:bodyPr wrap="square">
            <a:spAutoFit/>
          </a:bodyPr>
          <a:lstStyle/>
          <a:p>
            <a:r>
              <a:rPr lang="pl-PL" sz="3600" dirty="0"/>
              <a:t>Przykłady zastosowania (trochę dalsze) </a:t>
            </a:r>
            <a:endParaRPr lang="en-US" sz="3600" dirty="0"/>
          </a:p>
        </p:txBody>
      </p:sp>
      <p:grpSp>
        <p:nvGrpSpPr>
          <p:cNvPr id="8" name="Grupa 7">
            <a:extLst>
              <a:ext uri="{FF2B5EF4-FFF2-40B4-BE49-F238E27FC236}">
                <a16:creationId xmlns:a16="http://schemas.microsoft.com/office/drawing/2014/main" id="{C7E8D80A-DC38-D2D7-B19C-67A8B305FC9C}"/>
              </a:ext>
            </a:extLst>
          </p:cNvPr>
          <p:cNvGrpSpPr/>
          <p:nvPr/>
        </p:nvGrpSpPr>
        <p:grpSpPr>
          <a:xfrm>
            <a:off x="360732" y="1010805"/>
            <a:ext cx="5435784" cy="2491765"/>
            <a:chOff x="1019918" y="2356818"/>
            <a:chExt cx="3316318" cy="1791028"/>
          </a:xfrm>
        </p:grpSpPr>
        <p:sp>
          <p:nvSpPr>
            <p:cNvPr id="9" name="pole tekstowe 8">
              <a:extLst>
                <a:ext uri="{FF2B5EF4-FFF2-40B4-BE49-F238E27FC236}">
                  <a16:creationId xmlns:a16="http://schemas.microsoft.com/office/drawing/2014/main" id="{000D784E-392C-BBF0-B5AF-A0B53A24F0CA}"/>
                </a:ext>
              </a:extLst>
            </p:cNvPr>
            <p:cNvSpPr txBox="1"/>
            <p:nvPr/>
          </p:nvSpPr>
          <p:spPr>
            <a:xfrm>
              <a:off x="1019918" y="3624626"/>
              <a:ext cx="2630079" cy="523220"/>
            </a:xfrm>
            <a:prstGeom prst="rect">
              <a:avLst/>
            </a:prstGeom>
            <a:noFill/>
          </p:spPr>
          <p:txBody>
            <a:bodyPr wrap="square" rtlCol="0">
              <a:spAutoFit/>
            </a:bodyPr>
            <a:lstStyle/>
            <a:p>
              <a:r>
                <a:rPr lang="pl-PL" sz="1400" dirty="0">
                  <a:solidFill>
                    <a:schemeClr val="bg1"/>
                  </a:solidFill>
                </a:rPr>
                <a:t>Surowe dane: piksele zdjęcia, liczby, słowa</a:t>
              </a:r>
              <a:endParaRPr lang="en-US" sz="1400" dirty="0">
                <a:solidFill>
                  <a:schemeClr val="bg1"/>
                </a:solidFill>
              </a:endParaRPr>
            </a:p>
          </p:txBody>
        </p:sp>
        <p:sp>
          <p:nvSpPr>
            <p:cNvPr id="10" name="Prostokąt 9">
              <a:extLst>
                <a:ext uri="{FF2B5EF4-FFF2-40B4-BE49-F238E27FC236}">
                  <a16:creationId xmlns:a16="http://schemas.microsoft.com/office/drawing/2014/main" id="{87520D5B-08E1-6DCC-6714-2E09A9A5741F}"/>
                </a:ext>
              </a:extLst>
            </p:cNvPr>
            <p:cNvSpPr/>
            <p:nvPr/>
          </p:nvSpPr>
          <p:spPr>
            <a:xfrm>
              <a:off x="1235909" y="2356818"/>
              <a:ext cx="3045973" cy="144689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ole tekstowe 10">
              <a:extLst>
                <a:ext uri="{FF2B5EF4-FFF2-40B4-BE49-F238E27FC236}">
                  <a16:creationId xmlns:a16="http://schemas.microsoft.com/office/drawing/2014/main" id="{DEB06F10-41F9-28D3-329E-0179B95375C9}"/>
                </a:ext>
              </a:extLst>
            </p:cNvPr>
            <p:cNvSpPr txBox="1"/>
            <p:nvPr/>
          </p:nvSpPr>
          <p:spPr>
            <a:xfrm>
              <a:off x="1458734" y="2465305"/>
              <a:ext cx="2545633" cy="369332"/>
            </a:xfrm>
            <a:prstGeom prst="rect">
              <a:avLst/>
            </a:prstGeom>
            <a:noFill/>
          </p:spPr>
          <p:txBody>
            <a:bodyPr wrap="none" rtlCol="0">
              <a:spAutoFit/>
            </a:bodyPr>
            <a:lstStyle/>
            <a:p>
              <a:pPr algn="ctr"/>
              <a:r>
                <a:rPr lang="pl-PL" dirty="0">
                  <a:solidFill>
                    <a:srgbClr val="00B050"/>
                  </a:solidFill>
                </a:rPr>
                <a:t>Przetwarzanie sygnałów</a:t>
              </a:r>
              <a:endParaRPr lang="en-US" dirty="0">
                <a:solidFill>
                  <a:srgbClr val="00B050"/>
                </a:solidFill>
              </a:endParaRPr>
            </a:p>
          </p:txBody>
        </p:sp>
        <p:sp>
          <p:nvSpPr>
            <p:cNvPr id="12" name="pole tekstowe 11">
              <a:extLst>
                <a:ext uri="{FF2B5EF4-FFF2-40B4-BE49-F238E27FC236}">
                  <a16:creationId xmlns:a16="http://schemas.microsoft.com/office/drawing/2014/main" id="{29114A9D-457A-1EDE-CF09-A0FA18B6F616}"/>
                </a:ext>
              </a:extLst>
            </p:cNvPr>
            <p:cNvSpPr txBox="1"/>
            <p:nvPr/>
          </p:nvSpPr>
          <p:spPr>
            <a:xfrm>
              <a:off x="1290263" y="2787030"/>
              <a:ext cx="3045973" cy="597303"/>
            </a:xfrm>
            <a:prstGeom prst="rect">
              <a:avLst/>
            </a:prstGeom>
            <a:noFill/>
          </p:spPr>
          <p:txBody>
            <a:bodyPr wrap="square" rtlCol="0">
              <a:spAutoFit/>
            </a:bodyPr>
            <a:lstStyle/>
            <a:p>
              <a:r>
                <a:rPr lang="pl-PL" sz="1200" dirty="0"/>
                <a:t>Tłumienie szumów na liniach telekomunikacyjnych między kontynentami. Różnica między wyjściem z linii telekomunikacyjnym a wyjściem z sieci neuronowej to błąd. Błąd służy uczeniu sieci i usuwaniu zakłóceń z sygnału  </a:t>
              </a:r>
              <a:endParaRPr lang="en-US" sz="1200" dirty="0"/>
            </a:p>
          </p:txBody>
        </p:sp>
      </p:grpSp>
      <p:grpSp>
        <p:nvGrpSpPr>
          <p:cNvPr id="13" name="Grupa 12">
            <a:extLst>
              <a:ext uri="{FF2B5EF4-FFF2-40B4-BE49-F238E27FC236}">
                <a16:creationId xmlns:a16="http://schemas.microsoft.com/office/drawing/2014/main" id="{4D5AEF19-7AF6-9321-C34A-C4C01450C6CB}"/>
              </a:ext>
            </a:extLst>
          </p:cNvPr>
          <p:cNvGrpSpPr/>
          <p:nvPr/>
        </p:nvGrpSpPr>
        <p:grpSpPr>
          <a:xfrm>
            <a:off x="6621087" y="1010803"/>
            <a:ext cx="4906417" cy="2491768"/>
            <a:chOff x="1019918" y="2356816"/>
            <a:chExt cx="3488705" cy="1791030"/>
          </a:xfrm>
        </p:grpSpPr>
        <p:sp>
          <p:nvSpPr>
            <p:cNvPr id="14" name="pole tekstowe 13">
              <a:extLst>
                <a:ext uri="{FF2B5EF4-FFF2-40B4-BE49-F238E27FC236}">
                  <a16:creationId xmlns:a16="http://schemas.microsoft.com/office/drawing/2014/main" id="{5450A4BA-D906-C0CB-276F-2B1D290DED31}"/>
                </a:ext>
              </a:extLst>
            </p:cNvPr>
            <p:cNvSpPr txBox="1"/>
            <p:nvPr/>
          </p:nvSpPr>
          <p:spPr>
            <a:xfrm>
              <a:off x="1019918" y="3624626"/>
              <a:ext cx="2630079" cy="523220"/>
            </a:xfrm>
            <a:prstGeom prst="rect">
              <a:avLst/>
            </a:prstGeom>
            <a:noFill/>
          </p:spPr>
          <p:txBody>
            <a:bodyPr wrap="square" rtlCol="0">
              <a:spAutoFit/>
            </a:bodyPr>
            <a:lstStyle/>
            <a:p>
              <a:r>
                <a:rPr lang="pl-PL" sz="1400" dirty="0">
                  <a:solidFill>
                    <a:schemeClr val="bg1"/>
                  </a:solidFill>
                </a:rPr>
                <a:t>Surowe dane: piksele zdjęcia, liczby, słowa</a:t>
              </a:r>
              <a:endParaRPr lang="en-US" sz="1400" dirty="0">
                <a:solidFill>
                  <a:schemeClr val="bg1"/>
                </a:solidFill>
              </a:endParaRPr>
            </a:p>
          </p:txBody>
        </p:sp>
        <p:sp>
          <p:nvSpPr>
            <p:cNvPr id="15" name="Prostokąt 14">
              <a:extLst>
                <a:ext uri="{FF2B5EF4-FFF2-40B4-BE49-F238E27FC236}">
                  <a16:creationId xmlns:a16="http://schemas.microsoft.com/office/drawing/2014/main" id="{3C4E189E-71A3-29D8-629D-86C1F0BCD2A0}"/>
                </a:ext>
              </a:extLst>
            </p:cNvPr>
            <p:cNvSpPr/>
            <p:nvPr/>
          </p:nvSpPr>
          <p:spPr>
            <a:xfrm>
              <a:off x="1235909" y="2356816"/>
              <a:ext cx="3272714" cy="144689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pole tekstowe 15">
              <a:extLst>
                <a:ext uri="{FF2B5EF4-FFF2-40B4-BE49-F238E27FC236}">
                  <a16:creationId xmlns:a16="http://schemas.microsoft.com/office/drawing/2014/main" id="{3D252623-540A-789A-4F74-A24DCF27A86A}"/>
                </a:ext>
              </a:extLst>
            </p:cNvPr>
            <p:cNvSpPr txBox="1"/>
            <p:nvPr/>
          </p:nvSpPr>
          <p:spPr>
            <a:xfrm>
              <a:off x="2306150" y="2465305"/>
              <a:ext cx="850803" cy="265468"/>
            </a:xfrm>
            <a:prstGeom prst="rect">
              <a:avLst/>
            </a:prstGeom>
            <a:noFill/>
          </p:spPr>
          <p:txBody>
            <a:bodyPr wrap="none" rtlCol="0">
              <a:spAutoFit/>
            </a:bodyPr>
            <a:lstStyle/>
            <a:p>
              <a:pPr algn="ctr"/>
              <a:r>
                <a:rPr lang="pl-PL" dirty="0">
                  <a:solidFill>
                    <a:srgbClr val="00B050"/>
                  </a:solidFill>
                </a:rPr>
                <a:t>Medycyna</a:t>
              </a:r>
              <a:endParaRPr lang="en-US" dirty="0">
                <a:solidFill>
                  <a:srgbClr val="00B050"/>
                </a:solidFill>
              </a:endParaRPr>
            </a:p>
          </p:txBody>
        </p:sp>
        <p:sp>
          <p:nvSpPr>
            <p:cNvPr id="17" name="pole tekstowe 16">
              <a:extLst>
                <a:ext uri="{FF2B5EF4-FFF2-40B4-BE49-F238E27FC236}">
                  <a16:creationId xmlns:a16="http://schemas.microsoft.com/office/drawing/2014/main" id="{C88AAC21-7D03-FC08-FF36-07407CAAC53B}"/>
                </a:ext>
              </a:extLst>
            </p:cNvPr>
            <p:cNvSpPr txBox="1"/>
            <p:nvPr/>
          </p:nvSpPr>
          <p:spPr>
            <a:xfrm>
              <a:off x="1408297" y="2783578"/>
              <a:ext cx="3045973" cy="464569"/>
            </a:xfrm>
            <a:prstGeom prst="rect">
              <a:avLst/>
            </a:prstGeom>
            <a:noFill/>
          </p:spPr>
          <p:txBody>
            <a:bodyPr wrap="square" rtlCol="0">
              <a:spAutoFit/>
            </a:bodyPr>
            <a:lstStyle/>
            <a:p>
              <a:r>
                <a:rPr lang="pl-PL" sz="1200" dirty="0"/>
                <a:t>Firma IBM opracowała sieć neuronową zdolną do przewidywania na podstawie notatek lekarzy – podobnie jak robią to doświadczeni kardiolodzy – możliwych schorzeń serca</a:t>
              </a:r>
              <a:endParaRPr lang="en-US" sz="1200" dirty="0"/>
            </a:p>
          </p:txBody>
        </p:sp>
      </p:grpSp>
      <p:grpSp>
        <p:nvGrpSpPr>
          <p:cNvPr id="18" name="Grupa 17">
            <a:extLst>
              <a:ext uri="{FF2B5EF4-FFF2-40B4-BE49-F238E27FC236}">
                <a16:creationId xmlns:a16="http://schemas.microsoft.com/office/drawing/2014/main" id="{33410527-97F9-37D5-08A5-EE29C3E202AF}"/>
              </a:ext>
            </a:extLst>
          </p:cNvPr>
          <p:cNvGrpSpPr/>
          <p:nvPr/>
        </p:nvGrpSpPr>
        <p:grpSpPr>
          <a:xfrm>
            <a:off x="360732" y="3888532"/>
            <a:ext cx="5346692" cy="2491764"/>
            <a:chOff x="1019918" y="2356819"/>
            <a:chExt cx="3208501" cy="1791027"/>
          </a:xfrm>
        </p:grpSpPr>
        <p:sp>
          <p:nvSpPr>
            <p:cNvPr id="19" name="pole tekstowe 18">
              <a:extLst>
                <a:ext uri="{FF2B5EF4-FFF2-40B4-BE49-F238E27FC236}">
                  <a16:creationId xmlns:a16="http://schemas.microsoft.com/office/drawing/2014/main" id="{9B7B6C87-B58C-BB0A-C4BA-EA05ED699571}"/>
                </a:ext>
              </a:extLst>
            </p:cNvPr>
            <p:cNvSpPr txBox="1"/>
            <p:nvPr/>
          </p:nvSpPr>
          <p:spPr>
            <a:xfrm>
              <a:off x="1019918" y="3624626"/>
              <a:ext cx="2630079" cy="523220"/>
            </a:xfrm>
            <a:prstGeom prst="rect">
              <a:avLst/>
            </a:prstGeom>
            <a:noFill/>
          </p:spPr>
          <p:txBody>
            <a:bodyPr wrap="square" rtlCol="0">
              <a:spAutoFit/>
            </a:bodyPr>
            <a:lstStyle/>
            <a:p>
              <a:r>
                <a:rPr lang="pl-PL" sz="1400" dirty="0">
                  <a:solidFill>
                    <a:schemeClr val="bg1"/>
                  </a:solidFill>
                </a:rPr>
                <a:t>Surowe dane: piksele zdjęcia, liczby, słowa</a:t>
              </a:r>
              <a:endParaRPr lang="en-US" sz="1400" dirty="0">
                <a:solidFill>
                  <a:schemeClr val="bg1"/>
                </a:solidFill>
              </a:endParaRPr>
            </a:p>
          </p:txBody>
        </p:sp>
        <p:sp>
          <p:nvSpPr>
            <p:cNvPr id="20" name="Prostokąt 19">
              <a:extLst>
                <a:ext uri="{FF2B5EF4-FFF2-40B4-BE49-F238E27FC236}">
                  <a16:creationId xmlns:a16="http://schemas.microsoft.com/office/drawing/2014/main" id="{B65E93F4-F0FD-2537-BE3B-C00CAB37B188}"/>
                </a:ext>
              </a:extLst>
            </p:cNvPr>
            <p:cNvSpPr/>
            <p:nvPr/>
          </p:nvSpPr>
          <p:spPr>
            <a:xfrm>
              <a:off x="1235909" y="2356819"/>
              <a:ext cx="2992510" cy="137813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pole tekstowe 20">
              <a:extLst>
                <a:ext uri="{FF2B5EF4-FFF2-40B4-BE49-F238E27FC236}">
                  <a16:creationId xmlns:a16="http://schemas.microsoft.com/office/drawing/2014/main" id="{C7A02630-6686-0D85-3B62-D6FB56AECD11}"/>
                </a:ext>
              </a:extLst>
            </p:cNvPr>
            <p:cNvSpPr txBox="1"/>
            <p:nvPr/>
          </p:nvSpPr>
          <p:spPr>
            <a:xfrm>
              <a:off x="2258550" y="2465305"/>
              <a:ext cx="946001" cy="265468"/>
            </a:xfrm>
            <a:prstGeom prst="rect">
              <a:avLst/>
            </a:prstGeom>
            <a:noFill/>
          </p:spPr>
          <p:txBody>
            <a:bodyPr wrap="none" rtlCol="0">
              <a:spAutoFit/>
            </a:bodyPr>
            <a:lstStyle/>
            <a:p>
              <a:pPr algn="ctr"/>
              <a:r>
                <a:rPr lang="pl-PL" dirty="0">
                  <a:solidFill>
                    <a:srgbClr val="00B050"/>
                  </a:solidFill>
                </a:rPr>
                <a:t>Bankowość</a:t>
              </a:r>
              <a:endParaRPr lang="en-US" dirty="0">
                <a:solidFill>
                  <a:srgbClr val="00B050"/>
                </a:solidFill>
              </a:endParaRPr>
            </a:p>
          </p:txBody>
        </p:sp>
        <p:sp>
          <p:nvSpPr>
            <p:cNvPr id="22" name="pole tekstowe 21">
              <a:extLst>
                <a:ext uri="{FF2B5EF4-FFF2-40B4-BE49-F238E27FC236}">
                  <a16:creationId xmlns:a16="http://schemas.microsoft.com/office/drawing/2014/main" id="{11EFEB56-A59C-B43D-859C-D7BD54962592}"/>
                </a:ext>
              </a:extLst>
            </p:cNvPr>
            <p:cNvSpPr txBox="1"/>
            <p:nvPr/>
          </p:nvSpPr>
          <p:spPr>
            <a:xfrm>
              <a:off x="1290263" y="2730773"/>
              <a:ext cx="2811687" cy="730037"/>
            </a:xfrm>
            <a:prstGeom prst="rect">
              <a:avLst/>
            </a:prstGeom>
            <a:noFill/>
          </p:spPr>
          <p:txBody>
            <a:bodyPr wrap="square" rtlCol="0">
              <a:spAutoFit/>
            </a:bodyPr>
            <a:lstStyle/>
            <a:p>
              <a:r>
                <a:rPr lang="pl-PL" sz="1200" dirty="0"/>
                <a:t>Sieć można wykorzystać do oszacowania, czy należy udzielić kredytu hipotecznego. Dane szkoleniowe – praca wykonana przez rzeczoznawców kredytów hipotecznych. Wejściem mogą być takie cechy jak – liczba lat zatrudnienia wnioskodawcy, poziom dochodów, liczba osób na utrzymaniu, szacowana wartość nieruchomości.</a:t>
              </a:r>
              <a:endParaRPr lang="en-US" sz="1200" dirty="0"/>
            </a:p>
          </p:txBody>
        </p:sp>
      </p:grpSp>
      <p:grpSp>
        <p:nvGrpSpPr>
          <p:cNvPr id="23" name="Grupa 22">
            <a:extLst>
              <a:ext uri="{FF2B5EF4-FFF2-40B4-BE49-F238E27FC236}">
                <a16:creationId xmlns:a16="http://schemas.microsoft.com/office/drawing/2014/main" id="{1A90B04F-76C7-018C-6088-EFEF830B7328}"/>
              </a:ext>
            </a:extLst>
          </p:cNvPr>
          <p:cNvGrpSpPr/>
          <p:nvPr/>
        </p:nvGrpSpPr>
        <p:grpSpPr>
          <a:xfrm>
            <a:off x="6545997" y="3888532"/>
            <a:ext cx="5526360" cy="2491764"/>
            <a:chOff x="1019918" y="2356819"/>
            <a:chExt cx="3316318" cy="1791027"/>
          </a:xfrm>
        </p:grpSpPr>
        <p:sp>
          <p:nvSpPr>
            <p:cNvPr id="24" name="pole tekstowe 23">
              <a:extLst>
                <a:ext uri="{FF2B5EF4-FFF2-40B4-BE49-F238E27FC236}">
                  <a16:creationId xmlns:a16="http://schemas.microsoft.com/office/drawing/2014/main" id="{199F463E-78B9-1616-5552-1BB36CFEDDFC}"/>
                </a:ext>
              </a:extLst>
            </p:cNvPr>
            <p:cNvSpPr txBox="1"/>
            <p:nvPr/>
          </p:nvSpPr>
          <p:spPr>
            <a:xfrm>
              <a:off x="1019918" y="3624626"/>
              <a:ext cx="2630079" cy="523220"/>
            </a:xfrm>
            <a:prstGeom prst="rect">
              <a:avLst/>
            </a:prstGeom>
            <a:noFill/>
          </p:spPr>
          <p:txBody>
            <a:bodyPr wrap="square" rtlCol="0">
              <a:spAutoFit/>
            </a:bodyPr>
            <a:lstStyle/>
            <a:p>
              <a:r>
                <a:rPr lang="pl-PL" sz="1400" dirty="0">
                  <a:solidFill>
                    <a:schemeClr val="bg1"/>
                  </a:solidFill>
                </a:rPr>
                <a:t>Surowe dane: piksele zdjęcia, liczby, słowa</a:t>
              </a:r>
              <a:endParaRPr lang="en-US" sz="1400" dirty="0">
                <a:solidFill>
                  <a:schemeClr val="bg1"/>
                </a:solidFill>
              </a:endParaRPr>
            </a:p>
          </p:txBody>
        </p:sp>
        <p:sp>
          <p:nvSpPr>
            <p:cNvPr id="25" name="Prostokąt 24">
              <a:extLst>
                <a:ext uri="{FF2B5EF4-FFF2-40B4-BE49-F238E27FC236}">
                  <a16:creationId xmlns:a16="http://schemas.microsoft.com/office/drawing/2014/main" id="{999AF763-EF27-29E0-5D1D-CA63AC98AE80}"/>
                </a:ext>
              </a:extLst>
            </p:cNvPr>
            <p:cNvSpPr/>
            <p:nvPr/>
          </p:nvSpPr>
          <p:spPr>
            <a:xfrm>
              <a:off x="1235909" y="2356819"/>
              <a:ext cx="2773365" cy="137813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pole tekstowe 25">
              <a:extLst>
                <a:ext uri="{FF2B5EF4-FFF2-40B4-BE49-F238E27FC236}">
                  <a16:creationId xmlns:a16="http://schemas.microsoft.com/office/drawing/2014/main" id="{EB07132F-6D57-E248-F286-C448DEF063D1}"/>
                </a:ext>
              </a:extLst>
            </p:cNvPr>
            <p:cNvSpPr txBox="1"/>
            <p:nvPr/>
          </p:nvSpPr>
          <p:spPr>
            <a:xfrm>
              <a:off x="1931274" y="2465305"/>
              <a:ext cx="1600565" cy="265468"/>
            </a:xfrm>
            <a:prstGeom prst="rect">
              <a:avLst/>
            </a:prstGeom>
            <a:noFill/>
          </p:spPr>
          <p:txBody>
            <a:bodyPr wrap="none" rtlCol="0">
              <a:spAutoFit/>
            </a:bodyPr>
            <a:lstStyle/>
            <a:p>
              <a:pPr algn="ctr"/>
              <a:r>
                <a:rPr lang="pl-PL" dirty="0">
                  <a:solidFill>
                    <a:srgbClr val="00B050"/>
                  </a:solidFill>
                </a:rPr>
                <a:t>Rozpoznawanie wzorców</a:t>
              </a:r>
              <a:endParaRPr lang="en-US" dirty="0">
                <a:solidFill>
                  <a:srgbClr val="00B050"/>
                </a:solidFill>
              </a:endParaRPr>
            </a:p>
          </p:txBody>
        </p:sp>
        <p:sp>
          <p:nvSpPr>
            <p:cNvPr id="27" name="pole tekstowe 26">
              <a:extLst>
                <a:ext uri="{FF2B5EF4-FFF2-40B4-BE49-F238E27FC236}">
                  <a16:creationId xmlns:a16="http://schemas.microsoft.com/office/drawing/2014/main" id="{9C591862-FFC3-43CF-C44D-FAA9EEE29161}"/>
                </a:ext>
              </a:extLst>
            </p:cNvPr>
            <p:cNvSpPr txBox="1"/>
            <p:nvPr/>
          </p:nvSpPr>
          <p:spPr>
            <a:xfrm>
              <a:off x="1290263" y="2730773"/>
              <a:ext cx="3045973" cy="331835"/>
            </a:xfrm>
            <a:prstGeom prst="rect">
              <a:avLst/>
            </a:prstGeom>
            <a:noFill/>
          </p:spPr>
          <p:txBody>
            <a:bodyPr wrap="square" rtlCol="0">
              <a:spAutoFit/>
            </a:bodyPr>
            <a:lstStyle/>
            <a:p>
              <a:r>
                <a:rPr lang="pl-PL" sz="1200" dirty="0"/>
                <a:t>Rozpoznawanie cyfr, Rozpoznawanie pisanych ręcznie kodów </a:t>
              </a:r>
              <a:br>
                <a:rPr lang="pl-PL" sz="1200" dirty="0"/>
              </a:br>
              <a:r>
                <a:rPr lang="pl-PL" sz="1200" dirty="0"/>
                <a:t>pocztowych, znaków drogowych, pojazdów na parkingach.</a:t>
              </a:r>
              <a:endParaRPr lang="en-US" sz="1200" dirty="0"/>
            </a:p>
          </p:txBody>
        </p:sp>
      </p:grpSp>
      <p:pic>
        <p:nvPicPr>
          <p:cNvPr id="3" name="Picture 13">
            <a:extLst>
              <a:ext uri="{FF2B5EF4-FFF2-40B4-BE49-F238E27FC236}">
                <a16:creationId xmlns:a16="http://schemas.microsoft.com/office/drawing/2014/main" id="{70BFDC1B-B008-3F01-3845-33996AF59279}"/>
              </a:ext>
            </a:extLst>
          </p:cNvPr>
          <p:cNvPicPr>
            <a:picLocks noChangeAspect="1"/>
          </p:cNvPicPr>
          <p:nvPr/>
        </p:nvPicPr>
        <p:blipFill>
          <a:blip r:embed="rId3"/>
          <a:stretch>
            <a:fillRect/>
          </a:stretch>
        </p:blipFill>
        <p:spPr>
          <a:xfrm>
            <a:off x="5310172" y="2440334"/>
            <a:ext cx="975198" cy="942691"/>
          </a:xfrm>
          <a:prstGeom prst="rect">
            <a:avLst/>
          </a:prstGeom>
        </p:spPr>
      </p:pic>
      <p:pic>
        <p:nvPicPr>
          <p:cNvPr id="5" name="Obraz 4">
            <a:extLst>
              <a:ext uri="{FF2B5EF4-FFF2-40B4-BE49-F238E27FC236}">
                <a16:creationId xmlns:a16="http://schemas.microsoft.com/office/drawing/2014/main" id="{EDD097E6-9678-A69F-8C1D-A5BFEC77ED81}"/>
              </a:ext>
            </a:extLst>
          </p:cNvPr>
          <p:cNvPicPr>
            <a:picLocks noChangeAspect="1"/>
          </p:cNvPicPr>
          <p:nvPr/>
        </p:nvPicPr>
        <p:blipFill>
          <a:blip r:embed="rId4"/>
          <a:stretch>
            <a:fillRect/>
          </a:stretch>
        </p:blipFill>
        <p:spPr>
          <a:xfrm>
            <a:off x="10043473" y="2304888"/>
            <a:ext cx="1787795" cy="1272910"/>
          </a:xfrm>
          <a:prstGeom prst="rect">
            <a:avLst/>
          </a:prstGeom>
        </p:spPr>
      </p:pic>
      <p:pic>
        <p:nvPicPr>
          <p:cNvPr id="28" name="Obraz 27">
            <a:extLst>
              <a:ext uri="{FF2B5EF4-FFF2-40B4-BE49-F238E27FC236}">
                <a16:creationId xmlns:a16="http://schemas.microsoft.com/office/drawing/2014/main" id="{09CFFDD0-5311-BAC3-43C2-5E3728600EBD}"/>
              </a:ext>
            </a:extLst>
          </p:cNvPr>
          <p:cNvPicPr>
            <a:picLocks noChangeAspect="1"/>
          </p:cNvPicPr>
          <p:nvPr/>
        </p:nvPicPr>
        <p:blipFill>
          <a:blip r:embed="rId5"/>
          <a:stretch>
            <a:fillRect/>
          </a:stretch>
        </p:blipFill>
        <p:spPr>
          <a:xfrm>
            <a:off x="4735170" y="5441403"/>
            <a:ext cx="1885917" cy="1110323"/>
          </a:xfrm>
          <a:prstGeom prst="rect">
            <a:avLst/>
          </a:prstGeom>
        </p:spPr>
      </p:pic>
      <p:pic>
        <p:nvPicPr>
          <p:cNvPr id="30" name="Obraz 29">
            <a:extLst>
              <a:ext uri="{FF2B5EF4-FFF2-40B4-BE49-F238E27FC236}">
                <a16:creationId xmlns:a16="http://schemas.microsoft.com/office/drawing/2014/main" id="{C62D3B46-CA43-386B-3672-FF3218A08631}"/>
              </a:ext>
            </a:extLst>
          </p:cNvPr>
          <p:cNvPicPr>
            <a:picLocks noChangeAspect="1"/>
          </p:cNvPicPr>
          <p:nvPr/>
        </p:nvPicPr>
        <p:blipFill>
          <a:blip r:embed="rId6"/>
          <a:stretch>
            <a:fillRect/>
          </a:stretch>
        </p:blipFill>
        <p:spPr>
          <a:xfrm>
            <a:off x="9626554" y="5266410"/>
            <a:ext cx="2274808" cy="1110323"/>
          </a:xfrm>
          <a:prstGeom prst="rect">
            <a:avLst/>
          </a:prstGeom>
        </p:spPr>
      </p:pic>
    </p:spTree>
    <p:extLst>
      <p:ext uri="{BB962C8B-B14F-4D97-AF65-F5344CB8AC3E}">
        <p14:creationId xmlns:p14="http://schemas.microsoft.com/office/powerpoint/2010/main" val="3001650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A9FAB-EDBE-DB02-52BC-3479FFBAC992}"/>
            </a:ext>
          </a:extLst>
        </p:cNvPr>
        <p:cNvGrpSpPr/>
        <p:nvPr/>
      </p:nvGrpSpPr>
      <p:grpSpPr>
        <a:xfrm>
          <a:off x="0" y="0"/>
          <a:ext cx="0" cy="0"/>
          <a:chOff x="0" y="0"/>
          <a:chExt cx="0" cy="0"/>
        </a:xfrm>
      </p:grpSpPr>
      <p:sp>
        <p:nvSpPr>
          <p:cNvPr id="15" name="pole tekstowe 14">
            <a:extLst>
              <a:ext uri="{FF2B5EF4-FFF2-40B4-BE49-F238E27FC236}">
                <a16:creationId xmlns:a16="http://schemas.microsoft.com/office/drawing/2014/main" id="{1B677973-3A43-9395-690F-EF1D3A1589C4}"/>
              </a:ext>
            </a:extLst>
          </p:cNvPr>
          <p:cNvSpPr txBox="1"/>
          <p:nvPr/>
        </p:nvSpPr>
        <p:spPr>
          <a:xfrm>
            <a:off x="1573212" y="417833"/>
            <a:ext cx="9683052" cy="646331"/>
          </a:xfrm>
          <a:prstGeom prst="rect">
            <a:avLst/>
          </a:prstGeom>
          <a:noFill/>
        </p:spPr>
        <p:txBody>
          <a:bodyPr wrap="square">
            <a:spAutoFit/>
          </a:bodyPr>
          <a:lstStyle/>
          <a:p>
            <a:pPr algn="ctr"/>
            <a:r>
              <a:rPr lang="pl-PL" sz="3600" dirty="0"/>
              <a:t>Funkcja kwadratowa – stary znajomy</a:t>
            </a:r>
          </a:p>
        </p:txBody>
      </p:sp>
      <p:pic>
        <p:nvPicPr>
          <p:cNvPr id="5" name="Obraz 4">
            <a:extLst>
              <a:ext uri="{FF2B5EF4-FFF2-40B4-BE49-F238E27FC236}">
                <a16:creationId xmlns:a16="http://schemas.microsoft.com/office/drawing/2014/main" id="{F99C0A20-72CE-AA35-45C6-4DF2B0BCC4E5}"/>
              </a:ext>
            </a:extLst>
          </p:cNvPr>
          <p:cNvPicPr>
            <a:picLocks noChangeAspect="1"/>
          </p:cNvPicPr>
          <p:nvPr/>
        </p:nvPicPr>
        <p:blipFill>
          <a:blip r:embed="rId3"/>
          <a:stretch>
            <a:fillRect/>
          </a:stretch>
        </p:blipFill>
        <p:spPr>
          <a:xfrm>
            <a:off x="4287358" y="2039677"/>
            <a:ext cx="3881628" cy="2587752"/>
          </a:xfrm>
          <a:prstGeom prst="rect">
            <a:avLst/>
          </a:prstGeom>
        </p:spPr>
      </p:pic>
      <p:cxnSp>
        <p:nvCxnSpPr>
          <p:cNvPr id="8" name="Łącznik prosty ze strzałką 7">
            <a:extLst>
              <a:ext uri="{FF2B5EF4-FFF2-40B4-BE49-F238E27FC236}">
                <a16:creationId xmlns:a16="http://schemas.microsoft.com/office/drawing/2014/main" id="{0CB04DCF-6FC9-A997-A1C2-E7C38D837CA9}"/>
              </a:ext>
            </a:extLst>
          </p:cNvPr>
          <p:cNvCxnSpPr>
            <a:cxnSpLocks/>
          </p:cNvCxnSpPr>
          <p:nvPr/>
        </p:nvCxnSpPr>
        <p:spPr>
          <a:xfrm flipV="1">
            <a:off x="8342722" y="2148840"/>
            <a:ext cx="1148750" cy="490665"/>
          </a:xfrm>
          <a:prstGeom prst="straightConnector1">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9" name="Łącznik prosty ze strzałką 8">
            <a:extLst>
              <a:ext uri="{FF2B5EF4-FFF2-40B4-BE49-F238E27FC236}">
                <a16:creationId xmlns:a16="http://schemas.microsoft.com/office/drawing/2014/main" id="{4ABA8643-A602-8628-F470-057CD2F0FA0B}"/>
              </a:ext>
            </a:extLst>
          </p:cNvPr>
          <p:cNvCxnSpPr>
            <a:cxnSpLocks/>
          </p:cNvCxnSpPr>
          <p:nvPr/>
        </p:nvCxnSpPr>
        <p:spPr>
          <a:xfrm>
            <a:off x="8342722" y="3912124"/>
            <a:ext cx="1322486" cy="476996"/>
          </a:xfrm>
          <a:prstGeom prst="straightConnector1">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6" name="Title 1">
            <a:extLst>
              <a:ext uri="{FF2B5EF4-FFF2-40B4-BE49-F238E27FC236}">
                <a16:creationId xmlns:a16="http://schemas.microsoft.com/office/drawing/2014/main" id="{9AA4578F-E1F3-90C3-7EC7-C4BDD0940F76}"/>
              </a:ext>
            </a:extLst>
          </p:cNvPr>
          <p:cNvSpPr txBox="1">
            <a:spLocks/>
          </p:cNvSpPr>
          <p:nvPr/>
        </p:nvSpPr>
        <p:spPr>
          <a:xfrm>
            <a:off x="9832848" y="1535706"/>
            <a:ext cx="1975104" cy="755366"/>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r>
              <a:rPr lang="pl-PL" sz="2000" b="1" u="sng" dirty="0"/>
              <a:t>Delta i pierwiastki </a:t>
            </a:r>
          </a:p>
        </p:txBody>
      </p:sp>
      <p:sp>
        <p:nvSpPr>
          <p:cNvPr id="26" name="pole tekstowe 25">
            <a:extLst>
              <a:ext uri="{FF2B5EF4-FFF2-40B4-BE49-F238E27FC236}">
                <a16:creationId xmlns:a16="http://schemas.microsoft.com/office/drawing/2014/main" id="{699F9938-0F9A-CA4E-166B-0BE819DB030D}"/>
              </a:ext>
            </a:extLst>
          </p:cNvPr>
          <p:cNvSpPr txBox="1"/>
          <p:nvPr/>
        </p:nvSpPr>
        <p:spPr>
          <a:xfrm>
            <a:off x="9832848" y="2431879"/>
            <a:ext cx="2161378" cy="1200329"/>
          </a:xfrm>
          <a:prstGeom prst="rect">
            <a:avLst/>
          </a:prstGeom>
          <a:noFill/>
        </p:spPr>
        <p:txBody>
          <a:bodyPr wrap="square">
            <a:spAutoFit/>
          </a:bodyPr>
          <a:lstStyle/>
          <a:p>
            <a:pPr fontAlgn="t">
              <a:lnSpc>
                <a:spcPct val="100000"/>
              </a:lnSpc>
              <a:buNone/>
            </a:pPr>
            <a:r>
              <a:rPr lang="en-US" sz="1800" i="0" dirty="0">
                <a:effectLst/>
                <a:latin typeface="+mn-lt"/>
              </a:rPr>
              <a:t>Δ = b² − 4ac</a:t>
            </a:r>
            <a:br>
              <a:rPr lang="en-US" sz="1800" i="0" dirty="0">
                <a:effectLst/>
                <a:latin typeface="+mn-lt"/>
              </a:rPr>
            </a:br>
            <a:r>
              <a:rPr lang="en-US" sz="1800" i="0" dirty="0">
                <a:effectLst/>
                <a:latin typeface="+mn-lt"/>
              </a:rPr>
              <a:t>x₁,₂ = (−b ± √Δ) / 2a</a:t>
            </a:r>
            <a:endParaRPr lang="pl-PL" sz="1800" i="0" dirty="0">
              <a:effectLst/>
              <a:latin typeface="+mn-lt"/>
            </a:endParaRPr>
          </a:p>
          <a:p>
            <a:pPr fontAlgn="t"/>
            <a:r>
              <a:rPr lang="en-US" dirty="0"/>
              <a:t>x₀ = −b / 2a</a:t>
            </a:r>
            <a:endParaRPr lang="en-US" dirty="0">
              <a:latin typeface="Segoe UI" panose="020B0502040204020203" pitchFamily="34" charset="0"/>
            </a:endParaRPr>
          </a:p>
          <a:p>
            <a:pPr fontAlgn="t">
              <a:lnSpc>
                <a:spcPct val="100000"/>
              </a:lnSpc>
              <a:buNone/>
            </a:pPr>
            <a:endParaRPr lang="en-US" sz="1800" i="0" dirty="0">
              <a:effectLst/>
              <a:latin typeface="Segoe UI" panose="020B0502040204020203" pitchFamily="34" charset="0"/>
            </a:endParaRPr>
          </a:p>
        </p:txBody>
      </p:sp>
      <p:sp>
        <p:nvSpPr>
          <p:cNvPr id="32" name="pole tekstowe 31">
            <a:extLst>
              <a:ext uri="{FF2B5EF4-FFF2-40B4-BE49-F238E27FC236}">
                <a16:creationId xmlns:a16="http://schemas.microsoft.com/office/drawing/2014/main" id="{59E4B589-F762-2A6A-2568-ED3763E638E4}"/>
              </a:ext>
            </a:extLst>
          </p:cNvPr>
          <p:cNvSpPr txBox="1"/>
          <p:nvPr/>
        </p:nvSpPr>
        <p:spPr>
          <a:xfrm>
            <a:off x="9832848" y="4227319"/>
            <a:ext cx="6094476" cy="400110"/>
          </a:xfrm>
          <a:prstGeom prst="rect">
            <a:avLst/>
          </a:prstGeom>
          <a:noFill/>
        </p:spPr>
        <p:txBody>
          <a:bodyPr wrap="square">
            <a:spAutoFit/>
          </a:bodyPr>
          <a:lstStyle/>
          <a:p>
            <a:r>
              <a:rPr lang="pl-PL" sz="2000" b="1" u="sng" dirty="0"/>
              <a:t>Wzory Viète’a</a:t>
            </a:r>
          </a:p>
        </p:txBody>
      </p:sp>
      <p:sp>
        <p:nvSpPr>
          <p:cNvPr id="34" name="pole tekstowe 33">
            <a:extLst>
              <a:ext uri="{FF2B5EF4-FFF2-40B4-BE49-F238E27FC236}">
                <a16:creationId xmlns:a16="http://schemas.microsoft.com/office/drawing/2014/main" id="{A1EA98E4-699E-323A-0D12-7C4E6054C933}"/>
              </a:ext>
            </a:extLst>
          </p:cNvPr>
          <p:cNvSpPr txBox="1"/>
          <p:nvPr/>
        </p:nvSpPr>
        <p:spPr>
          <a:xfrm>
            <a:off x="10041117" y="4669474"/>
            <a:ext cx="7965648" cy="646331"/>
          </a:xfrm>
          <a:prstGeom prst="rect">
            <a:avLst/>
          </a:prstGeom>
          <a:noFill/>
        </p:spPr>
        <p:txBody>
          <a:bodyPr wrap="square">
            <a:spAutoFit/>
          </a:bodyPr>
          <a:lstStyle/>
          <a:p>
            <a:pPr fontAlgn="t">
              <a:lnSpc>
                <a:spcPct val="100000"/>
              </a:lnSpc>
              <a:buNone/>
            </a:pPr>
            <a:r>
              <a:rPr lang="en-US" sz="1800" i="0" dirty="0">
                <a:effectLst/>
                <a:latin typeface="+mn-lt"/>
              </a:rPr>
              <a:t>x₁ + x₂ = −b/a</a:t>
            </a:r>
            <a:br>
              <a:rPr lang="en-US" sz="1800" i="0" dirty="0">
                <a:effectLst/>
                <a:latin typeface="+mn-lt"/>
              </a:rPr>
            </a:br>
            <a:r>
              <a:rPr lang="en-US" sz="1800" i="0" dirty="0">
                <a:effectLst/>
                <a:latin typeface="+mn-lt"/>
              </a:rPr>
              <a:t>x₁ · x₂ = c/a</a:t>
            </a:r>
            <a:endParaRPr lang="en-US" sz="1800" i="0" dirty="0">
              <a:effectLst/>
              <a:latin typeface="Segoe UI" panose="020B0502040204020203" pitchFamily="34" charset="0"/>
            </a:endParaRPr>
          </a:p>
        </p:txBody>
      </p:sp>
      <p:cxnSp>
        <p:nvCxnSpPr>
          <p:cNvPr id="35" name="Łącznik prosty ze strzałką 34">
            <a:extLst>
              <a:ext uri="{FF2B5EF4-FFF2-40B4-BE49-F238E27FC236}">
                <a16:creationId xmlns:a16="http://schemas.microsoft.com/office/drawing/2014/main" id="{0DBBD709-B322-A093-950B-6A0F065B96D4}"/>
              </a:ext>
            </a:extLst>
          </p:cNvPr>
          <p:cNvCxnSpPr>
            <a:cxnSpLocks/>
          </p:cNvCxnSpPr>
          <p:nvPr/>
        </p:nvCxnSpPr>
        <p:spPr>
          <a:xfrm flipH="1">
            <a:off x="3296381" y="2639505"/>
            <a:ext cx="856488" cy="0"/>
          </a:xfrm>
          <a:prstGeom prst="straightConnector1">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40" name="Title 1">
            <a:extLst>
              <a:ext uri="{FF2B5EF4-FFF2-40B4-BE49-F238E27FC236}">
                <a16:creationId xmlns:a16="http://schemas.microsoft.com/office/drawing/2014/main" id="{0E14C598-3464-46F6-652C-C1255EBC8287}"/>
              </a:ext>
            </a:extLst>
          </p:cNvPr>
          <p:cNvSpPr txBox="1">
            <a:spLocks/>
          </p:cNvSpPr>
          <p:nvPr/>
        </p:nvSpPr>
        <p:spPr>
          <a:xfrm>
            <a:off x="1363949" y="2091900"/>
            <a:ext cx="1975104" cy="755366"/>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2000" b="1" u="sng" dirty="0"/>
              <a:t>Nierówności kwadratowe</a:t>
            </a:r>
          </a:p>
        </p:txBody>
      </p:sp>
      <p:sp>
        <p:nvSpPr>
          <p:cNvPr id="42" name="pole tekstowe 41">
            <a:extLst>
              <a:ext uri="{FF2B5EF4-FFF2-40B4-BE49-F238E27FC236}">
                <a16:creationId xmlns:a16="http://schemas.microsoft.com/office/drawing/2014/main" id="{4AE3BA58-484B-2198-E11D-889F4256DFE1}"/>
              </a:ext>
            </a:extLst>
          </p:cNvPr>
          <p:cNvSpPr txBox="1"/>
          <p:nvPr/>
        </p:nvSpPr>
        <p:spPr>
          <a:xfrm>
            <a:off x="1666802" y="2795460"/>
            <a:ext cx="1443365" cy="369332"/>
          </a:xfrm>
          <a:prstGeom prst="rect">
            <a:avLst/>
          </a:prstGeom>
          <a:noFill/>
        </p:spPr>
        <p:txBody>
          <a:bodyPr wrap="square">
            <a:spAutoFit/>
          </a:bodyPr>
          <a:lstStyle/>
          <a:p>
            <a:pPr fontAlgn="t">
              <a:lnSpc>
                <a:spcPct val="100000"/>
              </a:lnSpc>
              <a:buNone/>
            </a:pPr>
            <a:r>
              <a:rPr lang="en-US" sz="1800" b="0" i="0" dirty="0">
                <a:effectLst/>
                <a:latin typeface="+mn-lt"/>
              </a:rPr>
              <a:t>x² − x − 2 &gt; 0</a:t>
            </a:r>
            <a:endParaRPr lang="en-US" sz="1800" b="0" i="0" dirty="0">
              <a:effectLst/>
              <a:latin typeface="Segoe UI" panose="020B0502040204020203" pitchFamily="34" charset="0"/>
            </a:endParaRPr>
          </a:p>
        </p:txBody>
      </p:sp>
      <p:cxnSp>
        <p:nvCxnSpPr>
          <p:cNvPr id="43" name="Łącznik prosty ze strzałką 42">
            <a:extLst>
              <a:ext uri="{FF2B5EF4-FFF2-40B4-BE49-F238E27FC236}">
                <a16:creationId xmlns:a16="http://schemas.microsoft.com/office/drawing/2014/main" id="{58E2992A-C553-430A-0B3A-73F45973CB9D}"/>
              </a:ext>
            </a:extLst>
          </p:cNvPr>
          <p:cNvCxnSpPr>
            <a:cxnSpLocks/>
          </p:cNvCxnSpPr>
          <p:nvPr/>
        </p:nvCxnSpPr>
        <p:spPr>
          <a:xfrm flipH="1">
            <a:off x="3415363" y="4270393"/>
            <a:ext cx="698259" cy="579952"/>
          </a:xfrm>
          <a:prstGeom prst="straightConnector1">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46" name="Title 1">
            <a:extLst>
              <a:ext uri="{FF2B5EF4-FFF2-40B4-BE49-F238E27FC236}">
                <a16:creationId xmlns:a16="http://schemas.microsoft.com/office/drawing/2014/main" id="{01EC8095-8365-881F-5952-4C60616B5FDF}"/>
              </a:ext>
            </a:extLst>
          </p:cNvPr>
          <p:cNvSpPr txBox="1">
            <a:spLocks/>
          </p:cNvSpPr>
          <p:nvPr/>
        </p:nvSpPr>
        <p:spPr>
          <a:xfrm>
            <a:off x="1423322" y="4144941"/>
            <a:ext cx="1975104" cy="755366"/>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2000" b="1" u="sng" dirty="0"/>
              <a:t>Optymalizacja</a:t>
            </a:r>
          </a:p>
        </p:txBody>
      </p:sp>
      <p:sp>
        <p:nvSpPr>
          <p:cNvPr id="48" name="pole tekstowe 47">
            <a:extLst>
              <a:ext uri="{FF2B5EF4-FFF2-40B4-BE49-F238E27FC236}">
                <a16:creationId xmlns:a16="http://schemas.microsoft.com/office/drawing/2014/main" id="{49F019CB-6791-8671-1357-5F18F04A6E26}"/>
              </a:ext>
            </a:extLst>
          </p:cNvPr>
          <p:cNvSpPr txBox="1"/>
          <p:nvPr/>
        </p:nvSpPr>
        <p:spPr>
          <a:xfrm>
            <a:off x="1573212" y="4900307"/>
            <a:ext cx="2478491" cy="830997"/>
          </a:xfrm>
          <a:prstGeom prst="rect">
            <a:avLst/>
          </a:prstGeom>
          <a:noFill/>
        </p:spPr>
        <p:txBody>
          <a:bodyPr wrap="square">
            <a:spAutoFit/>
          </a:bodyPr>
          <a:lstStyle/>
          <a:p>
            <a:pPr fontAlgn="t">
              <a:lnSpc>
                <a:spcPct val="100000"/>
              </a:lnSpc>
              <a:buNone/>
            </a:pPr>
            <a:r>
              <a:rPr lang="pl-PL" sz="1600" b="0" i="0" dirty="0">
                <a:effectLst/>
                <a:latin typeface="+mn-lt"/>
              </a:rPr>
              <a:t>Znajdź prostokąt o obwodzie 20cm i jak największym polu</a:t>
            </a:r>
            <a:endParaRPr lang="en-US" sz="1600" b="0" i="0" dirty="0">
              <a:effectLst/>
              <a:latin typeface="Segoe UI" panose="020B0502040204020203" pitchFamily="34" charset="0"/>
            </a:endParaRPr>
          </a:p>
        </p:txBody>
      </p:sp>
    </p:spTree>
    <p:extLst>
      <p:ext uri="{BB962C8B-B14F-4D97-AF65-F5344CB8AC3E}">
        <p14:creationId xmlns:p14="http://schemas.microsoft.com/office/powerpoint/2010/main" val="60107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F6078FD5-A558-BCD5-20AF-AD4D48770755}"/>
              </a:ext>
            </a:extLst>
          </p:cNvPr>
          <p:cNvSpPr txBox="1"/>
          <p:nvPr/>
        </p:nvSpPr>
        <p:spPr>
          <a:xfrm>
            <a:off x="1254473" y="111233"/>
            <a:ext cx="9683052" cy="1200329"/>
          </a:xfrm>
          <a:prstGeom prst="rect">
            <a:avLst/>
          </a:prstGeom>
          <a:noFill/>
        </p:spPr>
        <p:txBody>
          <a:bodyPr wrap="square">
            <a:spAutoFit/>
          </a:bodyPr>
          <a:lstStyle/>
          <a:p>
            <a:pPr algn="ctr"/>
            <a:r>
              <a:rPr lang="pl-PL" sz="3600" dirty="0"/>
              <a:t>Pochodna funkcji – matematyczny prędkościomerz</a:t>
            </a:r>
          </a:p>
        </p:txBody>
      </p:sp>
      <p:pic>
        <p:nvPicPr>
          <p:cNvPr id="3" name="Obraz 2">
            <a:extLst>
              <a:ext uri="{FF2B5EF4-FFF2-40B4-BE49-F238E27FC236}">
                <a16:creationId xmlns:a16="http://schemas.microsoft.com/office/drawing/2014/main" id="{AC9CF795-C5B7-62E6-4DEC-1BB80394ABCB}"/>
              </a:ext>
            </a:extLst>
          </p:cNvPr>
          <p:cNvPicPr>
            <a:picLocks noChangeAspect="1"/>
          </p:cNvPicPr>
          <p:nvPr/>
        </p:nvPicPr>
        <p:blipFill>
          <a:blip r:embed="rId3"/>
          <a:stretch>
            <a:fillRect/>
          </a:stretch>
        </p:blipFill>
        <p:spPr>
          <a:xfrm>
            <a:off x="3311426" y="1311562"/>
            <a:ext cx="5825241" cy="4486894"/>
          </a:xfrm>
          <a:prstGeom prst="rect">
            <a:avLst/>
          </a:prstGeom>
        </p:spPr>
      </p:pic>
      <p:sp>
        <p:nvSpPr>
          <p:cNvPr id="4" name="Title 1">
            <a:extLst>
              <a:ext uri="{FF2B5EF4-FFF2-40B4-BE49-F238E27FC236}">
                <a16:creationId xmlns:a16="http://schemas.microsoft.com/office/drawing/2014/main" id="{C0085CCE-5623-F810-C4E9-84284B19FCB0}"/>
              </a:ext>
            </a:extLst>
          </p:cNvPr>
          <p:cNvSpPr txBox="1">
            <a:spLocks/>
          </p:cNvSpPr>
          <p:nvPr/>
        </p:nvSpPr>
        <p:spPr>
          <a:xfrm>
            <a:off x="551149" y="1716198"/>
            <a:ext cx="1975104" cy="755366"/>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2000" b="1" u="sng" dirty="0"/>
              <a:t>Szukanie maksimum i minimum funkcji</a:t>
            </a:r>
          </a:p>
        </p:txBody>
      </p:sp>
      <p:sp>
        <p:nvSpPr>
          <p:cNvPr id="6" name="Title 1">
            <a:extLst>
              <a:ext uri="{FF2B5EF4-FFF2-40B4-BE49-F238E27FC236}">
                <a16:creationId xmlns:a16="http://schemas.microsoft.com/office/drawing/2014/main" id="{F133064B-11AA-B73C-317F-4AC114BC89E8}"/>
              </a:ext>
            </a:extLst>
          </p:cNvPr>
          <p:cNvSpPr txBox="1">
            <a:spLocks/>
          </p:cNvSpPr>
          <p:nvPr/>
        </p:nvSpPr>
        <p:spPr>
          <a:xfrm>
            <a:off x="640049" y="4386437"/>
            <a:ext cx="1975104" cy="755366"/>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2000" b="1" u="sng" dirty="0"/>
              <a:t>Badanie monotoniczności funkcji (maleje czy rośnie)</a:t>
            </a:r>
          </a:p>
        </p:txBody>
      </p:sp>
      <p:sp>
        <p:nvSpPr>
          <p:cNvPr id="9" name="Title 1">
            <a:extLst>
              <a:ext uri="{FF2B5EF4-FFF2-40B4-BE49-F238E27FC236}">
                <a16:creationId xmlns:a16="http://schemas.microsoft.com/office/drawing/2014/main" id="{0C436F8C-D85D-915B-5E33-777329E2951B}"/>
              </a:ext>
            </a:extLst>
          </p:cNvPr>
          <p:cNvSpPr txBox="1">
            <a:spLocks/>
          </p:cNvSpPr>
          <p:nvPr/>
        </p:nvSpPr>
        <p:spPr>
          <a:xfrm>
            <a:off x="9949973" y="1541637"/>
            <a:ext cx="1975104" cy="755366"/>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2000" b="1" u="sng" dirty="0"/>
              <a:t>Wyznaczanie stycznej do wykresu</a:t>
            </a:r>
          </a:p>
        </p:txBody>
      </p:sp>
      <p:sp>
        <p:nvSpPr>
          <p:cNvPr id="11" name="Title 1">
            <a:extLst>
              <a:ext uri="{FF2B5EF4-FFF2-40B4-BE49-F238E27FC236}">
                <a16:creationId xmlns:a16="http://schemas.microsoft.com/office/drawing/2014/main" id="{F0D70418-A857-D27E-4261-7EA237C5B617}"/>
              </a:ext>
            </a:extLst>
          </p:cNvPr>
          <p:cNvSpPr txBox="1">
            <a:spLocks/>
          </p:cNvSpPr>
          <p:nvPr/>
        </p:nvSpPr>
        <p:spPr>
          <a:xfrm>
            <a:off x="9949973" y="3802315"/>
            <a:ext cx="1975104" cy="755366"/>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2000" b="1" u="sng" dirty="0"/>
              <a:t>Prędkość chwilowa</a:t>
            </a:r>
          </a:p>
        </p:txBody>
      </p:sp>
      <p:cxnSp>
        <p:nvCxnSpPr>
          <p:cNvPr id="12" name="Łącznik prosty ze strzałką 11">
            <a:extLst>
              <a:ext uri="{FF2B5EF4-FFF2-40B4-BE49-F238E27FC236}">
                <a16:creationId xmlns:a16="http://schemas.microsoft.com/office/drawing/2014/main" id="{E93412BA-9696-2192-3C75-A00D971A2BDE}"/>
              </a:ext>
            </a:extLst>
          </p:cNvPr>
          <p:cNvCxnSpPr>
            <a:cxnSpLocks/>
          </p:cNvCxnSpPr>
          <p:nvPr/>
        </p:nvCxnSpPr>
        <p:spPr>
          <a:xfrm flipH="1">
            <a:off x="2615153" y="4179998"/>
            <a:ext cx="591111" cy="466143"/>
          </a:xfrm>
          <a:prstGeom prst="straightConnector1">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Łącznik prosty ze strzałką 13">
            <a:extLst>
              <a:ext uri="{FF2B5EF4-FFF2-40B4-BE49-F238E27FC236}">
                <a16:creationId xmlns:a16="http://schemas.microsoft.com/office/drawing/2014/main" id="{71544F71-0015-A482-C841-421DA98EC06D}"/>
              </a:ext>
            </a:extLst>
          </p:cNvPr>
          <p:cNvCxnSpPr>
            <a:cxnSpLocks/>
          </p:cNvCxnSpPr>
          <p:nvPr/>
        </p:nvCxnSpPr>
        <p:spPr>
          <a:xfrm flipH="1" flipV="1">
            <a:off x="2526253" y="1919320"/>
            <a:ext cx="785173" cy="174561"/>
          </a:xfrm>
          <a:prstGeom prst="straightConnector1">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Łącznik prosty ze strzałką 15">
            <a:extLst>
              <a:ext uri="{FF2B5EF4-FFF2-40B4-BE49-F238E27FC236}">
                <a16:creationId xmlns:a16="http://schemas.microsoft.com/office/drawing/2014/main" id="{5A7D91FC-85CF-EDA9-73CE-24EE74C4D55B}"/>
              </a:ext>
            </a:extLst>
          </p:cNvPr>
          <p:cNvCxnSpPr>
            <a:cxnSpLocks/>
          </p:cNvCxnSpPr>
          <p:nvPr/>
        </p:nvCxnSpPr>
        <p:spPr>
          <a:xfrm flipV="1">
            <a:off x="9227044" y="1919320"/>
            <a:ext cx="788504" cy="209757"/>
          </a:xfrm>
          <a:prstGeom prst="straightConnector1">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Łącznik prosty ze strzałką 18">
            <a:extLst>
              <a:ext uri="{FF2B5EF4-FFF2-40B4-BE49-F238E27FC236}">
                <a16:creationId xmlns:a16="http://schemas.microsoft.com/office/drawing/2014/main" id="{6110AF1B-E8C2-1A69-423A-D046043FBC79}"/>
              </a:ext>
            </a:extLst>
          </p:cNvPr>
          <p:cNvCxnSpPr>
            <a:cxnSpLocks/>
          </p:cNvCxnSpPr>
          <p:nvPr/>
        </p:nvCxnSpPr>
        <p:spPr>
          <a:xfrm>
            <a:off x="9173583" y="3907193"/>
            <a:ext cx="895425" cy="272805"/>
          </a:xfrm>
          <a:prstGeom prst="straightConnector1">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869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Obraz 12">
            <a:extLst>
              <a:ext uri="{FF2B5EF4-FFF2-40B4-BE49-F238E27FC236}">
                <a16:creationId xmlns:a16="http://schemas.microsoft.com/office/drawing/2014/main" id="{A81D4041-D090-2A47-D92F-76240AA91227}"/>
              </a:ext>
            </a:extLst>
          </p:cNvPr>
          <p:cNvPicPr>
            <a:picLocks noChangeAspect="1"/>
          </p:cNvPicPr>
          <p:nvPr/>
        </p:nvPicPr>
        <p:blipFill>
          <a:blip r:embed="rId3"/>
          <a:stretch>
            <a:fillRect/>
          </a:stretch>
        </p:blipFill>
        <p:spPr>
          <a:xfrm>
            <a:off x="574642" y="1320778"/>
            <a:ext cx="5296215" cy="3619522"/>
          </a:xfrm>
          <a:prstGeom prst="rect">
            <a:avLst/>
          </a:prstGeom>
        </p:spPr>
      </p:pic>
      <p:sp>
        <p:nvSpPr>
          <p:cNvPr id="15" name="pole tekstowe 14">
            <a:extLst>
              <a:ext uri="{FF2B5EF4-FFF2-40B4-BE49-F238E27FC236}">
                <a16:creationId xmlns:a16="http://schemas.microsoft.com/office/drawing/2014/main" id="{FED8D844-C69E-B020-8841-E7566D164238}"/>
              </a:ext>
            </a:extLst>
          </p:cNvPr>
          <p:cNvSpPr txBox="1"/>
          <p:nvPr/>
        </p:nvSpPr>
        <p:spPr>
          <a:xfrm>
            <a:off x="3048000" y="240415"/>
            <a:ext cx="6096000" cy="646331"/>
          </a:xfrm>
          <a:prstGeom prst="rect">
            <a:avLst/>
          </a:prstGeom>
          <a:noFill/>
        </p:spPr>
        <p:txBody>
          <a:bodyPr wrap="square">
            <a:spAutoFit/>
          </a:bodyPr>
          <a:lstStyle/>
          <a:p>
            <a:pPr algn="ctr"/>
            <a:r>
              <a:rPr lang="pl-PL" sz="3600" dirty="0"/>
              <a:t>Macierze</a:t>
            </a:r>
          </a:p>
        </p:txBody>
      </p:sp>
      <p:pic>
        <p:nvPicPr>
          <p:cNvPr id="19" name="Obraz 18">
            <a:extLst>
              <a:ext uri="{FF2B5EF4-FFF2-40B4-BE49-F238E27FC236}">
                <a16:creationId xmlns:a16="http://schemas.microsoft.com/office/drawing/2014/main" id="{D9141926-AA2A-FB02-FFD6-E8FB9632E002}"/>
              </a:ext>
            </a:extLst>
          </p:cNvPr>
          <p:cNvPicPr>
            <a:picLocks noChangeAspect="1"/>
          </p:cNvPicPr>
          <p:nvPr/>
        </p:nvPicPr>
        <p:blipFill>
          <a:blip r:embed="rId4"/>
          <a:stretch>
            <a:fillRect/>
          </a:stretch>
        </p:blipFill>
        <p:spPr>
          <a:xfrm>
            <a:off x="6096000" y="1320778"/>
            <a:ext cx="5937906" cy="3619522"/>
          </a:xfrm>
          <a:prstGeom prst="rect">
            <a:avLst/>
          </a:prstGeom>
        </p:spPr>
      </p:pic>
      <p:sp>
        <p:nvSpPr>
          <p:cNvPr id="20" name="pole tekstowe 19">
            <a:extLst>
              <a:ext uri="{FF2B5EF4-FFF2-40B4-BE49-F238E27FC236}">
                <a16:creationId xmlns:a16="http://schemas.microsoft.com/office/drawing/2014/main" id="{23771307-1C1B-ACBE-1429-CF7FE0F5C850}"/>
              </a:ext>
            </a:extLst>
          </p:cNvPr>
          <p:cNvSpPr txBox="1"/>
          <p:nvPr/>
        </p:nvSpPr>
        <p:spPr>
          <a:xfrm>
            <a:off x="3222749" y="5537222"/>
            <a:ext cx="6282425" cy="369332"/>
          </a:xfrm>
          <a:prstGeom prst="rect">
            <a:avLst/>
          </a:prstGeom>
          <a:noFill/>
        </p:spPr>
        <p:txBody>
          <a:bodyPr wrap="none" rtlCol="0">
            <a:spAutoFit/>
          </a:bodyPr>
          <a:lstStyle/>
          <a:p>
            <a:r>
              <a:rPr lang="pl-PL" dirty="0"/>
              <a:t>Macierze pozwalają operować na wielu liczbach jednocześnie</a:t>
            </a:r>
            <a:endParaRPr lang="en-US" dirty="0"/>
          </a:p>
        </p:txBody>
      </p:sp>
    </p:spTree>
    <p:extLst>
      <p:ext uri="{BB962C8B-B14F-4D97-AF65-F5344CB8AC3E}">
        <p14:creationId xmlns:p14="http://schemas.microsoft.com/office/powerpoint/2010/main" val="2245644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E6C7B-5CA4-6F4E-FF19-C01E87155754}"/>
            </a:ext>
          </a:extLst>
        </p:cNvPr>
        <p:cNvGrpSpPr/>
        <p:nvPr/>
      </p:nvGrpSpPr>
      <p:grpSpPr>
        <a:xfrm>
          <a:off x="0" y="0"/>
          <a:ext cx="0" cy="0"/>
          <a:chOff x="0" y="0"/>
          <a:chExt cx="0" cy="0"/>
        </a:xfrm>
      </p:grpSpPr>
      <p:sp>
        <p:nvSpPr>
          <p:cNvPr id="15" name="pole tekstowe 14">
            <a:extLst>
              <a:ext uri="{FF2B5EF4-FFF2-40B4-BE49-F238E27FC236}">
                <a16:creationId xmlns:a16="http://schemas.microsoft.com/office/drawing/2014/main" id="{E16BD1DE-0DE6-32DD-AE11-342CF98CDDA2}"/>
              </a:ext>
            </a:extLst>
          </p:cNvPr>
          <p:cNvSpPr txBox="1"/>
          <p:nvPr/>
        </p:nvSpPr>
        <p:spPr>
          <a:xfrm>
            <a:off x="1675946" y="323949"/>
            <a:ext cx="9683052" cy="646331"/>
          </a:xfrm>
          <a:prstGeom prst="rect">
            <a:avLst/>
          </a:prstGeom>
          <a:noFill/>
        </p:spPr>
        <p:txBody>
          <a:bodyPr wrap="square">
            <a:spAutoFit/>
          </a:bodyPr>
          <a:lstStyle/>
          <a:p>
            <a:pPr algn="ctr"/>
            <a:r>
              <a:rPr lang="pl-PL" sz="3600" dirty="0"/>
              <a:t>Funkcja kwadratowa w sieciach neuronowych</a:t>
            </a:r>
          </a:p>
        </p:txBody>
      </p:sp>
      <p:sp>
        <p:nvSpPr>
          <p:cNvPr id="3" name="pole tekstowe 2">
            <a:extLst>
              <a:ext uri="{FF2B5EF4-FFF2-40B4-BE49-F238E27FC236}">
                <a16:creationId xmlns:a16="http://schemas.microsoft.com/office/drawing/2014/main" id="{929724A2-C4D7-675D-B39E-E14BFC4F5391}"/>
              </a:ext>
            </a:extLst>
          </p:cNvPr>
          <p:cNvSpPr txBox="1"/>
          <p:nvPr/>
        </p:nvSpPr>
        <p:spPr>
          <a:xfrm>
            <a:off x="631379" y="2633859"/>
            <a:ext cx="4964748" cy="369332"/>
          </a:xfrm>
          <a:prstGeom prst="rect">
            <a:avLst/>
          </a:prstGeom>
          <a:noFill/>
        </p:spPr>
        <p:txBody>
          <a:bodyPr wrap="square">
            <a:spAutoFit/>
          </a:bodyPr>
          <a:lstStyle/>
          <a:p>
            <a:pPr fontAlgn="t">
              <a:lnSpc>
                <a:spcPct val="100000"/>
              </a:lnSpc>
              <a:buNone/>
            </a:pPr>
            <a:r>
              <a:rPr lang="en-US" b="1" dirty="0"/>
              <a:t>Błąd = (przewidywanie − prawdziwa wartość)²</a:t>
            </a:r>
          </a:p>
        </p:txBody>
      </p:sp>
      <p:sp>
        <p:nvSpPr>
          <p:cNvPr id="6" name="Title 1">
            <a:extLst>
              <a:ext uri="{FF2B5EF4-FFF2-40B4-BE49-F238E27FC236}">
                <a16:creationId xmlns:a16="http://schemas.microsoft.com/office/drawing/2014/main" id="{23834310-5DA3-4240-3F68-A2CDD51AFBE3}"/>
              </a:ext>
            </a:extLst>
          </p:cNvPr>
          <p:cNvSpPr txBox="1">
            <a:spLocks/>
          </p:cNvSpPr>
          <p:nvPr/>
        </p:nvSpPr>
        <p:spPr>
          <a:xfrm>
            <a:off x="6423404" y="2440842"/>
            <a:ext cx="5257800" cy="755366"/>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r>
              <a:rPr lang="pl-PL" sz="2000" dirty="0"/>
              <a:t>Proces uczenia się sieci polega na minimalizacji tego błędu (błąd średniokwadratowy -&gt; MSE)</a:t>
            </a:r>
          </a:p>
        </p:txBody>
      </p:sp>
      <p:sp>
        <p:nvSpPr>
          <p:cNvPr id="4" name="pole tekstowe 3">
            <a:extLst>
              <a:ext uri="{FF2B5EF4-FFF2-40B4-BE49-F238E27FC236}">
                <a16:creationId xmlns:a16="http://schemas.microsoft.com/office/drawing/2014/main" id="{CE869164-C18F-0BD2-3970-828EF2E1E20B}"/>
              </a:ext>
            </a:extLst>
          </p:cNvPr>
          <p:cNvSpPr txBox="1"/>
          <p:nvPr/>
        </p:nvSpPr>
        <p:spPr>
          <a:xfrm>
            <a:off x="631379" y="4358994"/>
            <a:ext cx="5687227" cy="923330"/>
          </a:xfrm>
          <a:prstGeom prst="rect">
            <a:avLst/>
          </a:prstGeom>
          <a:noFill/>
        </p:spPr>
        <p:txBody>
          <a:bodyPr wrap="square">
            <a:spAutoFit/>
          </a:bodyPr>
          <a:lstStyle/>
          <a:p>
            <a:pPr fontAlgn="t">
              <a:lnSpc>
                <a:spcPct val="100000"/>
              </a:lnSpc>
              <a:buNone/>
            </a:pPr>
            <a:r>
              <a:rPr lang="pl-PL" b="1" dirty="0"/>
              <a:t>Problem optymalizacji/uczenia się to minimalizacja funkcji, czyli znalezienie minimum</a:t>
            </a:r>
            <a:br>
              <a:rPr lang="pl-PL" b="1" dirty="0"/>
            </a:br>
            <a:r>
              <a:rPr lang="pl-PL" b="1" dirty="0"/>
              <a:t>(ekstremum) funkcji. </a:t>
            </a:r>
            <a:endParaRPr lang="en-US" b="1" dirty="0"/>
          </a:p>
        </p:txBody>
      </p:sp>
      <p:sp>
        <p:nvSpPr>
          <p:cNvPr id="7" name="Title 1">
            <a:extLst>
              <a:ext uri="{FF2B5EF4-FFF2-40B4-BE49-F238E27FC236}">
                <a16:creationId xmlns:a16="http://schemas.microsoft.com/office/drawing/2014/main" id="{B7D860D6-BA5E-A44C-77D6-D585A6B2F2D6}"/>
              </a:ext>
            </a:extLst>
          </p:cNvPr>
          <p:cNvSpPr txBox="1">
            <a:spLocks/>
          </p:cNvSpPr>
          <p:nvPr/>
        </p:nvSpPr>
        <p:spPr>
          <a:xfrm>
            <a:off x="6423404" y="4358994"/>
            <a:ext cx="5768596" cy="755366"/>
          </a:xfrm>
          <a:prstGeom prst="rect">
            <a:avLst/>
          </a:prstGeom>
          <a:noFill/>
        </p:spPr>
        <p:txBody>
          <a:bodyPr vert="horz" wrap="square" lIns="0" tIns="0" rIns="0" bIns="91440" rtlCol="0" anchor="b">
            <a:no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r>
              <a:rPr lang="pl-PL" sz="2000" dirty="0"/>
              <a:t>Pojedynczy cykl uczenia składa się z kolejnych kroków. Pochodnia określa tempo uczenia się i jego kierunek.</a:t>
            </a:r>
          </a:p>
        </p:txBody>
      </p:sp>
    </p:spTree>
    <p:extLst>
      <p:ext uri="{BB962C8B-B14F-4D97-AF65-F5344CB8AC3E}">
        <p14:creationId xmlns:p14="http://schemas.microsoft.com/office/powerpoint/2010/main" val="1193117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Obraz 10">
            <a:extLst>
              <a:ext uri="{FF2B5EF4-FFF2-40B4-BE49-F238E27FC236}">
                <a16:creationId xmlns:a16="http://schemas.microsoft.com/office/drawing/2014/main" id="{8D53CF6B-6039-932E-00FF-82011430552A}"/>
              </a:ext>
            </a:extLst>
          </p:cNvPr>
          <p:cNvPicPr>
            <a:picLocks noChangeAspect="1"/>
          </p:cNvPicPr>
          <p:nvPr/>
        </p:nvPicPr>
        <p:blipFill>
          <a:blip r:embed="rId3"/>
          <a:stretch>
            <a:fillRect/>
          </a:stretch>
        </p:blipFill>
        <p:spPr>
          <a:xfrm>
            <a:off x="587485" y="0"/>
            <a:ext cx="11199131" cy="6747348"/>
          </a:xfrm>
          <a:prstGeom prst="rect">
            <a:avLst/>
          </a:prstGeom>
        </p:spPr>
      </p:pic>
      <p:cxnSp>
        <p:nvCxnSpPr>
          <p:cNvPr id="3" name="Łącznik prosty ze strzałką 2">
            <a:extLst>
              <a:ext uri="{FF2B5EF4-FFF2-40B4-BE49-F238E27FC236}">
                <a16:creationId xmlns:a16="http://schemas.microsoft.com/office/drawing/2014/main" id="{65F8B2D0-E309-D3F4-FDF2-6D19B5261A0A}"/>
              </a:ext>
            </a:extLst>
          </p:cNvPr>
          <p:cNvCxnSpPr>
            <a:cxnSpLocks/>
          </p:cNvCxnSpPr>
          <p:nvPr/>
        </p:nvCxnSpPr>
        <p:spPr>
          <a:xfrm>
            <a:off x="2590800" y="2819400"/>
            <a:ext cx="4140200" cy="1447800"/>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 name="pole tekstowe 1">
            <a:extLst>
              <a:ext uri="{FF2B5EF4-FFF2-40B4-BE49-F238E27FC236}">
                <a16:creationId xmlns:a16="http://schemas.microsoft.com/office/drawing/2014/main" id="{591273FC-4020-075E-F48F-5E10C7C04599}"/>
              </a:ext>
            </a:extLst>
          </p:cNvPr>
          <p:cNvSpPr txBox="1"/>
          <p:nvPr/>
        </p:nvSpPr>
        <p:spPr>
          <a:xfrm>
            <a:off x="4262284" y="3059668"/>
            <a:ext cx="2468716" cy="369332"/>
          </a:xfrm>
          <a:prstGeom prst="rect">
            <a:avLst/>
          </a:prstGeom>
          <a:noFill/>
        </p:spPr>
        <p:txBody>
          <a:bodyPr wrap="square" rtlCol="0">
            <a:spAutoFit/>
          </a:bodyPr>
          <a:lstStyle/>
          <a:p>
            <a:r>
              <a:rPr lang="pl-PL" dirty="0"/>
              <a:t>Zbyt duże tempo nauki</a:t>
            </a:r>
            <a:endParaRPr lang="en-US" dirty="0"/>
          </a:p>
        </p:txBody>
      </p:sp>
      <p:sp>
        <p:nvSpPr>
          <p:cNvPr id="5" name="pole tekstowe 4">
            <a:extLst>
              <a:ext uri="{FF2B5EF4-FFF2-40B4-BE49-F238E27FC236}">
                <a16:creationId xmlns:a16="http://schemas.microsoft.com/office/drawing/2014/main" id="{C7BD68FF-0D1D-1859-97B3-9BF1DD87C84A}"/>
              </a:ext>
            </a:extLst>
          </p:cNvPr>
          <p:cNvSpPr txBox="1"/>
          <p:nvPr/>
        </p:nvSpPr>
        <p:spPr>
          <a:xfrm>
            <a:off x="1621913" y="4509926"/>
            <a:ext cx="2468716" cy="369332"/>
          </a:xfrm>
          <a:prstGeom prst="rect">
            <a:avLst/>
          </a:prstGeom>
          <a:noFill/>
        </p:spPr>
        <p:txBody>
          <a:bodyPr wrap="square" rtlCol="0">
            <a:spAutoFit/>
          </a:bodyPr>
          <a:lstStyle/>
          <a:p>
            <a:r>
              <a:rPr lang="pl-PL" dirty="0"/>
              <a:t>Małe tempo nauki</a:t>
            </a:r>
            <a:endParaRPr lang="en-US" dirty="0"/>
          </a:p>
        </p:txBody>
      </p:sp>
    </p:spTree>
    <p:extLst>
      <p:ext uri="{BB962C8B-B14F-4D97-AF65-F5344CB8AC3E}">
        <p14:creationId xmlns:p14="http://schemas.microsoft.com/office/powerpoint/2010/main" val="705166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08F18-4983-B854-E2D9-DFFA6D5B7C00}"/>
            </a:ext>
          </a:extLst>
        </p:cNvPr>
        <p:cNvGrpSpPr/>
        <p:nvPr/>
      </p:nvGrpSpPr>
      <p:grpSpPr>
        <a:xfrm>
          <a:off x="0" y="0"/>
          <a:ext cx="0" cy="0"/>
          <a:chOff x="0" y="0"/>
          <a:chExt cx="0" cy="0"/>
        </a:xfrm>
      </p:grpSpPr>
      <p:pic>
        <p:nvPicPr>
          <p:cNvPr id="5" name="Obraz 4">
            <a:extLst>
              <a:ext uri="{FF2B5EF4-FFF2-40B4-BE49-F238E27FC236}">
                <a16:creationId xmlns:a16="http://schemas.microsoft.com/office/drawing/2014/main" id="{87566C85-D653-3692-C3EC-2A1A79253DEE}"/>
              </a:ext>
            </a:extLst>
          </p:cNvPr>
          <p:cNvPicPr>
            <a:picLocks noChangeAspect="1"/>
          </p:cNvPicPr>
          <p:nvPr/>
        </p:nvPicPr>
        <p:blipFill>
          <a:blip r:embed="rId3"/>
          <a:stretch>
            <a:fillRect/>
          </a:stretch>
        </p:blipFill>
        <p:spPr>
          <a:xfrm>
            <a:off x="1881489" y="788217"/>
            <a:ext cx="8123903" cy="4425632"/>
          </a:xfrm>
          <a:prstGeom prst="rect">
            <a:avLst/>
          </a:prstGeom>
        </p:spPr>
      </p:pic>
      <p:pic>
        <p:nvPicPr>
          <p:cNvPr id="11" name="Obraz 10">
            <a:extLst>
              <a:ext uri="{FF2B5EF4-FFF2-40B4-BE49-F238E27FC236}">
                <a16:creationId xmlns:a16="http://schemas.microsoft.com/office/drawing/2014/main" id="{D0B08EED-9372-E40D-1103-135F0990E52B}"/>
              </a:ext>
            </a:extLst>
          </p:cNvPr>
          <p:cNvPicPr>
            <a:picLocks noChangeAspect="1"/>
          </p:cNvPicPr>
          <p:nvPr/>
        </p:nvPicPr>
        <p:blipFill>
          <a:blip r:embed="rId4"/>
          <a:stretch>
            <a:fillRect/>
          </a:stretch>
        </p:blipFill>
        <p:spPr>
          <a:xfrm>
            <a:off x="-119590" y="5103232"/>
            <a:ext cx="1749287" cy="952953"/>
          </a:xfrm>
          <a:prstGeom prst="rect">
            <a:avLst/>
          </a:prstGeom>
        </p:spPr>
      </p:pic>
      <p:pic>
        <p:nvPicPr>
          <p:cNvPr id="17" name="Obraz 16">
            <a:extLst>
              <a:ext uri="{FF2B5EF4-FFF2-40B4-BE49-F238E27FC236}">
                <a16:creationId xmlns:a16="http://schemas.microsoft.com/office/drawing/2014/main" id="{8DA7CEF3-A33E-A0ED-A069-4E14973B9D50}"/>
              </a:ext>
            </a:extLst>
          </p:cNvPr>
          <p:cNvPicPr>
            <a:picLocks noChangeAspect="1"/>
          </p:cNvPicPr>
          <p:nvPr/>
        </p:nvPicPr>
        <p:blipFill>
          <a:blip r:embed="rId5"/>
          <a:stretch>
            <a:fillRect/>
          </a:stretch>
        </p:blipFill>
        <p:spPr>
          <a:xfrm>
            <a:off x="582776" y="5887478"/>
            <a:ext cx="665708" cy="337414"/>
          </a:xfrm>
          <a:prstGeom prst="rect">
            <a:avLst/>
          </a:prstGeom>
        </p:spPr>
      </p:pic>
      <p:sp>
        <p:nvSpPr>
          <p:cNvPr id="19" name="pole tekstowe 18">
            <a:extLst>
              <a:ext uri="{FF2B5EF4-FFF2-40B4-BE49-F238E27FC236}">
                <a16:creationId xmlns:a16="http://schemas.microsoft.com/office/drawing/2014/main" id="{18E3206E-6142-9508-1AEB-5016AC0839E5}"/>
              </a:ext>
            </a:extLst>
          </p:cNvPr>
          <p:cNvSpPr txBox="1"/>
          <p:nvPr/>
        </p:nvSpPr>
        <p:spPr>
          <a:xfrm>
            <a:off x="1248484" y="5310689"/>
            <a:ext cx="3352800" cy="369332"/>
          </a:xfrm>
          <a:prstGeom prst="rect">
            <a:avLst/>
          </a:prstGeom>
          <a:noFill/>
        </p:spPr>
        <p:txBody>
          <a:bodyPr wrap="square" rtlCol="0">
            <a:spAutoFit/>
          </a:bodyPr>
          <a:lstStyle/>
          <a:p>
            <a:r>
              <a:rPr lang="pl-PL" dirty="0"/>
              <a:t>Duży współczynnik uczenia się </a:t>
            </a:r>
            <a:endParaRPr lang="en-US" dirty="0"/>
          </a:p>
        </p:txBody>
      </p:sp>
      <p:sp>
        <p:nvSpPr>
          <p:cNvPr id="21" name="pole tekstowe 20">
            <a:extLst>
              <a:ext uri="{FF2B5EF4-FFF2-40B4-BE49-F238E27FC236}">
                <a16:creationId xmlns:a16="http://schemas.microsoft.com/office/drawing/2014/main" id="{FB857461-EFCD-BC84-8FED-380F4A67A01B}"/>
              </a:ext>
            </a:extLst>
          </p:cNvPr>
          <p:cNvSpPr txBox="1"/>
          <p:nvPr/>
        </p:nvSpPr>
        <p:spPr>
          <a:xfrm>
            <a:off x="1248484" y="5813429"/>
            <a:ext cx="3352800" cy="369332"/>
          </a:xfrm>
          <a:prstGeom prst="rect">
            <a:avLst/>
          </a:prstGeom>
          <a:noFill/>
        </p:spPr>
        <p:txBody>
          <a:bodyPr wrap="square" rtlCol="0">
            <a:spAutoFit/>
          </a:bodyPr>
          <a:lstStyle/>
          <a:p>
            <a:r>
              <a:rPr lang="pl-PL" dirty="0"/>
              <a:t>Niski współczynnik uczenia się </a:t>
            </a:r>
            <a:endParaRPr lang="en-US" dirty="0"/>
          </a:p>
        </p:txBody>
      </p:sp>
      <p:sp>
        <p:nvSpPr>
          <p:cNvPr id="23" name="pole tekstowe 22">
            <a:extLst>
              <a:ext uri="{FF2B5EF4-FFF2-40B4-BE49-F238E27FC236}">
                <a16:creationId xmlns:a16="http://schemas.microsoft.com/office/drawing/2014/main" id="{3FB11254-85FE-E598-2301-851198C66C8A}"/>
              </a:ext>
            </a:extLst>
          </p:cNvPr>
          <p:cNvSpPr txBox="1"/>
          <p:nvPr/>
        </p:nvSpPr>
        <p:spPr>
          <a:xfrm>
            <a:off x="1410903" y="31911"/>
            <a:ext cx="9683052" cy="646331"/>
          </a:xfrm>
          <a:prstGeom prst="rect">
            <a:avLst/>
          </a:prstGeom>
          <a:noFill/>
        </p:spPr>
        <p:txBody>
          <a:bodyPr wrap="square">
            <a:spAutoFit/>
          </a:bodyPr>
          <a:lstStyle/>
          <a:p>
            <a:pPr algn="ctr"/>
            <a:r>
              <a:rPr lang="pl-PL" sz="3600" dirty="0"/>
              <a:t>Minimalizacja a tempo uczenia się</a:t>
            </a:r>
          </a:p>
        </p:txBody>
      </p:sp>
      <p:sp>
        <p:nvSpPr>
          <p:cNvPr id="2" name="pole tekstowe 1">
            <a:extLst>
              <a:ext uri="{FF2B5EF4-FFF2-40B4-BE49-F238E27FC236}">
                <a16:creationId xmlns:a16="http://schemas.microsoft.com/office/drawing/2014/main" id="{665E2F07-B172-F597-3D63-6A0C0FA61E90}"/>
              </a:ext>
            </a:extLst>
          </p:cNvPr>
          <p:cNvSpPr txBox="1"/>
          <p:nvPr/>
        </p:nvSpPr>
        <p:spPr>
          <a:xfrm>
            <a:off x="5969358" y="5210376"/>
            <a:ext cx="589520" cy="338554"/>
          </a:xfrm>
          <a:prstGeom prst="rect">
            <a:avLst/>
          </a:prstGeom>
          <a:noFill/>
        </p:spPr>
        <p:txBody>
          <a:bodyPr wrap="none" rtlCol="0">
            <a:spAutoFit/>
          </a:bodyPr>
          <a:lstStyle/>
          <a:p>
            <a:r>
              <a:rPr lang="pl-PL" sz="1600" dirty="0"/>
              <a:t>wagi</a:t>
            </a:r>
            <a:endParaRPr lang="en-US" sz="1600" dirty="0"/>
          </a:p>
        </p:txBody>
      </p:sp>
      <p:sp>
        <p:nvSpPr>
          <p:cNvPr id="4" name="pole tekstowe 3">
            <a:extLst>
              <a:ext uri="{FF2B5EF4-FFF2-40B4-BE49-F238E27FC236}">
                <a16:creationId xmlns:a16="http://schemas.microsoft.com/office/drawing/2014/main" id="{416D914E-D13D-BAE5-9B2F-5D8732A76E8D}"/>
              </a:ext>
            </a:extLst>
          </p:cNvPr>
          <p:cNvSpPr txBox="1"/>
          <p:nvPr/>
        </p:nvSpPr>
        <p:spPr>
          <a:xfrm>
            <a:off x="1248484" y="3429000"/>
            <a:ext cx="1498744" cy="338554"/>
          </a:xfrm>
          <a:prstGeom prst="rect">
            <a:avLst/>
          </a:prstGeom>
          <a:noFill/>
        </p:spPr>
        <p:txBody>
          <a:bodyPr wrap="none" rtlCol="0">
            <a:spAutoFit/>
          </a:bodyPr>
          <a:lstStyle/>
          <a:p>
            <a:r>
              <a:rPr lang="pl-PL" sz="1600" dirty="0"/>
              <a:t>Funkcja kosztu</a:t>
            </a:r>
            <a:endParaRPr lang="en-US" sz="1600" dirty="0"/>
          </a:p>
        </p:txBody>
      </p:sp>
    </p:spTree>
    <p:extLst>
      <p:ext uri="{BB962C8B-B14F-4D97-AF65-F5344CB8AC3E}">
        <p14:creationId xmlns:p14="http://schemas.microsoft.com/office/powerpoint/2010/main" val="3856916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755F87F4-D8D5-16E2-5055-D69285B747AE}"/>
              </a:ext>
            </a:extLst>
          </p:cNvPr>
          <p:cNvSpPr txBox="1"/>
          <p:nvPr/>
        </p:nvSpPr>
        <p:spPr>
          <a:xfrm>
            <a:off x="1410903" y="179041"/>
            <a:ext cx="9683052" cy="646331"/>
          </a:xfrm>
          <a:prstGeom prst="rect">
            <a:avLst/>
          </a:prstGeom>
          <a:noFill/>
        </p:spPr>
        <p:txBody>
          <a:bodyPr wrap="square">
            <a:spAutoFit/>
          </a:bodyPr>
          <a:lstStyle/>
          <a:p>
            <a:pPr algn="ctr"/>
            <a:r>
              <a:rPr lang="pl-PL" sz="3600" dirty="0"/>
              <a:t>Splotowe sieci neuronowe (CNN)</a:t>
            </a:r>
          </a:p>
        </p:txBody>
      </p:sp>
      <p:pic>
        <p:nvPicPr>
          <p:cNvPr id="5" name="Obraz 4">
            <a:extLst>
              <a:ext uri="{FF2B5EF4-FFF2-40B4-BE49-F238E27FC236}">
                <a16:creationId xmlns:a16="http://schemas.microsoft.com/office/drawing/2014/main" id="{33570886-4CE9-952D-78A6-65F6EA2E80F6}"/>
              </a:ext>
            </a:extLst>
          </p:cNvPr>
          <p:cNvPicPr>
            <a:picLocks noChangeAspect="1"/>
          </p:cNvPicPr>
          <p:nvPr/>
        </p:nvPicPr>
        <p:blipFill>
          <a:blip r:embed="rId3"/>
          <a:stretch>
            <a:fillRect/>
          </a:stretch>
        </p:blipFill>
        <p:spPr>
          <a:xfrm>
            <a:off x="818218" y="1448729"/>
            <a:ext cx="10868422" cy="3044797"/>
          </a:xfrm>
          <a:prstGeom prst="rect">
            <a:avLst/>
          </a:prstGeom>
        </p:spPr>
      </p:pic>
      <p:sp>
        <p:nvSpPr>
          <p:cNvPr id="6" name="pole tekstowe 5">
            <a:extLst>
              <a:ext uri="{FF2B5EF4-FFF2-40B4-BE49-F238E27FC236}">
                <a16:creationId xmlns:a16="http://schemas.microsoft.com/office/drawing/2014/main" id="{1E774F81-5150-6CBE-30E9-5944A97ECB86}"/>
              </a:ext>
            </a:extLst>
          </p:cNvPr>
          <p:cNvSpPr txBox="1"/>
          <p:nvPr/>
        </p:nvSpPr>
        <p:spPr>
          <a:xfrm>
            <a:off x="1278381" y="5547015"/>
            <a:ext cx="1643269" cy="923330"/>
          </a:xfrm>
          <a:prstGeom prst="rect">
            <a:avLst/>
          </a:prstGeom>
          <a:noFill/>
        </p:spPr>
        <p:txBody>
          <a:bodyPr wrap="square" rtlCol="0">
            <a:spAutoFit/>
          </a:bodyPr>
          <a:lstStyle/>
          <a:p>
            <a:pPr algn="ctr"/>
            <a:r>
              <a:rPr lang="pl-PL" dirty="0"/>
              <a:t>Obraz w odcieniach szarości</a:t>
            </a:r>
            <a:endParaRPr lang="en-US" dirty="0"/>
          </a:p>
        </p:txBody>
      </p:sp>
      <p:cxnSp>
        <p:nvCxnSpPr>
          <p:cNvPr id="8" name="Łącznik prosty ze strzałką 7">
            <a:extLst>
              <a:ext uri="{FF2B5EF4-FFF2-40B4-BE49-F238E27FC236}">
                <a16:creationId xmlns:a16="http://schemas.microsoft.com/office/drawing/2014/main" id="{03E20166-3BBB-5B2C-7842-8F98F53CF493}"/>
              </a:ext>
            </a:extLst>
          </p:cNvPr>
          <p:cNvCxnSpPr/>
          <p:nvPr/>
        </p:nvCxnSpPr>
        <p:spPr>
          <a:xfrm flipV="1">
            <a:off x="2100015" y="4625009"/>
            <a:ext cx="0" cy="622852"/>
          </a:xfrm>
          <a:prstGeom prst="straightConnector1">
            <a:avLst/>
          </a:prstGeom>
          <a:ln w="57150">
            <a:solidFill>
              <a:schemeClr val="tx1">
                <a:lumMod val="85000"/>
                <a:lumOff val="1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 name="pole tekstowe 10">
            <a:extLst>
              <a:ext uri="{FF2B5EF4-FFF2-40B4-BE49-F238E27FC236}">
                <a16:creationId xmlns:a16="http://schemas.microsoft.com/office/drawing/2014/main" id="{00A890AA-760B-3176-6575-3063782F36CB}"/>
              </a:ext>
            </a:extLst>
          </p:cNvPr>
          <p:cNvSpPr txBox="1"/>
          <p:nvPr/>
        </p:nvSpPr>
        <p:spPr>
          <a:xfrm>
            <a:off x="9202994" y="5409271"/>
            <a:ext cx="2989006" cy="923330"/>
          </a:xfrm>
          <a:prstGeom prst="rect">
            <a:avLst/>
          </a:prstGeom>
          <a:noFill/>
        </p:spPr>
        <p:txBody>
          <a:bodyPr wrap="square" rtlCol="0">
            <a:spAutoFit/>
          </a:bodyPr>
          <a:lstStyle/>
          <a:p>
            <a:pPr algn="ctr"/>
            <a:r>
              <a:rPr lang="pl-PL" dirty="0"/>
              <a:t>Prawdopodobieństwo</a:t>
            </a:r>
            <a:br>
              <a:rPr lang="pl-PL" dirty="0"/>
            </a:br>
            <a:r>
              <a:rPr lang="pl-PL" dirty="0"/>
              <a:t>że obraz jest danej kategorii (cyfrą od 0 do 9) </a:t>
            </a:r>
            <a:endParaRPr lang="en-US" dirty="0"/>
          </a:p>
        </p:txBody>
      </p:sp>
      <p:cxnSp>
        <p:nvCxnSpPr>
          <p:cNvPr id="12" name="Łącznik prosty ze strzałką 11">
            <a:extLst>
              <a:ext uri="{FF2B5EF4-FFF2-40B4-BE49-F238E27FC236}">
                <a16:creationId xmlns:a16="http://schemas.microsoft.com/office/drawing/2014/main" id="{3F6B6148-40C1-D427-19F0-9C8484328AF7}"/>
              </a:ext>
            </a:extLst>
          </p:cNvPr>
          <p:cNvCxnSpPr/>
          <p:nvPr/>
        </p:nvCxnSpPr>
        <p:spPr>
          <a:xfrm flipV="1">
            <a:off x="10962513" y="4625009"/>
            <a:ext cx="0" cy="622852"/>
          </a:xfrm>
          <a:prstGeom prst="straightConnector1">
            <a:avLst/>
          </a:prstGeom>
          <a:ln w="57150">
            <a:solidFill>
              <a:schemeClr val="tx1">
                <a:lumMod val="85000"/>
                <a:lumOff val="1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2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2">
            <a:extLst>
              <a:ext uri="{FF2B5EF4-FFF2-40B4-BE49-F238E27FC236}">
                <a16:creationId xmlns:a16="http://schemas.microsoft.com/office/drawing/2014/main" id="{CB9C4501-66FF-362B-9707-22495DDE1267}"/>
              </a:ext>
            </a:extLst>
          </p:cNvPr>
          <p:cNvSpPr/>
          <p:nvPr/>
        </p:nvSpPr>
        <p:spPr>
          <a:xfrm>
            <a:off x="2296668" y="5595930"/>
            <a:ext cx="8141109" cy="52140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dirty="0">
                <a:solidFill>
                  <a:srgbClr val="475569"/>
                </a:solidFill>
              </a:rPr>
              <a:t>Obraz jest macierzą liczb, a konwolucja porównuje jego fragment z małą macierzą zwaną filtrem.</a:t>
            </a:r>
            <a:endParaRPr lang="pl-PL" sz="1500" dirty="0">
              <a:solidFill>
                <a:srgbClr val="475569"/>
              </a:solidFill>
            </a:endParaRPr>
          </a:p>
        </p:txBody>
      </p:sp>
      <p:sp>
        <p:nvSpPr>
          <p:cNvPr id="8" name="Shape 3">
            <a:extLst>
              <a:ext uri="{FF2B5EF4-FFF2-40B4-BE49-F238E27FC236}">
                <a16:creationId xmlns:a16="http://schemas.microsoft.com/office/drawing/2014/main" id="{2BD7F373-64FA-81CA-E356-BD692812159E}"/>
              </a:ext>
            </a:extLst>
          </p:cNvPr>
          <p:cNvSpPr/>
          <p:nvPr/>
        </p:nvSpPr>
        <p:spPr>
          <a:xfrm>
            <a:off x="504444" y="1106424"/>
            <a:ext cx="2057400" cy="4343400"/>
          </a:xfrm>
          <a:prstGeom prst="roundRect">
            <a:avLst>
              <a:gd name="adj" fmla="val 2667"/>
            </a:avLst>
          </a:prstGeom>
          <a:solidFill>
            <a:srgbClr val="FFFFFF"/>
          </a:solidFill>
          <a:ln w="12700">
            <a:solidFill>
              <a:srgbClr val="CBD5E1"/>
            </a:solidFill>
            <a:prstDash val="solid"/>
          </a:ln>
        </p:spPr>
        <p:txBody>
          <a:bodyPr/>
          <a:lstStyle/>
          <a:p>
            <a:endParaRPr lang="en-US"/>
          </a:p>
        </p:txBody>
      </p:sp>
      <p:sp>
        <p:nvSpPr>
          <p:cNvPr id="9" name="Text 4">
            <a:extLst>
              <a:ext uri="{FF2B5EF4-FFF2-40B4-BE49-F238E27FC236}">
                <a16:creationId xmlns:a16="http://schemas.microsoft.com/office/drawing/2014/main" id="{A185A53A-464C-7042-5473-974FA2692986}"/>
              </a:ext>
            </a:extLst>
          </p:cNvPr>
          <p:cNvSpPr/>
          <p:nvPr/>
        </p:nvSpPr>
        <p:spPr>
          <a:xfrm>
            <a:off x="705612" y="1307592"/>
            <a:ext cx="164592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dirty="0">
                <a:solidFill>
                  <a:srgbClr val="166534"/>
                </a:solidFill>
              </a:rPr>
              <a:t>1. Obraz wejściowy</a:t>
            </a:r>
            <a:endParaRPr lang="en-US" sz="1800" dirty="0"/>
          </a:p>
        </p:txBody>
      </p:sp>
      <p:pic>
        <p:nvPicPr>
          <p:cNvPr id="10" name="Image 0">
            <a:extLst>
              <a:ext uri="{FF2B5EF4-FFF2-40B4-BE49-F238E27FC236}">
                <a16:creationId xmlns:a16="http://schemas.microsoft.com/office/drawing/2014/main" id="{DE020DE0-6BD8-5868-FD94-42ED0B135B61}"/>
              </a:ext>
            </a:extLst>
          </p:cNvPr>
          <p:cNvPicPr>
            <a:picLocks noChangeAspect="1"/>
          </p:cNvPicPr>
          <p:nvPr/>
        </p:nvPicPr>
        <p:blipFill>
          <a:blip r:embed="rId3"/>
          <a:stretch>
            <a:fillRect/>
          </a:stretch>
        </p:blipFill>
        <p:spPr>
          <a:xfrm>
            <a:off x="760476" y="1719072"/>
            <a:ext cx="1536192" cy="1536192"/>
          </a:xfrm>
          <a:prstGeom prst="rect">
            <a:avLst/>
          </a:prstGeom>
        </p:spPr>
      </p:pic>
      <p:sp>
        <p:nvSpPr>
          <p:cNvPr id="11" name="Text 5">
            <a:extLst>
              <a:ext uri="{FF2B5EF4-FFF2-40B4-BE49-F238E27FC236}">
                <a16:creationId xmlns:a16="http://schemas.microsoft.com/office/drawing/2014/main" id="{854EA081-C6C2-CA7D-6A22-781270DF8437}"/>
              </a:ext>
            </a:extLst>
          </p:cNvPr>
          <p:cNvSpPr/>
          <p:nvPr/>
        </p:nvSpPr>
        <p:spPr>
          <a:xfrm>
            <a:off x="714756" y="3520440"/>
            <a:ext cx="1645920" cy="62179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334155"/>
                </a:solidFill>
              </a:rPr>
              <a:t>Piksel jest liczbą:</a:t>
            </a:r>
            <a:endParaRPr lang="en-US" sz="1400" dirty="0"/>
          </a:p>
          <a:p>
            <a:pPr marL="0" indent="0" algn="ctr">
              <a:buNone/>
            </a:pPr>
            <a:r>
              <a:rPr lang="en-US" sz="1400" dirty="0">
                <a:solidFill>
                  <a:srgbClr val="334155"/>
                </a:solidFill>
              </a:rPr>
              <a:t>0 = jasny, 1 = ciemny</a:t>
            </a:r>
            <a:endParaRPr lang="en-US" sz="1400" dirty="0"/>
          </a:p>
        </p:txBody>
      </p:sp>
      <p:sp>
        <p:nvSpPr>
          <p:cNvPr id="12" name="Text 6">
            <a:extLst>
              <a:ext uri="{FF2B5EF4-FFF2-40B4-BE49-F238E27FC236}">
                <a16:creationId xmlns:a16="http://schemas.microsoft.com/office/drawing/2014/main" id="{F76BA3E5-2DD6-5D48-CCAA-F2169483C315}"/>
              </a:ext>
            </a:extLst>
          </p:cNvPr>
          <p:cNvSpPr/>
          <p:nvPr/>
        </p:nvSpPr>
        <p:spPr>
          <a:xfrm>
            <a:off x="714756" y="4645152"/>
            <a:ext cx="164592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0F172A"/>
                </a:solidFill>
              </a:rPr>
              <a:t>Obraz → macierz</a:t>
            </a:r>
            <a:endParaRPr lang="en-US" sz="1500" dirty="0"/>
          </a:p>
        </p:txBody>
      </p:sp>
      <p:sp>
        <p:nvSpPr>
          <p:cNvPr id="13" name="Shape 7">
            <a:extLst>
              <a:ext uri="{FF2B5EF4-FFF2-40B4-BE49-F238E27FC236}">
                <a16:creationId xmlns:a16="http://schemas.microsoft.com/office/drawing/2014/main" id="{C02B7586-D96A-E327-6E39-922D42DE2499}"/>
              </a:ext>
            </a:extLst>
          </p:cNvPr>
          <p:cNvSpPr/>
          <p:nvPr/>
        </p:nvSpPr>
        <p:spPr>
          <a:xfrm>
            <a:off x="2671572" y="2660904"/>
            <a:ext cx="365760" cy="594360"/>
          </a:xfrm>
          <a:prstGeom prst="chevron">
            <a:avLst/>
          </a:prstGeom>
          <a:solidFill>
            <a:schemeClr val="accent1">
              <a:lumMod val="60000"/>
              <a:lumOff val="40000"/>
            </a:schemeClr>
          </a:solidFill>
          <a:ln w="12700">
            <a:solidFill>
              <a:srgbClr val="94A3B8"/>
            </a:solidFill>
            <a:prstDash val="solid"/>
          </a:ln>
        </p:spPr>
        <p:txBody>
          <a:bodyPr/>
          <a:lstStyle/>
          <a:p>
            <a:endParaRPr lang="en-US" dirty="0">
              <a:highlight>
                <a:srgbClr val="000000"/>
              </a:highlight>
            </a:endParaRPr>
          </a:p>
        </p:txBody>
      </p:sp>
      <p:sp>
        <p:nvSpPr>
          <p:cNvPr id="14" name="Shape 8">
            <a:extLst>
              <a:ext uri="{FF2B5EF4-FFF2-40B4-BE49-F238E27FC236}">
                <a16:creationId xmlns:a16="http://schemas.microsoft.com/office/drawing/2014/main" id="{06CF00BB-E0E1-DA5B-2BAA-CB6D16094239}"/>
              </a:ext>
            </a:extLst>
          </p:cNvPr>
          <p:cNvSpPr/>
          <p:nvPr/>
        </p:nvSpPr>
        <p:spPr>
          <a:xfrm>
            <a:off x="3128772" y="1106424"/>
            <a:ext cx="5650992" cy="4343400"/>
          </a:xfrm>
          <a:prstGeom prst="roundRect">
            <a:avLst>
              <a:gd name="adj" fmla="val 1263"/>
            </a:avLst>
          </a:prstGeom>
          <a:solidFill>
            <a:srgbClr val="FFFFFF"/>
          </a:solidFill>
          <a:ln w="12700">
            <a:solidFill>
              <a:srgbClr val="CBD5E1"/>
            </a:solidFill>
            <a:prstDash val="solid"/>
          </a:ln>
        </p:spPr>
        <p:txBody>
          <a:bodyPr/>
          <a:lstStyle/>
          <a:p>
            <a:endParaRPr lang="en-US"/>
          </a:p>
        </p:txBody>
      </p:sp>
      <p:sp>
        <p:nvSpPr>
          <p:cNvPr id="15" name="Text 9">
            <a:extLst>
              <a:ext uri="{FF2B5EF4-FFF2-40B4-BE49-F238E27FC236}">
                <a16:creationId xmlns:a16="http://schemas.microsoft.com/office/drawing/2014/main" id="{A39B5684-1E73-245A-B777-E302CAAEDEF4}"/>
              </a:ext>
            </a:extLst>
          </p:cNvPr>
          <p:cNvSpPr/>
          <p:nvPr/>
        </p:nvSpPr>
        <p:spPr>
          <a:xfrm>
            <a:off x="3403092" y="1307592"/>
            <a:ext cx="5102352"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dirty="0">
                <a:solidFill>
                  <a:srgbClr val="1D4ED8"/>
                </a:solidFill>
              </a:rPr>
              <a:t>2. Konwolucja: działania na macierzach</a:t>
            </a:r>
            <a:endParaRPr lang="en-US" sz="1800" dirty="0"/>
          </a:p>
        </p:txBody>
      </p:sp>
      <p:sp>
        <p:nvSpPr>
          <p:cNvPr id="16" name="Shape 10">
            <a:extLst>
              <a:ext uri="{FF2B5EF4-FFF2-40B4-BE49-F238E27FC236}">
                <a16:creationId xmlns:a16="http://schemas.microsoft.com/office/drawing/2014/main" id="{DDFFE612-EB2A-DCD6-33C0-14F993726125}"/>
              </a:ext>
            </a:extLst>
          </p:cNvPr>
          <p:cNvSpPr/>
          <p:nvPr/>
        </p:nvSpPr>
        <p:spPr>
          <a:xfrm>
            <a:off x="3494532" y="1810512"/>
            <a:ext cx="384048" cy="384048"/>
          </a:xfrm>
          <a:prstGeom prst="rect">
            <a:avLst/>
          </a:prstGeom>
          <a:solidFill>
            <a:srgbClr val="DCFCE7"/>
          </a:solidFill>
          <a:ln w="16510">
            <a:solidFill>
              <a:srgbClr val="22C55E"/>
            </a:solidFill>
            <a:prstDash val="solid"/>
          </a:ln>
        </p:spPr>
        <p:txBody>
          <a:bodyPr/>
          <a:lstStyle/>
          <a:p>
            <a:endParaRPr lang="en-US"/>
          </a:p>
        </p:txBody>
      </p:sp>
      <p:sp>
        <p:nvSpPr>
          <p:cNvPr id="17" name="Text 11">
            <a:extLst>
              <a:ext uri="{FF2B5EF4-FFF2-40B4-BE49-F238E27FC236}">
                <a16:creationId xmlns:a16="http://schemas.microsoft.com/office/drawing/2014/main" id="{D0EEF36A-B5FA-C295-3A56-4EBD80D0B99E}"/>
              </a:ext>
            </a:extLst>
          </p:cNvPr>
          <p:cNvSpPr/>
          <p:nvPr/>
        </p:nvSpPr>
        <p:spPr>
          <a:xfrm>
            <a:off x="3494532" y="1819656"/>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166534"/>
                </a:solidFill>
              </a:rPr>
              <a:t>1</a:t>
            </a:r>
            <a:endParaRPr lang="en-US" sz="1300" dirty="0"/>
          </a:p>
        </p:txBody>
      </p:sp>
      <p:sp>
        <p:nvSpPr>
          <p:cNvPr id="18" name="Shape 12">
            <a:extLst>
              <a:ext uri="{FF2B5EF4-FFF2-40B4-BE49-F238E27FC236}">
                <a16:creationId xmlns:a16="http://schemas.microsoft.com/office/drawing/2014/main" id="{71C60F58-449D-773D-0667-03158CAF2873}"/>
              </a:ext>
            </a:extLst>
          </p:cNvPr>
          <p:cNvSpPr/>
          <p:nvPr/>
        </p:nvSpPr>
        <p:spPr>
          <a:xfrm>
            <a:off x="3878580" y="1810512"/>
            <a:ext cx="384048" cy="384048"/>
          </a:xfrm>
          <a:prstGeom prst="rect">
            <a:avLst/>
          </a:prstGeom>
          <a:solidFill>
            <a:srgbClr val="DCFCE7"/>
          </a:solidFill>
          <a:ln w="16510">
            <a:solidFill>
              <a:srgbClr val="22C55E"/>
            </a:solidFill>
            <a:prstDash val="solid"/>
          </a:ln>
        </p:spPr>
        <p:txBody>
          <a:bodyPr/>
          <a:lstStyle/>
          <a:p>
            <a:endParaRPr lang="en-US"/>
          </a:p>
        </p:txBody>
      </p:sp>
      <p:sp>
        <p:nvSpPr>
          <p:cNvPr id="19" name="Text 13">
            <a:extLst>
              <a:ext uri="{FF2B5EF4-FFF2-40B4-BE49-F238E27FC236}">
                <a16:creationId xmlns:a16="http://schemas.microsoft.com/office/drawing/2014/main" id="{9D891D58-4FB5-FA58-DC22-31D449816219}"/>
              </a:ext>
            </a:extLst>
          </p:cNvPr>
          <p:cNvSpPr/>
          <p:nvPr/>
        </p:nvSpPr>
        <p:spPr>
          <a:xfrm>
            <a:off x="3878580" y="1819656"/>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166534"/>
                </a:solidFill>
              </a:rPr>
              <a:t>0</a:t>
            </a:r>
            <a:endParaRPr lang="en-US" sz="1300" dirty="0"/>
          </a:p>
        </p:txBody>
      </p:sp>
      <p:sp>
        <p:nvSpPr>
          <p:cNvPr id="20" name="Shape 14">
            <a:extLst>
              <a:ext uri="{FF2B5EF4-FFF2-40B4-BE49-F238E27FC236}">
                <a16:creationId xmlns:a16="http://schemas.microsoft.com/office/drawing/2014/main" id="{5D3443CB-D5B3-C205-552B-8D220B44847B}"/>
              </a:ext>
            </a:extLst>
          </p:cNvPr>
          <p:cNvSpPr/>
          <p:nvPr/>
        </p:nvSpPr>
        <p:spPr>
          <a:xfrm>
            <a:off x="4262628" y="1810512"/>
            <a:ext cx="384048" cy="384048"/>
          </a:xfrm>
          <a:prstGeom prst="rect">
            <a:avLst/>
          </a:prstGeom>
          <a:solidFill>
            <a:srgbClr val="DCFCE7"/>
          </a:solidFill>
          <a:ln w="16510">
            <a:solidFill>
              <a:srgbClr val="22C55E"/>
            </a:solidFill>
            <a:prstDash val="solid"/>
          </a:ln>
        </p:spPr>
        <p:txBody>
          <a:bodyPr/>
          <a:lstStyle/>
          <a:p>
            <a:endParaRPr lang="en-US"/>
          </a:p>
        </p:txBody>
      </p:sp>
      <p:sp>
        <p:nvSpPr>
          <p:cNvPr id="21" name="Text 15">
            <a:extLst>
              <a:ext uri="{FF2B5EF4-FFF2-40B4-BE49-F238E27FC236}">
                <a16:creationId xmlns:a16="http://schemas.microsoft.com/office/drawing/2014/main" id="{E257E70A-8622-B479-3F90-EDB53249480B}"/>
              </a:ext>
            </a:extLst>
          </p:cNvPr>
          <p:cNvSpPr/>
          <p:nvPr/>
        </p:nvSpPr>
        <p:spPr>
          <a:xfrm>
            <a:off x="4262628" y="1819656"/>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166534"/>
                </a:solidFill>
              </a:rPr>
              <a:t>0</a:t>
            </a:r>
            <a:endParaRPr lang="en-US" sz="1300" dirty="0"/>
          </a:p>
        </p:txBody>
      </p:sp>
      <p:sp>
        <p:nvSpPr>
          <p:cNvPr id="22" name="Shape 16">
            <a:extLst>
              <a:ext uri="{FF2B5EF4-FFF2-40B4-BE49-F238E27FC236}">
                <a16:creationId xmlns:a16="http://schemas.microsoft.com/office/drawing/2014/main" id="{62D0BA6F-AE14-A65B-66E4-1DFBE7FCDB8E}"/>
              </a:ext>
            </a:extLst>
          </p:cNvPr>
          <p:cNvSpPr/>
          <p:nvPr/>
        </p:nvSpPr>
        <p:spPr>
          <a:xfrm>
            <a:off x="4646676" y="1810512"/>
            <a:ext cx="384048" cy="384048"/>
          </a:xfrm>
          <a:prstGeom prst="rect">
            <a:avLst/>
          </a:prstGeom>
          <a:solidFill>
            <a:srgbClr val="FFFFFF"/>
          </a:solidFill>
          <a:ln w="10160">
            <a:solidFill>
              <a:srgbClr val="CBD5E1"/>
            </a:solidFill>
            <a:prstDash val="solid"/>
          </a:ln>
        </p:spPr>
        <p:txBody>
          <a:bodyPr/>
          <a:lstStyle/>
          <a:p>
            <a:endParaRPr lang="en-US"/>
          </a:p>
        </p:txBody>
      </p:sp>
      <p:sp>
        <p:nvSpPr>
          <p:cNvPr id="23" name="Text 17">
            <a:extLst>
              <a:ext uri="{FF2B5EF4-FFF2-40B4-BE49-F238E27FC236}">
                <a16:creationId xmlns:a16="http://schemas.microsoft.com/office/drawing/2014/main" id="{FDCEC32D-D8AB-0F08-9B79-6DC4C8142896}"/>
              </a:ext>
            </a:extLst>
          </p:cNvPr>
          <p:cNvSpPr/>
          <p:nvPr/>
        </p:nvSpPr>
        <p:spPr>
          <a:xfrm>
            <a:off x="4646676" y="1819656"/>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24" name="Shape 18">
            <a:extLst>
              <a:ext uri="{FF2B5EF4-FFF2-40B4-BE49-F238E27FC236}">
                <a16:creationId xmlns:a16="http://schemas.microsoft.com/office/drawing/2014/main" id="{B2EBFC91-BD28-0BB5-0506-32CC51D45E21}"/>
              </a:ext>
            </a:extLst>
          </p:cNvPr>
          <p:cNvSpPr/>
          <p:nvPr/>
        </p:nvSpPr>
        <p:spPr>
          <a:xfrm>
            <a:off x="5030724" y="1810512"/>
            <a:ext cx="384048" cy="384048"/>
          </a:xfrm>
          <a:prstGeom prst="rect">
            <a:avLst/>
          </a:prstGeom>
          <a:solidFill>
            <a:srgbClr val="FFFFFF"/>
          </a:solidFill>
          <a:ln w="10160">
            <a:solidFill>
              <a:srgbClr val="CBD5E1"/>
            </a:solidFill>
            <a:prstDash val="solid"/>
          </a:ln>
        </p:spPr>
        <p:txBody>
          <a:bodyPr/>
          <a:lstStyle/>
          <a:p>
            <a:endParaRPr lang="en-US"/>
          </a:p>
        </p:txBody>
      </p:sp>
      <p:sp>
        <p:nvSpPr>
          <p:cNvPr id="25" name="Text 19">
            <a:extLst>
              <a:ext uri="{FF2B5EF4-FFF2-40B4-BE49-F238E27FC236}">
                <a16:creationId xmlns:a16="http://schemas.microsoft.com/office/drawing/2014/main" id="{4F39EEB7-D9A1-3993-2C00-E57A6779BAB0}"/>
              </a:ext>
            </a:extLst>
          </p:cNvPr>
          <p:cNvSpPr/>
          <p:nvPr/>
        </p:nvSpPr>
        <p:spPr>
          <a:xfrm>
            <a:off x="5030724" y="1819656"/>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1</a:t>
            </a:r>
            <a:endParaRPr lang="en-US" sz="1300" dirty="0"/>
          </a:p>
        </p:txBody>
      </p:sp>
      <p:sp>
        <p:nvSpPr>
          <p:cNvPr id="26" name="Shape 20">
            <a:extLst>
              <a:ext uri="{FF2B5EF4-FFF2-40B4-BE49-F238E27FC236}">
                <a16:creationId xmlns:a16="http://schemas.microsoft.com/office/drawing/2014/main" id="{D012392E-DB3E-F0F9-FCC8-1B0C14DAAB8A}"/>
              </a:ext>
            </a:extLst>
          </p:cNvPr>
          <p:cNvSpPr/>
          <p:nvPr/>
        </p:nvSpPr>
        <p:spPr>
          <a:xfrm>
            <a:off x="3494532" y="2194560"/>
            <a:ext cx="384048" cy="384048"/>
          </a:xfrm>
          <a:prstGeom prst="rect">
            <a:avLst/>
          </a:prstGeom>
          <a:solidFill>
            <a:srgbClr val="DCFCE7"/>
          </a:solidFill>
          <a:ln w="16510">
            <a:solidFill>
              <a:srgbClr val="22C55E"/>
            </a:solidFill>
            <a:prstDash val="solid"/>
          </a:ln>
        </p:spPr>
        <p:txBody>
          <a:bodyPr/>
          <a:lstStyle/>
          <a:p>
            <a:endParaRPr lang="en-US"/>
          </a:p>
        </p:txBody>
      </p:sp>
      <p:sp>
        <p:nvSpPr>
          <p:cNvPr id="27" name="Text 21">
            <a:extLst>
              <a:ext uri="{FF2B5EF4-FFF2-40B4-BE49-F238E27FC236}">
                <a16:creationId xmlns:a16="http://schemas.microsoft.com/office/drawing/2014/main" id="{EAC4EA24-7490-9E79-A9CD-03762BEA45FF}"/>
              </a:ext>
            </a:extLst>
          </p:cNvPr>
          <p:cNvSpPr/>
          <p:nvPr/>
        </p:nvSpPr>
        <p:spPr>
          <a:xfrm>
            <a:off x="3494532" y="2203704"/>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166534"/>
                </a:solidFill>
              </a:rPr>
              <a:t>0</a:t>
            </a:r>
            <a:endParaRPr lang="en-US" sz="1300" dirty="0"/>
          </a:p>
        </p:txBody>
      </p:sp>
      <p:sp>
        <p:nvSpPr>
          <p:cNvPr id="28" name="Shape 22">
            <a:extLst>
              <a:ext uri="{FF2B5EF4-FFF2-40B4-BE49-F238E27FC236}">
                <a16:creationId xmlns:a16="http://schemas.microsoft.com/office/drawing/2014/main" id="{ED17C276-CD8A-EB7D-DCD7-B8A001EE21E5}"/>
              </a:ext>
            </a:extLst>
          </p:cNvPr>
          <p:cNvSpPr/>
          <p:nvPr/>
        </p:nvSpPr>
        <p:spPr>
          <a:xfrm>
            <a:off x="3878580" y="2194560"/>
            <a:ext cx="384048" cy="384048"/>
          </a:xfrm>
          <a:prstGeom prst="rect">
            <a:avLst/>
          </a:prstGeom>
          <a:solidFill>
            <a:srgbClr val="DCFCE7"/>
          </a:solidFill>
          <a:ln w="16510">
            <a:solidFill>
              <a:srgbClr val="22C55E"/>
            </a:solidFill>
            <a:prstDash val="solid"/>
          </a:ln>
        </p:spPr>
        <p:txBody>
          <a:bodyPr/>
          <a:lstStyle/>
          <a:p>
            <a:endParaRPr lang="en-US"/>
          </a:p>
        </p:txBody>
      </p:sp>
      <p:sp>
        <p:nvSpPr>
          <p:cNvPr id="29" name="Text 23">
            <a:extLst>
              <a:ext uri="{FF2B5EF4-FFF2-40B4-BE49-F238E27FC236}">
                <a16:creationId xmlns:a16="http://schemas.microsoft.com/office/drawing/2014/main" id="{5B5C7C24-F941-C3AB-886F-AC49978A19F8}"/>
              </a:ext>
            </a:extLst>
          </p:cNvPr>
          <p:cNvSpPr/>
          <p:nvPr/>
        </p:nvSpPr>
        <p:spPr>
          <a:xfrm>
            <a:off x="3878580" y="2203704"/>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166534"/>
                </a:solidFill>
              </a:rPr>
              <a:t>1</a:t>
            </a:r>
            <a:endParaRPr lang="en-US" sz="1300" dirty="0"/>
          </a:p>
        </p:txBody>
      </p:sp>
      <p:sp>
        <p:nvSpPr>
          <p:cNvPr id="30" name="Shape 24">
            <a:extLst>
              <a:ext uri="{FF2B5EF4-FFF2-40B4-BE49-F238E27FC236}">
                <a16:creationId xmlns:a16="http://schemas.microsoft.com/office/drawing/2014/main" id="{FC1EC83A-E551-9929-1EF5-3C83F7F777A7}"/>
              </a:ext>
            </a:extLst>
          </p:cNvPr>
          <p:cNvSpPr/>
          <p:nvPr/>
        </p:nvSpPr>
        <p:spPr>
          <a:xfrm>
            <a:off x="4262628" y="2194560"/>
            <a:ext cx="384048" cy="384048"/>
          </a:xfrm>
          <a:prstGeom prst="rect">
            <a:avLst/>
          </a:prstGeom>
          <a:solidFill>
            <a:srgbClr val="DCFCE7"/>
          </a:solidFill>
          <a:ln w="16510">
            <a:solidFill>
              <a:srgbClr val="22C55E"/>
            </a:solidFill>
            <a:prstDash val="solid"/>
          </a:ln>
        </p:spPr>
        <p:txBody>
          <a:bodyPr/>
          <a:lstStyle/>
          <a:p>
            <a:endParaRPr lang="en-US"/>
          </a:p>
        </p:txBody>
      </p:sp>
      <p:sp>
        <p:nvSpPr>
          <p:cNvPr id="31" name="Text 25">
            <a:extLst>
              <a:ext uri="{FF2B5EF4-FFF2-40B4-BE49-F238E27FC236}">
                <a16:creationId xmlns:a16="http://schemas.microsoft.com/office/drawing/2014/main" id="{2EAB708E-FFDD-0922-E0BA-FBD6D069543C}"/>
              </a:ext>
            </a:extLst>
          </p:cNvPr>
          <p:cNvSpPr/>
          <p:nvPr/>
        </p:nvSpPr>
        <p:spPr>
          <a:xfrm>
            <a:off x="4262628" y="2203704"/>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166534"/>
                </a:solidFill>
              </a:rPr>
              <a:t>0</a:t>
            </a:r>
            <a:endParaRPr lang="en-US" sz="1300" dirty="0"/>
          </a:p>
        </p:txBody>
      </p:sp>
      <p:sp>
        <p:nvSpPr>
          <p:cNvPr id="32" name="Shape 26">
            <a:extLst>
              <a:ext uri="{FF2B5EF4-FFF2-40B4-BE49-F238E27FC236}">
                <a16:creationId xmlns:a16="http://schemas.microsoft.com/office/drawing/2014/main" id="{85BD80E1-7711-DE2C-82EC-0AFEF047346E}"/>
              </a:ext>
            </a:extLst>
          </p:cNvPr>
          <p:cNvSpPr/>
          <p:nvPr/>
        </p:nvSpPr>
        <p:spPr>
          <a:xfrm>
            <a:off x="4646676" y="2194560"/>
            <a:ext cx="384048" cy="384048"/>
          </a:xfrm>
          <a:prstGeom prst="rect">
            <a:avLst/>
          </a:prstGeom>
          <a:solidFill>
            <a:srgbClr val="FFFFFF"/>
          </a:solidFill>
          <a:ln w="10160">
            <a:solidFill>
              <a:srgbClr val="CBD5E1"/>
            </a:solidFill>
            <a:prstDash val="solid"/>
          </a:ln>
        </p:spPr>
        <p:txBody>
          <a:bodyPr/>
          <a:lstStyle/>
          <a:p>
            <a:endParaRPr lang="en-US"/>
          </a:p>
        </p:txBody>
      </p:sp>
      <p:sp>
        <p:nvSpPr>
          <p:cNvPr id="33" name="Text 27">
            <a:extLst>
              <a:ext uri="{FF2B5EF4-FFF2-40B4-BE49-F238E27FC236}">
                <a16:creationId xmlns:a16="http://schemas.microsoft.com/office/drawing/2014/main" id="{8818243A-7CD0-61E2-09AB-6F2BB9845F7C}"/>
              </a:ext>
            </a:extLst>
          </p:cNvPr>
          <p:cNvSpPr/>
          <p:nvPr/>
        </p:nvSpPr>
        <p:spPr>
          <a:xfrm>
            <a:off x="4646676" y="2203704"/>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1</a:t>
            </a:r>
            <a:endParaRPr lang="en-US" sz="1300" dirty="0"/>
          </a:p>
        </p:txBody>
      </p:sp>
      <p:sp>
        <p:nvSpPr>
          <p:cNvPr id="34" name="Shape 28">
            <a:extLst>
              <a:ext uri="{FF2B5EF4-FFF2-40B4-BE49-F238E27FC236}">
                <a16:creationId xmlns:a16="http://schemas.microsoft.com/office/drawing/2014/main" id="{690D03D0-F978-CCD3-E98C-FA2ABCC3682C}"/>
              </a:ext>
            </a:extLst>
          </p:cNvPr>
          <p:cNvSpPr/>
          <p:nvPr/>
        </p:nvSpPr>
        <p:spPr>
          <a:xfrm>
            <a:off x="5030724" y="2194560"/>
            <a:ext cx="384048" cy="384048"/>
          </a:xfrm>
          <a:prstGeom prst="rect">
            <a:avLst/>
          </a:prstGeom>
          <a:solidFill>
            <a:srgbClr val="FFFFFF"/>
          </a:solidFill>
          <a:ln w="10160">
            <a:solidFill>
              <a:srgbClr val="CBD5E1"/>
            </a:solidFill>
            <a:prstDash val="solid"/>
          </a:ln>
        </p:spPr>
        <p:txBody>
          <a:bodyPr/>
          <a:lstStyle/>
          <a:p>
            <a:endParaRPr lang="en-US"/>
          </a:p>
        </p:txBody>
      </p:sp>
      <p:sp>
        <p:nvSpPr>
          <p:cNvPr id="35" name="Text 29">
            <a:extLst>
              <a:ext uri="{FF2B5EF4-FFF2-40B4-BE49-F238E27FC236}">
                <a16:creationId xmlns:a16="http://schemas.microsoft.com/office/drawing/2014/main" id="{145A18D5-0B12-F1BD-C2DE-E09479D4330B}"/>
              </a:ext>
            </a:extLst>
          </p:cNvPr>
          <p:cNvSpPr/>
          <p:nvPr/>
        </p:nvSpPr>
        <p:spPr>
          <a:xfrm>
            <a:off x="5030724" y="2203704"/>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36" name="Shape 30">
            <a:extLst>
              <a:ext uri="{FF2B5EF4-FFF2-40B4-BE49-F238E27FC236}">
                <a16:creationId xmlns:a16="http://schemas.microsoft.com/office/drawing/2014/main" id="{DFBA8A18-FD6D-2FB3-6D68-68D66BAAF918}"/>
              </a:ext>
            </a:extLst>
          </p:cNvPr>
          <p:cNvSpPr/>
          <p:nvPr/>
        </p:nvSpPr>
        <p:spPr>
          <a:xfrm>
            <a:off x="3494532" y="2578608"/>
            <a:ext cx="384048" cy="384048"/>
          </a:xfrm>
          <a:prstGeom prst="rect">
            <a:avLst/>
          </a:prstGeom>
          <a:solidFill>
            <a:srgbClr val="DCFCE7"/>
          </a:solidFill>
          <a:ln w="16510">
            <a:solidFill>
              <a:srgbClr val="22C55E"/>
            </a:solidFill>
            <a:prstDash val="solid"/>
          </a:ln>
        </p:spPr>
        <p:txBody>
          <a:bodyPr/>
          <a:lstStyle/>
          <a:p>
            <a:endParaRPr lang="en-US"/>
          </a:p>
        </p:txBody>
      </p:sp>
      <p:sp>
        <p:nvSpPr>
          <p:cNvPr id="37" name="Text 31">
            <a:extLst>
              <a:ext uri="{FF2B5EF4-FFF2-40B4-BE49-F238E27FC236}">
                <a16:creationId xmlns:a16="http://schemas.microsoft.com/office/drawing/2014/main" id="{C0DA2BC9-BE80-145B-CF5F-28ACFEC1916D}"/>
              </a:ext>
            </a:extLst>
          </p:cNvPr>
          <p:cNvSpPr/>
          <p:nvPr/>
        </p:nvSpPr>
        <p:spPr>
          <a:xfrm>
            <a:off x="3494532" y="2587752"/>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166534"/>
                </a:solidFill>
              </a:rPr>
              <a:t>0</a:t>
            </a:r>
            <a:endParaRPr lang="en-US" sz="1300" dirty="0"/>
          </a:p>
        </p:txBody>
      </p:sp>
      <p:sp>
        <p:nvSpPr>
          <p:cNvPr id="38" name="Shape 32">
            <a:extLst>
              <a:ext uri="{FF2B5EF4-FFF2-40B4-BE49-F238E27FC236}">
                <a16:creationId xmlns:a16="http://schemas.microsoft.com/office/drawing/2014/main" id="{1158447F-6EBE-5F83-7C45-189E8E00E1DA}"/>
              </a:ext>
            </a:extLst>
          </p:cNvPr>
          <p:cNvSpPr/>
          <p:nvPr/>
        </p:nvSpPr>
        <p:spPr>
          <a:xfrm>
            <a:off x="3878580" y="2578608"/>
            <a:ext cx="384048" cy="384048"/>
          </a:xfrm>
          <a:prstGeom prst="rect">
            <a:avLst/>
          </a:prstGeom>
          <a:solidFill>
            <a:srgbClr val="DCFCE7"/>
          </a:solidFill>
          <a:ln w="16510">
            <a:solidFill>
              <a:srgbClr val="22C55E"/>
            </a:solidFill>
            <a:prstDash val="solid"/>
          </a:ln>
        </p:spPr>
        <p:txBody>
          <a:bodyPr/>
          <a:lstStyle/>
          <a:p>
            <a:endParaRPr lang="en-US"/>
          </a:p>
        </p:txBody>
      </p:sp>
      <p:sp>
        <p:nvSpPr>
          <p:cNvPr id="39" name="Text 33">
            <a:extLst>
              <a:ext uri="{FF2B5EF4-FFF2-40B4-BE49-F238E27FC236}">
                <a16:creationId xmlns:a16="http://schemas.microsoft.com/office/drawing/2014/main" id="{F39148B1-19D5-3AD7-DE07-3936C41A6B73}"/>
              </a:ext>
            </a:extLst>
          </p:cNvPr>
          <p:cNvSpPr/>
          <p:nvPr/>
        </p:nvSpPr>
        <p:spPr>
          <a:xfrm>
            <a:off x="3878580" y="2587752"/>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166534"/>
                </a:solidFill>
              </a:rPr>
              <a:t>0</a:t>
            </a:r>
            <a:endParaRPr lang="en-US" sz="1300" dirty="0"/>
          </a:p>
        </p:txBody>
      </p:sp>
      <p:sp>
        <p:nvSpPr>
          <p:cNvPr id="40" name="Shape 34">
            <a:extLst>
              <a:ext uri="{FF2B5EF4-FFF2-40B4-BE49-F238E27FC236}">
                <a16:creationId xmlns:a16="http://schemas.microsoft.com/office/drawing/2014/main" id="{4AAE2377-C578-6816-C254-7D19E964D5F2}"/>
              </a:ext>
            </a:extLst>
          </p:cNvPr>
          <p:cNvSpPr/>
          <p:nvPr/>
        </p:nvSpPr>
        <p:spPr>
          <a:xfrm>
            <a:off x="4262628" y="2578608"/>
            <a:ext cx="384048" cy="384048"/>
          </a:xfrm>
          <a:prstGeom prst="rect">
            <a:avLst/>
          </a:prstGeom>
          <a:solidFill>
            <a:srgbClr val="DCFCE7"/>
          </a:solidFill>
          <a:ln w="16510">
            <a:solidFill>
              <a:srgbClr val="22C55E"/>
            </a:solidFill>
            <a:prstDash val="solid"/>
          </a:ln>
        </p:spPr>
        <p:txBody>
          <a:bodyPr/>
          <a:lstStyle/>
          <a:p>
            <a:endParaRPr lang="en-US"/>
          </a:p>
        </p:txBody>
      </p:sp>
      <p:sp>
        <p:nvSpPr>
          <p:cNvPr id="41" name="Text 35">
            <a:extLst>
              <a:ext uri="{FF2B5EF4-FFF2-40B4-BE49-F238E27FC236}">
                <a16:creationId xmlns:a16="http://schemas.microsoft.com/office/drawing/2014/main" id="{681819A9-5E3E-0565-672A-F29D407BAB3C}"/>
              </a:ext>
            </a:extLst>
          </p:cNvPr>
          <p:cNvSpPr/>
          <p:nvPr/>
        </p:nvSpPr>
        <p:spPr>
          <a:xfrm>
            <a:off x="4262628" y="2587752"/>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166534"/>
                </a:solidFill>
              </a:rPr>
              <a:t>1</a:t>
            </a:r>
            <a:endParaRPr lang="en-US" sz="1300" dirty="0"/>
          </a:p>
        </p:txBody>
      </p:sp>
      <p:sp>
        <p:nvSpPr>
          <p:cNvPr id="42" name="Shape 36">
            <a:extLst>
              <a:ext uri="{FF2B5EF4-FFF2-40B4-BE49-F238E27FC236}">
                <a16:creationId xmlns:a16="http://schemas.microsoft.com/office/drawing/2014/main" id="{8F0A8C26-63C0-E643-13C0-EB0A2113B0FF}"/>
              </a:ext>
            </a:extLst>
          </p:cNvPr>
          <p:cNvSpPr/>
          <p:nvPr/>
        </p:nvSpPr>
        <p:spPr>
          <a:xfrm>
            <a:off x="4646676" y="2578608"/>
            <a:ext cx="384048" cy="384048"/>
          </a:xfrm>
          <a:prstGeom prst="rect">
            <a:avLst/>
          </a:prstGeom>
          <a:solidFill>
            <a:srgbClr val="FFFFFF"/>
          </a:solidFill>
          <a:ln w="10160">
            <a:solidFill>
              <a:srgbClr val="CBD5E1"/>
            </a:solidFill>
            <a:prstDash val="solid"/>
          </a:ln>
        </p:spPr>
        <p:txBody>
          <a:bodyPr/>
          <a:lstStyle/>
          <a:p>
            <a:endParaRPr lang="en-US"/>
          </a:p>
        </p:txBody>
      </p:sp>
      <p:sp>
        <p:nvSpPr>
          <p:cNvPr id="43" name="Text 37">
            <a:extLst>
              <a:ext uri="{FF2B5EF4-FFF2-40B4-BE49-F238E27FC236}">
                <a16:creationId xmlns:a16="http://schemas.microsoft.com/office/drawing/2014/main" id="{A633956F-DE51-2FB5-0087-20B06EB577A6}"/>
              </a:ext>
            </a:extLst>
          </p:cNvPr>
          <p:cNvSpPr/>
          <p:nvPr/>
        </p:nvSpPr>
        <p:spPr>
          <a:xfrm>
            <a:off x="4646676" y="2587752"/>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44" name="Shape 38">
            <a:extLst>
              <a:ext uri="{FF2B5EF4-FFF2-40B4-BE49-F238E27FC236}">
                <a16:creationId xmlns:a16="http://schemas.microsoft.com/office/drawing/2014/main" id="{353A8DA8-ECDB-FAE4-6699-067A8DFB3FAF}"/>
              </a:ext>
            </a:extLst>
          </p:cNvPr>
          <p:cNvSpPr/>
          <p:nvPr/>
        </p:nvSpPr>
        <p:spPr>
          <a:xfrm>
            <a:off x="5030724" y="2578608"/>
            <a:ext cx="384048" cy="384048"/>
          </a:xfrm>
          <a:prstGeom prst="rect">
            <a:avLst/>
          </a:prstGeom>
          <a:solidFill>
            <a:srgbClr val="FFFFFF"/>
          </a:solidFill>
          <a:ln w="10160">
            <a:solidFill>
              <a:srgbClr val="CBD5E1"/>
            </a:solidFill>
            <a:prstDash val="solid"/>
          </a:ln>
        </p:spPr>
        <p:txBody>
          <a:bodyPr/>
          <a:lstStyle/>
          <a:p>
            <a:endParaRPr lang="en-US"/>
          </a:p>
        </p:txBody>
      </p:sp>
      <p:sp>
        <p:nvSpPr>
          <p:cNvPr id="45" name="Text 39">
            <a:extLst>
              <a:ext uri="{FF2B5EF4-FFF2-40B4-BE49-F238E27FC236}">
                <a16:creationId xmlns:a16="http://schemas.microsoft.com/office/drawing/2014/main" id="{D4DA3686-5938-46A2-0EDF-8F53B10C5C0F}"/>
              </a:ext>
            </a:extLst>
          </p:cNvPr>
          <p:cNvSpPr/>
          <p:nvPr/>
        </p:nvSpPr>
        <p:spPr>
          <a:xfrm>
            <a:off x="5030724" y="2587752"/>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46" name="Shape 40">
            <a:extLst>
              <a:ext uri="{FF2B5EF4-FFF2-40B4-BE49-F238E27FC236}">
                <a16:creationId xmlns:a16="http://schemas.microsoft.com/office/drawing/2014/main" id="{D236EDB2-E483-DA24-ABC9-D31BF48DE89E}"/>
              </a:ext>
            </a:extLst>
          </p:cNvPr>
          <p:cNvSpPr/>
          <p:nvPr/>
        </p:nvSpPr>
        <p:spPr>
          <a:xfrm>
            <a:off x="3494532" y="2962656"/>
            <a:ext cx="384048" cy="384048"/>
          </a:xfrm>
          <a:prstGeom prst="rect">
            <a:avLst/>
          </a:prstGeom>
          <a:solidFill>
            <a:srgbClr val="FFFFFF"/>
          </a:solidFill>
          <a:ln w="10160">
            <a:solidFill>
              <a:srgbClr val="CBD5E1"/>
            </a:solidFill>
            <a:prstDash val="solid"/>
          </a:ln>
        </p:spPr>
        <p:txBody>
          <a:bodyPr/>
          <a:lstStyle/>
          <a:p>
            <a:endParaRPr lang="en-US"/>
          </a:p>
        </p:txBody>
      </p:sp>
      <p:sp>
        <p:nvSpPr>
          <p:cNvPr id="47" name="Text 41">
            <a:extLst>
              <a:ext uri="{FF2B5EF4-FFF2-40B4-BE49-F238E27FC236}">
                <a16:creationId xmlns:a16="http://schemas.microsoft.com/office/drawing/2014/main" id="{0AA9FF83-7875-AEB1-D710-3FF3CDC8DB5A}"/>
              </a:ext>
            </a:extLst>
          </p:cNvPr>
          <p:cNvSpPr/>
          <p:nvPr/>
        </p:nvSpPr>
        <p:spPr>
          <a:xfrm>
            <a:off x="3494532" y="2971800"/>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48" name="Shape 42">
            <a:extLst>
              <a:ext uri="{FF2B5EF4-FFF2-40B4-BE49-F238E27FC236}">
                <a16:creationId xmlns:a16="http://schemas.microsoft.com/office/drawing/2014/main" id="{925BBD2C-95AE-12CC-4EC2-4A6B95537671}"/>
              </a:ext>
            </a:extLst>
          </p:cNvPr>
          <p:cNvSpPr/>
          <p:nvPr/>
        </p:nvSpPr>
        <p:spPr>
          <a:xfrm>
            <a:off x="3878580" y="2962656"/>
            <a:ext cx="384048" cy="384048"/>
          </a:xfrm>
          <a:prstGeom prst="rect">
            <a:avLst/>
          </a:prstGeom>
          <a:solidFill>
            <a:srgbClr val="FFFFFF"/>
          </a:solidFill>
          <a:ln w="10160">
            <a:solidFill>
              <a:srgbClr val="CBD5E1"/>
            </a:solidFill>
            <a:prstDash val="solid"/>
          </a:ln>
        </p:spPr>
        <p:txBody>
          <a:bodyPr/>
          <a:lstStyle/>
          <a:p>
            <a:endParaRPr lang="en-US"/>
          </a:p>
        </p:txBody>
      </p:sp>
      <p:sp>
        <p:nvSpPr>
          <p:cNvPr id="49" name="Text 43">
            <a:extLst>
              <a:ext uri="{FF2B5EF4-FFF2-40B4-BE49-F238E27FC236}">
                <a16:creationId xmlns:a16="http://schemas.microsoft.com/office/drawing/2014/main" id="{9ECD8FEF-0ACE-0BD3-3AA0-9259CA512475}"/>
              </a:ext>
            </a:extLst>
          </p:cNvPr>
          <p:cNvSpPr/>
          <p:nvPr/>
        </p:nvSpPr>
        <p:spPr>
          <a:xfrm>
            <a:off x="3878580" y="2971800"/>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1</a:t>
            </a:r>
            <a:endParaRPr lang="en-US" sz="1300" dirty="0"/>
          </a:p>
        </p:txBody>
      </p:sp>
      <p:sp>
        <p:nvSpPr>
          <p:cNvPr id="50" name="Shape 44">
            <a:extLst>
              <a:ext uri="{FF2B5EF4-FFF2-40B4-BE49-F238E27FC236}">
                <a16:creationId xmlns:a16="http://schemas.microsoft.com/office/drawing/2014/main" id="{33DEEC17-0D0E-486A-A3CF-0C85883695E1}"/>
              </a:ext>
            </a:extLst>
          </p:cNvPr>
          <p:cNvSpPr/>
          <p:nvPr/>
        </p:nvSpPr>
        <p:spPr>
          <a:xfrm>
            <a:off x="4262628" y="2962656"/>
            <a:ext cx="384048" cy="384048"/>
          </a:xfrm>
          <a:prstGeom prst="rect">
            <a:avLst/>
          </a:prstGeom>
          <a:solidFill>
            <a:srgbClr val="FFFFFF"/>
          </a:solidFill>
          <a:ln w="10160">
            <a:solidFill>
              <a:srgbClr val="CBD5E1"/>
            </a:solidFill>
            <a:prstDash val="solid"/>
          </a:ln>
        </p:spPr>
        <p:txBody>
          <a:bodyPr/>
          <a:lstStyle/>
          <a:p>
            <a:endParaRPr lang="en-US"/>
          </a:p>
        </p:txBody>
      </p:sp>
      <p:sp>
        <p:nvSpPr>
          <p:cNvPr id="51" name="Text 45">
            <a:extLst>
              <a:ext uri="{FF2B5EF4-FFF2-40B4-BE49-F238E27FC236}">
                <a16:creationId xmlns:a16="http://schemas.microsoft.com/office/drawing/2014/main" id="{DDC99BF6-AD60-5082-CBA3-DA4934CC2014}"/>
              </a:ext>
            </a:extLst>
          </p:cNvPr>
          <p:cNvSpPr/>
          <p:nvPr/>
        </p:nvSpPr>
        <p:spPr>
          <a:xfrm>
            <a:off x="4262628" y="2971800"/>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52" name="Shape 46">
            <a:extLst>
              <a:ext uri="{FF2B5EF4-FFF2-40B4-BE49-F238E27FC236}">
                <a16:creationId xmlns:a16="http://schemas.microsoft.com/office/drawing/2014/main" id="{0814C806-AD22-9A41-F73F-3ECE37AD75D4}"/>
              </a:ext>
            </a:extLst>
          </p:cNvPr>
          <p:cNvSpPr/>
          <p:nvPr/>
        </p:nvSpPr>
        <p:spPr>
          <a:xfrm>
            <a:off x="4646676" y="2962656"/>
            <a:ext cx="384048" cy="384048"/>
          </a:xfrm>
          <a:prstGeom prst="rect">
            <a:avLst/>
          </a:prstGeom>
          <a:solidFill>
            <a:srgbClr val="FFFFFF"/>
          </a:solidFill>
          <a:ln w="10160">
            <a:solidFill>
              <a:srgbClr val="CBD5E1"/>
            </a:solidFill>
            <a:prstDash val="solid"/>
          </a:ln>
        </p:spPr>
        <p:txBody>
          <a:bodyPr/>
          <a:lstStyle/>
          <a:p>
            <a:endParaRPr lang="en-US"/>
          </a:p>
        </p:txBody>
      </p:sp>
      <p:sp>
        <p:nvSpPr>
          <p:cNvPr id="53" name="Text 47">
            <a:extLst>
              <a:ext uri="{FF2B5EF4-FFF2-40B4-BE49-F238E27FC236}">
                <a16:creationId xmlns:a16="http://schemas.microsoft.com/office/drawing/2014/main" id="{92B684E2-1AAF-69D8-433E-57017AF79777}"/>
              </a:ext>
            </a:extLst>
          </p:cNvPr>
          <p:cNvSpPr/>
          <p:nvPr/>
        </p:nvSpPr>
        <p:spPr>
          <a:xfrm>
            <a:off x="4646676" y="2971800"/>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1</a:t>
            </a:r>
            <a:endParaRPr lang="en-US" sz="1300" dirty="0"/>
          </a:p>
        </p:txBody>
      </p:sp>
      <p:sp>
        <p:nvSpPr>
          <p:cNvPr id="54" name="Shape 48">
            <a:extLst>
              <a:ext uri="{FF2B5EF4-FFF2-40B4-BE49-F238E27FC236}">
                <a16:creationId xmlns:a16="http://schemas.microsoft.com/office/drawing/2014/main" id="{6E949DB7-3925-8845-A687-7A3A63F0254F}"/>
              </a:ext>
            </a:extLst>
          </p:cNvPr>
          <p:cNvSpPr/>
          <p:nvPr/>
        </p:nvSpPr>
        <p:spPr>
          <a:xfrm>
            <a:off x="5030724" y="2962656"/>
            <a:ext cx="384048" cy="384048"/>
          </a:xfrm>
          <a:prstGeom prst="rect">
            <a:avLst/>
          </a:prstGeom>
          <a:solidFill>
            <a:srgbClr val="FFFFFF"/>
          </a:solidFill>
          <a:ln w="10160">
            <a:solidFill>
              <a:srgbClr val="CBD5E1"/>
            </a:solidFill>
            <a:prstDash val="solid"/>
          </a:ln>
        </p:spPr>
        <p:txBody>
          <a:bodyPr/>
          <a:lstStyle/>
          <a:p>
            <a:endParaRPr lang="en-US"/>
          </a:p>
        </p:txBody>
      </p:sp>
      <p:sp>
        <p:nvSpPr>
          <p:cNvPr id="55" name="Text 49">
            <a:extLst>
              <a:ext uri="{FF2B5EF4-FFF2-40B4-BE49-F238E27FC236}">
                <a16:creationId xmlns:a16="http://schemas.microsoft.com/office/drawing/2014/main" id="{82BA8349-9D59-101F-9947-DA23B46432AE}"/>
              </a:ext>
            </a:extLst>
          </p:cNvPr>
          <p:cNvSpPr/>
          <p:nvPr/>
        </p:nvSpPr>
        <p:spPr>
          <a:xfrm>
            <a:off x="5030724" y="2971800"/>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56" name="Shape 50">
            <a:extLst>
              <a:ext uri="{FF2B5EF4-FFF2-40B4-BE49-F238E27FC236}">
                <a16:creationId xmlns:a16="http://schemas.microsoft.com/office/drawing/2014/main" id="{55FF6452-5C5E-52A7-14CF-9974A7068108}"/>
              </a:ext>
            </a:extLst>
          </p:cNvPr>
          <p:cNvSpPr/>
          <p:nvPr/>
        </p:nvSpPr>
        <p:spPr>
          <a:xfrm>
            <a:off x="3494532" y="3346704"/>
            <a:ext cx="384048" cy="384048"/>
          </a:xfrm>
          <a:prstGeom prst="rect">
            <a:avLst/>
          </a:prstGeom>
          <a:solidFill>
            <a:srgbClr val="FFFFFF"/>
          </a:solidFill>
          <a:ln w="10160">
            <a:solidFill>
              <a:srgbClr val="CBD5E1"/>
            </a:solidFill>
            <a:prstDash val="solid"/>
          </a:ln>
        </p:spPr>
        <p:txBody>
          <a:bodyPr/>
          <a:lstStyle/>
          <a:p>
            <a:endParaRPr lang="en-US"/>
          </a:p>
        </p:txBody>
      </p:sp>
      <p:sp>
        <p:nvSpPr>
          <p:cNvPr id="57" name="Text 51">
            <a:extLst>
              <a:ext uri="{FF2B5EF4-FFF2-40B4-BE49-F238E27FC236}">
                <a16:creationId xmlns:a16="http://schemas.microsoft.com/office/drawing/2014/main" id="{27856045-269F-3362-77D0-D6A198ED25BE}"/>
              </a:ext>
            </a:extLst>
          </p:cNvPr>
          <p:cNvSpPr/>
          <p:nvPr/>
        </p:nvSpPr>
        <p:spPr>
          <a:xfrm>
            <a:off x="3494532" y="3355848"/>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1</a:t>
            </a:r>
            <a:endParaRPr lang="en-US" sz="1300" dirty="0"/>
          </a:p>
        </p:txBody>
      </p:sp>
      <p:sp>
        <p:nvSpPr>
          <p:cNvPr id="58" name="Shape 52">
            <a:extLst>
              <a:ext uri="{FF2B5EF4-FFF2-40B4-BE49-F238E27FC236}">
                <a16:creationId xmlns:a16="http://schemas.microsoft.com/office/drawing/2014/main" id="{1DD84A0B-4A19-5D12-0E00-93B8FFC0DE1D}"/>
              </a:ext>
            </a:extLst>
          </p:cNvPr>
          <p:cNvSpPr/>
          <p:nvPr/>
        </p:nvSpPr>
        <p:spPr>
          <a:xfrm>
            <a:off x="3878580" y="3346704"/>
            <a:ext cx="384048" cy="384048"/>
          </a:xfrm>
          <a:prstGeom prst="rect">
            <a:avLst/>
          </a:prstGeom>
          <a:solidFill>
            <a:srgbClr val="FFFFFF"/>
          </a:solidFill>
          <a:ln w="10160">
            <a:solidFill>
              <a:srgbClr val="CBD5E1"/>
            </a:solidFill>
            <a:prstDash val="solid"/>
          </a:ln>
        </p:spPr>
        <p:txBody>
          <a:bodyPr/>
          <a:lstStyle/>
          <a:p>
            <a:endParaRPr lang="en-US"/>
          </a:p>
        </p:txBody>
      </p:sp>
      <p:sp>
        <p:nvSpPr>
          <p:cNvPr id="59" name="Text 53">
            <a:extLst>
              <a:ext uri="{FF2B5EF4-FFF2-40B4-BE49-F238E27FC236}">
                <a16:creationId xmlns:a16="http://schemas.microsoft.com/office/drawing/2014/main" id="{206446AB-24FB-656B-CB78-F84B17D40B63}"/>
              </a:ext>
            </a:extLst>
          </p:cNvPr>
          <p:cNvSpPr/>
          <p:nvPr/>
        </p:nvSpPr>
        <p:spPr>
          <a:xfrm>
            <a:off x="3878580" y="3355848"/>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60" name="Shape 54">
            <a:extLst>
              <a:ext uri="{FF2B5EF4-FFF2-40B4-BE49-F238E27FC236}">
                <a16:creationId xmlns:a16="http://schemas.microsoft.com/office/drawing/2014/main" id="{F2FB4085-3497-C263-5C3B-2F3F044EBB9F}"/>
              </a:ext>
            </a:extLst>
          </p:cNvPr>
          <p:cNvSpPr/>
          <p:nvPr/>
        </p:nvSpPr>
        <p:spPr>
          <a:xfrm>
            <a:off x="4262628" y="3346704"/>
            <a:ext cx="384048" cy="384048"/>
          </a:xfrm>
          <a:prstGeom prst="rect">
            <a:avLst/>
          </a:prstGeom>
          <a:solidFill>
            <a:srgbClr val="FFFFFF"/>
          </a:solidFill>
          <a:ln w="10160">
            <a:solidFill>
              <a:srgbClr val="CBD5E1"/>
            </a:solidFill>
            <a:prstDash val="solid"/>
          </a:ln>
        </p:spPr>
        <p:txBody>
          <a:bodyPr/>
          <a:lstStyle/>
          <a:p>
            <a:endParaRPr lang="en-US"/>
          </a:p>
        </p:txBody>
      </p:sp>
      <p:sp>
        <p:nvSpPr>
          <p:cNvPr id="61" name="Text 55">
            <a:extLst>
              <a:ext uri="{FF2B5EF4-FFF2-40B4-BE49-F238E27FC236}">
                <a16:creationId xmlns:a16="http://schemas.microsoft.com/office/drawing/2014/main" id="{B9AF46EC-D828-D273-A1CA-2FD89CA126CA}"/>
              </a:ext>
            </a:extLst>
          </p:cNvPr>
          <p:cNvSpPr/>
          <p:nvPr/>
        </p:nvSpPr>
        <p:spPr>
          <a:xfrm>
            <a:off x="4262628" y="3355848"/>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62" name="Shape 56">
            <a:extLst>
              <a:ext uri="{FF2B5EF4-FFF2-40B4-BE49-F238E27FC236}">
                <a16:creationId xmlns:a16="http://schemas.microsoft.com/office/drawing/2014/main" id="{F2E35214-EC39-5DAA-6D99-404AE41274A4}"/>
              </a:ext>
            </a:extLst>
          </p:cNvPr>
          <p:cNvSpPr/>
          <p:nvPr/>
        </p:nvSpPr>
        <p:spPr>
          <a:xfrm>
            <a:off x="4646676" y="3346704"/>
            <a:ext cx="384048" cy="384048"/>
          </a:xfrm>
          <a:prstGeom prst="rect">
            <a:avLst/>
          </a:prstGeom>
          <a:solidFill>
            <a:srgbClr val="FFFFFF"/>
          </a:solidFill>
          <a:ln w="10160">
            <a:solidFill>
              <a:srgbClr val="CBD5E1"/>
            </a:solidFill>
            <a:prstDash val="solid"/>
          </a:ln>
        </p:spPr>
        <p:txBody>
          <a:bodyPr/>
          <a:lstStyle/>
          <a:p>
            <a:endParaRPr lang="en-US"/>
          </a:p>
        </p:txBody>
      </p:sp>
      <p:sp>
        <p:nvSpPr>
          <p:cNvPr id="63" name="Text 57">
            <a:extLst>
              <a:ext uri="{FF2B5EF4-FFF2-40B4-BE49-F238E27FC236}">
                <a16:creationId xmlns:a16="http://schemas.microsoft.com/office/drawing/2014/main" id="{E5408F54-7391-6DFD-B29D-3DBCCC837830}"/>
              </a:ext>
            </a:extLst>
          </p:cNvPr>
          <p:cNvSpPr/>
          <p:nvPr/>
        </p:nvSpPr>
        <p:spPr>
          <a:xfrm>
            <a:off x="4646676" y="3355848"/>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64" name="Shape 58">
            <a:extLst>
              <a:ext uri="{FF2B5EF4-FFF2-40B4-BE49-F238E27FC236}">
                <a16:creationId xmlns:a16="http://schemas.microsoft.com/office/drawing/2014/main" id="{B1D61B13-F461-6EA4-ACE9-08C53D34AE9F}"/>
              </a:ext>
            </a:extLst>
          </p:cNvPr>
          <p:cNvSpPr/>
          <p:nvPr/>
        </p:nvSpPr>
        <p:spPr>
          <a:xfrm>
            <a:off x="5030724" y="3346704"/>
            <a:ext cx="384048" cy="384048"/>
          </a:xfrm>
          <a:prstGeom prst="rect">
            <a:avLst/>
          </a:prstGeom>
          <a:solidFill>
            <a:srgbClr val="FFFFFF"/>
          </a:solidFill>
          <a:ln w="10160">
            <a:solidFill>
              <a:srgbClr val="CBD5E1"/>
            </a:solidFill>
            <a:prstDash val="solid"/>
          </a:ln>
        </p:spPr>
        <p:txBody>
          <a:bodyPr/>
          <a:lstStyle/>
          <a:p>
            <a:endParaRPr lang="en-US"/>
          </a:p>
        </p:txBody>
      </p:sp>
      <p:sp>
        <p:nvSpPr>
          <p:cNvPr id="65" name="Text 59">
            <a:extLst>
              <a:ext uri="{FF2B5EF4-FFF2-40B4-BE49-F238E27FC236}">
                <a16:creationId xmlns:a16="http://schemas.microsoft.com/office/drawing/2014/main" id="{C2632058-10A0-B8DC-2A52-7813D498B59C}"/>
              </a:ext>
            </a:extLst>
          </p:cNvPr>
          <p:cNvSpPr/>
          <p:nvPr/>
        </p:nvSpPr>
        <p:spPr>
          <a:xfrm>
            <a:off x="5030724" y="3355848"/>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1</a:t>
            </a:r>
            <a:endParaRPr lang="en-US" sz="1300" dirty="0"/>
          </a:p>
        </p:txBody>
      </p:sp>
      <p:sp>
        <p:nvSpPr>
          <p:cNvPr id="66" name="Text 60">
            <a:extLst>
              <a:ext uri="{FF2B5EF4-FFF2-40B4-BE49-F238E27FC236}">
                <a16:creationId xmlns:a16="http://schemas.microsoft.com/office/drawing/2014/main" id="{62E5D980-11CC-BC69-F618-92C863028280}"/>
              </a:ext>
            </a:extLst>
          </p:cNvPr>
          <p:cNvSpPr/>
          <p:nvPr/>
        </p:nvSpPr>
        <p:spPr>
          <a:xfrm>
            <a:off x="3457956" y="3886200"/>
            <a:ext cx="1993392"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64748B"/>
                </a:solidFill>
              </a:rPr>
              <a:t>fragment obrazu 3×3</a:t>
            </a:r>
            <a:endParaRPr lang="en-US" sz="1200" dirty="0"/>
          </a:p>
        </p:txBody>
      </p:sp>
      <p:sp>
        <p:nvSpPr>
          <p:cNvPr id="67" name="Text 61">
            <a:extLst>
              <a:ext uri="{FF2B5EF4-FFF2-40B4-BE49-F238E27FC236}">
                <a16:creationId xmlns:a16="http://schemas.microsoft.com/office/drawing/2014/main" id="{E3372A93-6A09-FD45-C755-FE77CC71B46C}"/>
              </a:ext>
            </a:extLst>
          </p:cNvPr>
          <p:cNvSpPr/>
          <p:nvPr/>
        </p:nvSpPr>
        <p:spPr>
          <a:xfrm>
            <a:off x="5561076" y="2478024"/>
            <a:ext cx="384048"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500" b="1" dirty="0">
                <a:solidFill>
                  <a:srgbClr val="64748B"/>
                </a:solidFill>
              </a:rPr>
              <a:t>⊙</a:t>
            </a:r>
            <a:endParaRPr lang="en-US" sz="2500" dirty="0"/>
          </a:p>
        </p:txBody>
      </p:sp>
      <p:sp>
        <p:nvSpPr>
          <p:cNvPr id="68" name="Shape 62">
            <a:extLst>
              <a:ext uri="{FF2B5EF4-FFF2-40B4-BE49-F238E27FC236}">
                <a16:creationId xmlns:a16="http://schemas.microsoft.com/office/drawing/2014/main" id="{82687EC1-349E-F390-A27A-D70C7241E09F}"/>
              </a:ext>
            </a:extLst>
          </p:cNvPr>
          <p:cNvSpPr/>
          <p:nvPr/>
        </p:nvSpPr>
        <p:spPr>
          <a:xfrm>
            <a:off x="6054852" y="2185416"/>
            <a:ext cx="384048" cy="384048"/>
          </a:xfrm>
          <a:prstGeom prst="rect">
            <a:avLst/>
          </a:prstGeom>
          <a:solidFill>
            <a:srgbClr val="FFFFFF"/>
          </a:solidFill>
          <a:ln w="10160">
            <a:solidFill>
              <a:srgbClr val="CBD5E1"/>
            </a:solidFill>
            <a:prstDash val="solid"/>
          </a:ln>
        </p:spPr>
        <p:txBody>
          <a:bodyPr/>
          <a:lstStyle/>
          <a:p>
            <a:endParaRPr lang="en-US"/>
          </a:p>
        </p:txBody>
      </p:sp>
      <p:sp>
        <p:nvSpPr>
          <p:cNvPr id="69" name="Text 63">
            <a:extLst>
              <a:ext uri="{FF2B5EF4-FFF2-40B4-BE49-F238E27FC236}">
                <a16:creationId xmlns:a16="http://schemas.microsoft.com/office/drawing/2014/main" id="{BF95F273-5AF9-7E7E-585D-2CB327D99288}"/>
              </a:ext>
            </a:extLst>
          </p:cNvPr>
          <p:cNvSpPr/>
          <p:nvPr/>
        </p:nvSpPr>
        <p:spPr>
          <a:xfrm>
            <a:off x="6054852" y="2194560"/>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1</a:t>
            </a:r>
            <a:endParaRPr lang="en-US" sz="1300" dirty="0"/>
          </a:p>
        </p:txBody>
      </p:sp>
      <p:sp>
        <p:nvSpPr>
          <p:cNvPr id="70" name="Shape 64">
            <a:extLst>
              <a:ext uri="{FF2B5EF4-FFF2-40B4-BE49-F238E27FC236}">
                <a16:creationId xmlns:a16="http://schemas.microsoft.com/office/drawing/2014/main" id="{04C636C7-3323-B0A9-6E44-B8533606C4D1}"/>
              </a:ext>
            </a:extLst>
          </p:cNvPr>
          <p:cNvSpPr/>
          <p:nvPr/>
        </p:nvSpPr>
        <p:spPr>
          <a:xfrm>
            <a:off x="6438900" y="2185416"/>
            <a:ext cx="384048" cy="384048"/>
          </a:xfrm>
          <a:prstGeom prst="rect">
            <a:avLst/>
          </a:prstGeom>
          <a:solidFill>
            <a:srgbClr val="FFFFFF"/>
          </a:solidFill>
          <a:ln w="10160">
            <a:solidFill>
              <a:srgbClr val="CBD5E1"/>
            </a:solidFill>
            <a:prstDash val="solid"/>
          </a:ln>
        </p:spPr>
        <p:txBody>
          <a:bodyPr/>
          <a:lstStyle/>
          <a:p>
            <a:endParaRPr lang="en-US"/>
          </a:p>
        </p:txBody>
      </p:sp>
      <p:sp>
        <p:nvSpPr>
          <p:cNvPr id="71" name="Text 65">
            <a:extLst>
              <a:ext uri="{FF2B5EF4-FFF2-40B4-BE49-F238E27FC236}">
                <a16:creationId xmlns:a16="http://schemas.microsoft.com/office/drawing/2014/main" id="{A9B0D34E-136C-B6EF-0F64-0FEB06C1F20F}"/>
              </a:ext>
            </a:extLst>
          </p:cNvPr>
          <p:cNvSpPr/>
          <p:nvPr/>
        </p:nvSpPr>
        <p:spPr>
          <a:xfrm>
            <a:off x="6438900" y="2194560"/>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72" name="Shape 66">
            <a:extLst>
              <a:ext uri="{FF2B5EF4-FFF2-40B4-BE49-F238E27FC236}">
                <a16:creationId xmlns:a16="http://schemas.microsoft.com/office/drawing/2014/main" id="{FBCF4EFF-3CF8-F5ED-C352-54D3FA7E2BE8}"/>
              </a:ext>
            </a:extLst>
          </p:cNvPr>
          <p:cNvSpPr/>
          <p:nvPr/>
        </p:nvSpPr>
        <p:spPr>
          <a:xfrm>
            <a:off x="6822948" y="2185416"/>
            <a:ext cx="384048" cy="384048"/>
          </a:xfrm>
          <a:prstGeom prst="rect">
            <a:avLst/>
          </a:prstGeom>
          <a:solidFill>
            <a:srgbClr val="FFFFFF"/>
          </a:solidFill>
          <a:ln w="10160">
            <a:solidFill>
              <a:srgbClr val="CBD5E1"/>
            </a:solidFill>
            <a:prstDash val="solid"/>
          </a:ln>
        </p:spPr>
        <p:txBody>
          <a:bodyPr/>
          <a:lstStyle/>
          <a:p>
            <a:endParaRPr lang="en-US"/>
          </a:p>
        </p:txBody>
      </p:sp>
      <p:sp>
        <p:nvSpPr>
          <p:cNvPr id="73" name="Text 67">
            <a:extLst>
              <a:ext uri="{FF2B5EF4-FFF2-40B4-BE49-F238E27FC236}">
                <a16:creationId xmlns:a16="http://schemas.microsoft.com/office/drawing/2014/main" id="{12850542-F84F-ACEB-1B4E-01D6CB423B61}"/>
              </a:ext>
            </a:extLst>
          </p:cNvPr>
          <p:cNvSpPr/>
          <p:nvPr/>
        </p:nvSpPr>
        <p:spPr>
          <a:xfrm>
            <a:off x="6822948" y="2194560"/>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74" name="Shape 68">
            <a:extLst>
              <a:ext uri="{FF2B5EF4-FFF2-40B4-BE49-F238E27FC236}">
                <a16:creationId xmlns:a16="http://schemas.microsoft.com/office/drawing/2014/main" id="{D514892C-7299-7ABD-A149-2ACD20BCCF76}"/>
              </a:ext>
            </a:extLst>
          </p:cNvPr>
          <p:cNvSpPr/>
          <p:nvPr/>
        </p:nvSpPr>
        <p:spPr>
          <a:xfrm>
            <a:off x="6054852" y="2569464"/>
            <a:ext cx="384048" cy="384048"/>
          </a:xfrm>
          <a:prstGeom prst="rect">
            <a:avLst/>
          </a:prstGeom>
          <a:solidFill>
            <a:srgbClr val="FFFFFF"/>
          </a:solidFill>
          <a:ln w="10160">
            <a:solidFill>
              <a:srgbClr val="CBD5E1"/>
            </a:solidFill>
            <a:prstDash val="solid"/>
          </a:ln>
        </p:spPr>
        <p:txBody>
          <a:bodyPr/>
          <a:lstStyle/>
          <a:p>
            <a:endParaRPr lang="en-US"/>
          </a:p>
        </p:txBody>
      </p:sp>
      <p:sp>
        <p:nvSpPr>
          <p:cNvPr id="75" name="Text 69">
            <a:extLst>
              <a:ext uri="{FF2B5EF4-FFF2-40B4-BE49-F238E27FC236}">
                <a16:creationId xmlns:a16="http://schemas.microsoft.com/office/drawing/2014/main" id="{8424A451-86B1-03EB-0634-5B3886134FEE}"/>
              </a:ext>
            </a:extLst>
          </p:cNvPr>
          <p:cNvSpPr/>
          <p:nvPr/>
        </p:nvSpPr>
        <p:spPr>
          <a:xfrm>
            <a:off x="6054852" y="2578608"/>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76" name="Shape 70">
            <a:extLst>
              <a:ext uri="{FF2B5EF4-FFF2-40B4-BE49-F238E27FC236}">
                <a16:creationId xmlns:a16="http://schemas.microsoft.com/office/drawing/2014/main" id="{B878B209-A1E5-D991-9955-244B388A37F4}"/>
              </a:ext>
            </a:extLst>
          </p:cNvPr>
          <p:cNvSpPr/>
          <p:nvPr/>
        </p:nvSpPr>
        <p:spPr>
          <a:xfrm>
            <a:off x="6438900" y="2569464"/>
            <a:ext cx="384048" cy="384048"/>
          </a:xfrm>
          <a:prstGeom prst="rect">
            <a:avLst/>
          </a:prstGeom>
          <a:solidFill>
            <a:srgbClr val="FFFFFF"/>
          </a:solidFill>
          <a:ln w="10160">
            <a:solidFill>
              <a:srgbClr val="CBD5E1"/>
            </a:solidFill>
            <a:prstDash val="solid"/>
          </a:ln>
        </p:spPr>
        <p:txBody>
          <a:bodyPr/>
          <a:lstStyle/>
          <a:p>
            <a:endParaRPr lang="en-US"/>
          </a:p>
        </p:txBody>
      </p:sp>
      <p:sp>
        <p:nvSpPr>
          <p:cNvPr id="77" name="Text 71">
            <a:extLst>
              <a:ext uri="{FF2B5EF4-FFF2-40B4-BE49-F238E27FC236}">
                <a16:creationId xmlns:a16="http://schemas.microsoft.com/office/drawing/2014/main" id="{BD20F38B-4BCD-40BA-FD78-2457E5C67002}"/>
              </a:ext>
            </a:extLst>
          </p:cNvPr>
          <p:cNvSpPr/>
          <p:nvPr/>
        </p:nvSpPr>
        <p:spPr>
          <a:xfrm>
            <a:off x="6438900" y="2578608"/>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1</a:t>
            </a:r>
            <a:endParaRPr lang="en-US" sz="1300" dirty="0"/>
          </a:p>
        </p:txBody>
      </p:sp>
      <p:sp>
        <p:nvSpPr>
          <p:cNvPr id="78" name="Shape 72">
            <a:extLst>
              <a:ext uri="{FF2B5EF4-FFF2-40B4-BE49-F238E27FC236}">
                <a16:creationId xmlns:a16="http://schemas.microsoft.com/office/drawing/2014/main" id="{5E094A22-A7AF-2B1F-2F31-0608F8002EE3}"/>
              </a:ext>
            </a:extLst>
          </p:cNvPr>
          <p:cNvSpPr/>
          <p:nvPr/>
        </p:nvSpPr>
        <p:spPr>
          <a:xfrm>
            <a:off x="6822948" y="2569464"/>
            <a:ext cx="384048" cy="384048"/>
          </a:xfrm>
          <a:prstGeom prst="rect">
            <a:avLst/>
          </a:prstGeom>
          <a:solidFill>
            <a:srgbClr val="FFFFFF"/>
          </a:solidFill>
          <a:ln w="10160">
            <a:solidFill>
              <a:srgbClr val="CBD5E1"/>
            </a:solidFill>
            <a:prstDash val="solid"/>
          </a:ln>
        </p:spPr>
        <p:txBody>
          <a:bodyPr/>
          <a:lstStyle/>
          <a:p>
            <a:endParaRPr lang="en-US"/>
          </a:p>
        </p:txBody>
      </p:sp>
      <p:sp>
        <p:nvSpPr>
          <p:cNvPr id="79" name="Text 73">
            <a:extLst>
              <a:ext uri="{FF2B5EF4-FFF2-40B4-BE49-F238E27FC236}">
                <a16:creationId xmlns:a16="http://schemas.microsoft.com/office/drawing/2014/main" id="{C75908E9-53BA-499B-4BE5-7163510A2FB1}"/>
              </a:ext>
            </a:extLst>
          </p:cNvPr>
          <p:cNvSpPr/>
          <p:nvPr/>
        </p:nvSpPr>
        <p:spPr>
          <a:xfrm>
            <a:off x="6822948" y="2578608"/>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80" name="Shape 74">
            <a:extLst>
              <a:ext uri="{FF2B5EF4-FFF2-40B4-BE49-F238E27FC236}">
                <a16:creationId xmlns:a16="http://schemas.microsoft.com/office/drawing/2014/main" id="{AAE526A9-FA06-5078-320D-EB32C30ADE7E}"/>
              </a:ext>
            </a:extLst>
          </p:cNvPr>
          <p:cNvSpPr/>
          <p:nvPr/>
        </p:nvSpPr>
        <p:spPr>
          <a:xfrm>
            <a:off x="6054852" y="2953512"/>
            <a:ext cx="384048" cy="384048"/>
          </a:xfrm>
          <a:prstGeom prst="rect">
            <a:avLst/>
          </a:prstGeom>
          <a:solidFill>
            <a:srgbClr val="FFFFFF"/>
          </a:solidFill>
          <a:ln w="10160">
            <a:solidFill>
              <a:srgbClr val="CBD5E1"/>
            </a:solidFill>
            <a:prstDash val="solid"/>
          </a:ln>
        </p:spPr>
        <p:txBody>
          <a:bodyPr/>
          <a:lstStyle/>
          <a:p>
            <a:endParaRPr lang="en-US"/>
          </a:p>
        </p:txBody>
      </p:sp>
      <p:sp>
        <p:nvSpPr>
          <p:cNvPr id="81" name="Text 75">
            <a:extLst>
              <a:ext uri="{FF2B5EF4-FFF2-40B4-BE49-F238E27FC236}">
                <a16:creationId xmlns:a16="http://schemas.microsoft.com/office/drawing/2014/main" id="{1783DBE0-90D0-2C8E-D320-BA3DC50F4FC2}"/>
              </a:ext>
            </a:extLst>
          </p:cNvPr>
          <p:cNvSpPr/>
          <p:nvPr/>
        </p:nvSpPr>
        <p:spPr>
          <a:xfrm>
            <a:off x="6054852" y="2962656"/>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82" name="Shape 76">
            <a:extLst>
              <a:ext uri="{FF2B5EF4-FFF2-40B4-BE49-F238E27FC236}">
                <a16:creationId xmlns:a16="http://schemas.microsoft.com/office/drawing/2014/main" id="{25873693-5B30-A779-D087-6E348A7925EA}"/>
              </a:ext>
            </a:extLst>
          </p:cNvPr>
          <p:cNvSpPr/>
          <p:nvPr/>
        </p:nvSpPr>
        <p:spPr>
          <a:xfrm>
            <a:off x="6438900" y="2953512"/>
            <a:ext cx="384048" cy="384048"/>
          </a:xfrm>
          <a:prstGeom prst="rect">
            <a:avLst/>
          </a:prstGeom>
          <a:solidFill>
            <a:srgbClr val="FFFFFF"/>
          </a:solidFill>
          <a:ln w="10160">
            <a:solidFill>
              <a:srgbClr val="CBD5E1"/>
            </a:solidFill>
            <a:prstDash val="solid"/>
          </a:ln>
        </p:spPr>
        <p:txBody>
          <a:bodyPr/>
          <a:lstStyle/>
          <a:p>
            <a:endParaRPr lang="en-US"/>
          </a:p>
        </p:txBody>
      </p:sp>
      <p:sp>
        <p:nvSpPr>
          <p:cNvPr id="83" name="Text 77">
            <a:extLst>
              <a:ext uri="{FF2B5EF4-FFF2-40B4-BE49-F238E27FC236}">
                <a16:creationId xmlns:a16="http://schemas.microsoft.com/office/drawing/2014/main" id="{8165BD8D-7987-3C1E-5C43-95856C5353BB}"/>
              </a:ext>
            </a:extLst>
          </p:cNvPr>
          <p:cNvSpPr/>
          <p:nvPr/>
        </p:nvSpPr>
        <p:spPr>
          <a:xfrm>
            <a:off x="6438900" y="2962656"/>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0</a:t>
            </a:r>
            <a:endParaRPr lang="en-US" sz="1300" dirty="0"/>
          </a:p>
        </p:txBody>
      </p:sp>
      <p:sp>
        <p:nvSpPr>
          <p:cNvPr id="84" name="Shape 78">
            <a:extLst>
              <a:ext uri="{FF2B5EF4-FFF2-40B4-BE49-F238E27FC236}">
                <a16:creationId xmlns:a16="http://schemas.microsoft.com/office/drawing/2014/main" id="{E667AD9B-E615-1B4E-6DF3-6093DE1CA299}"/>
              </a:ext>
            </a:extLst>
          </p:cNvPr>
          <p:cNvSpPr/>
          <p:nvPr/>
        </p:nvSpPr>
        <p:spPr>
          <a:xfrm>
            <a:off x="6822948" y="2953512"/>
            <a:ext cx="384048" cy="384048"/>
          </a:xfrm>
          <a:prstGeom prst="rect">
            <a:avLst/>
          </a:prstGeom>
          <a:solidFill>
            <a:srgbClr val="FFFFFF"/>
          </a:solidFill>
          <a:ln w="10160">
            <a:solidFill>
              <a:srgbClr val="CBD5E1"/>
            </a:solidFill>
            <a:prstDash val="solid"/>
          </a:ln>
        </p:spPr>
        <p:txBody>
          <a:bodyPr/>
          <a:lstStyle/>
          <a:p>
            <a:endParaRPr lang="en-US"/>
          </a:p>
        </p:txBody>
      </p:sp>
      <p:sp>
        <p:nvSpPr>
          <p:cNvPr id="85" name="Text 79">
            <a:extLst>
              <a:ext uri="{FF2B5EF4-FFF2-40B4-BE49-F238E27FC236}">
                <a16:creationId xmlns:a16="http://schemas.microsoft.com/office/drawing/2014/main" id="{7286ADFD-0854-8E14-A894-D4A0D9D0180D}"/>
              </a:ext>
            </a:extLst>
          </p:cNvPr>
          <p:cNvSpPr/>
          <p:nvPr/>
        </p:nvSpPr>
        <p:spPr>
          <a:xfrm>
            <a:off x="6822948" y="2962656"/>
            <a:ext cx="384048"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1</a:t>
            </a:r>
            <a:endParaRPr lang="en-US" sz="1300" dirty="0"/>
          </a:p>
        </p:txBody>
      </p:sp>
      <p:sp>
        <p:nvSpPr>
          <p:cNvPr id="86" name="Text 80">
            <a:extLst>
              <a:ext uri="{FF2B5EF4-FFF2-40B4-BE49-F238E27FC236}">
                <a16:creationId xmlns:a16="http://schemas.microsoft.com/office/drawing/2014/main" id="{C0720891-3AC8-1279-365E-7AE504E8F65B}"/>
              </a:ext>
            </a:extLst>
          </p:cNvPr>
          <p:cNvSpPr/>
          <p:nvPr/>
        </p:nvSpPr>
        <p:spPr>
          <a:xfrm>
            <a:off x="5990844" y="3447288"/>
            <a:ext cx="1280160"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64748B"/>
                </a:solidFill>
              </a:rPr>
              <a:t>filtr 3×3</a:t>
            </a:r>
            <a:endParaRPr lang="en-US" sz="1200" dirty="0"/>
          </a:p>
        </p:txBody>
      </p:sp>
      <p:sp>
        <p:nvSpPr>
          <p:cNvPr id="87" name="Text 81">
            <a:extLst>
              <a:ext uri="{FF2B5EF4-FFF2-40B4-BE49-F238E27FC236}">
                <a16:creationId xmlns:a16="http://schemas.microsoft.com/office/drawing/2014/main" id="{93E62188-2A64-A5BD-6EC3-3330EED05A56}"/>
              </a:ext>
            </a:extLst>
          </p:cNvPr>
          <p:cNvSpPr/>
          <p:nvPr/>
        </p:nvSpPr>
        <p:spPr>
          <a:xfrm>
            <a:off x="7362444" y="2478024"/>
            <a:ext cx="384048"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500" b="1" dirty="0">
                <a:solidFill>
                  <a:srgbClr val="64748B"/>
                </a:solidFill>
              </a:rPr>
              <a:t>→</a:t>
            </a:r>
            <a:endParaRPr lang="en-US" sz="2500" dirty="0"/>
          </a:p>
        </p:txBody>
      </p:sp>
      <p:sp>
        <p:nvSpPr>
          <p:cNvPr id="88" name="Shape 82">
            <a:extLst>
              <a:ext uri="{FF2B5EF4-FFF2-40B4-BE49-F238E27FC236}">
                <a16:creationId xmlns:a16="http://schemas.microsoft.com/office/drawing/2014/main" id="{4D6213BB-4FAA-B12D-1C5E-B0AE8F6680C9}"/>
              </a:ext>
            </a:extLst>
          </p:cNvPr>
          <p:cNvSpPr/>
          <p:nvPr/>
        </p:nvSpPr>
        <p:spPr>
          <a:xfrm>
            <a:off x="7847076" y="2240280"/>
            <a:ext cx="713232" cy="713232"/>
          </a:xfrm>
          <a:prstGeom prst="ellipse">
            <a:avLst/>
          </a:prstGeom>
          <a:solidFill>
            <a:srgbClr val="DCFCE7"/>
          </a:solidFill>
          <a:ln w="19050">
            <a:solidFill>
              <a:srgbClr val="22C55E"/>
            </a:solidFill>
            <a:prstDash val="solid"/>
          </a:ln>
        </p:spPr>
        <p:txBody>
          <a:bodyPr/>
          <a:lstStyle/>
          <a:p>
            <a:endParaRPr lang="en-US"/>
          </a:p>
        </p:txBody>
      </p:sp>
      <p:sp>
        <p:nvSpPr>
          <p:cNvPr id="89" name="Text 83">
            <a:extLst>
              <a:ext uri="{FF2B5EF4-FFF2-40B4-BE49-F238E27FC236}">
                <a16:creationId xmlns:a16="http://schemas.microsoft.com/office/drawing/2014/main" id="{D073C71E-BCB7-9C81-BB6E-73C19516DE10}"/>
              </a:ext>
            </a:extLst>
          </p:cNvPr>
          <p:cNvSpPr/>
          <p:nvPr/>
        </p:nvSpPr>
        <p:spPr>
          <a:xfrm>
            <a:off x="7847076" y="2414016"/>
            <a:ext cx="713232"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b="1" dirty="0">
                <a:solidFill>
                  <a:srgbClr val="166534"/>
                </a:solidFill>
              </a:rPr>
              <a:t>3</a:t>
            </a:r>
            <a:endParaRPr lang="en-US" sz="2200" dirty="0"/>
          </a:p>
        </p:txBody>
      </p:sp>
      <p:sp>
        <p:nvSpPr>
          <p:cNvPr id="90" name="Text 84">
            <a:extLst>
              <a:ext uri="{FF2B5EF4-FFF2-40B4-BE49-F238E27FC236}">
                <a16:creationId xmlns:a16="http://schemas.microsoft.com/office/drawing/2014/main" id="{12BBA5CF-B2E7-D266-8DB3-09A87E3C091F}"/>
              </a:ext>
            </a:extLst>
          </p:cNvPr>
          <p:cNvSpPr/>
          <p:nvPr/>
        </p:nvSpPr>
        <p:spPr>
          <a:xfrm>
            <a:off x="7627620" y="3182112"/>
            <a:ext cx="11430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166534"/>
                </a:solidFill>
              </a:rPr>
              <a:t>silne dopasowanie</a:t>
            </a:r>
            <a:endParaRPr lang="en-US" sz="1200" dirty="0"/>
          </a:p>
        </p:txBody>
      </p:sp>
      <p:sp>
        <p:nvSpPr>
          <p:cNvPr id="91" name="Text 85">
            <a:extLst>
              <a:ext uri="{FF2B5EF4-FFF2-40B4-BE49-F238E27FC236}">
                <a16:creationId xmlns:a16="http://schemas.microsoft.com/office/drawing/2014/main" id="{14743269-99EC-66D0-D4F8-EE98F02E945B}"/>
              </a:ext>
            </a:extLst>
          </p:cNvPr>
          <p:cNvSpPr/>
          <p:nvPr/>
        </p:nvSpPr>
        <p:spPr>
          <a:xfrm>
            <a:off x="3457956" y="4434840"/>
            <a:ext cx="5029200" cy="36576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334155"/>
                </a:solidFill>
              </a:rPr>
              <a:t>1·1 + 0·0 + 0·0 + 0·0 + 1·1 + 0·0 + 0·0 + 0·0 + 1·1 = 3</a:t>
            </a:r>
            <a:endParaRPr lang="en-US" sz="1300" dirty="0"/>
          </a:p>
        </p:txBody>
      </p:sp>
      <p:sp>
        <p:nvSpPr>
          <p:cNvPr id="92" name="Text 86">
            <a:extLst>
              <a:ext uri="{FF2B5EF4-FFF2-40B4-BE49-F238E27FC236}">
                <a16:creationId xmlns:a16="http://schemas.microsoft.com/office/drawing/2014/main" id="{0D845986-A9CA-086A-31F9-FA97A3928C85}"/>
              </a:ext>
            </a:extLst>
          </p:cNvPr>
          <p:cNvSpPr/>
          <p:nvPr/>
        </p:nvSpPr>
        <p:spPr>
          <a:xfrm>
            <a:off x="3457956" y="4937760"/>
            <a:ext cx="5029200"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50" dirty="0">
                <a:solidFill>
                  <a:srgbClr val="64748B"/>
                </a:solidFill>
              </a:rPr>
              <a:t>Symbol ⊙ oznacza mnożenie odpowiadających sobie elementów macierzy.</a:t>
            </a:r>
            <a:endParaRPr lang="en-US" sz="1250" dirty="0"/>
          </a:p>
        </p:txBody>
      </p:sp>
      <p:sp>
        <p:nvSpPr>
          <p:cNvPr id="93" name="Shape 87">
            <a:extLst>
              <a:ext uri="{FF2B5EF4-FFF2-40B4-BE49-F238E27FC236}">
                <a16:creationId xmlns:a16="http://schemas.microsoft.com/office/drawing/2014/main" id="{EB516E87-D4F0-1557-F035-48B5E8E2D238}"/>
              </a:ext>
            </a:extLst>
          </p:cNvPr>
          <p:cNvSpPr/>
          <p:nvPr/>
        </p:nvSpPr>
        <p:spPr>
          <a:xfrm>
            <a:off x="8916924" y="2660904"/>
            <a:ext cx="365760" cy="594360"/>
          </a:xfrm>
          <a:prstGeom prst="chevron">
            <a:avLst/>
          </a:prstGeom>
          <a:solidFill>
            <a:srgbClr val="00B0F0"/>
          </a:solidFill>
          <a:ln w="12700">
            <a:solidFill>
              <a:srgbClr val="94A3B8"/>
            </a:solidFill>
            <a:prstDash val="solid"/>
          </a:ln>
        </p:spPr>
        <p:txBody>
          <a:bodyPr/>
          <a:lstStyle/>
          <a:p>
            <a:endParaRPr lang="en-US"/>
          </a:p>
        </p:txBody>
      </p:sp>
      <p:sp>
        <p:nvSpPr>
          <p:cNvPr id="94" name="Shape 88">
            <a:extLst>
              <a:ext uri="{FF2B5EF4-FFF2-40B4-BE49-F238E27FC236}">
                <a16:creationId xmlns:a16="http://schemas.microsoft.com/office/drawing/2014/main" id="{536F30C8-CE76-8929-D20C-4C24771B190E}"/>
              </a:ext>
            </a:extLst>
          </p:cNvPr>
          <p:cNvSpPr/>
          <p:nvPr/>
        </p:nvSpPr>
        <p:spPr>
          <a:xfrm>
            <a:off x="9401556" y="1106424"/>
            <a:ext cx="2286000" cy="4343400"/>
          </a:xfrm>
          <a:prstGeom prst="roundRect">
            <a:avLst>
              <a:gd name="adj" fmla="val 2400"/>
            </a:avLst>
          </a:prstGeom>
          <a:solidFill>
            <a:srgbClr val="EFF6FF"/>
          </a:solidFill>
          <a:ln w="12700">
            <a:solidFill>
              <a:srgbClr val="93C5FD"/>
            </a:solidFill>
            <a:prstDash val="solid"/>
          </a:ln>
        </p:spPr>
        <p:txBody>
          <a:bodyPr/>
          <a:lstStyle/>
          <a:p>
            <a:endParaRPr lang="en-US"/>
          </a:p>
        </p:txBody>
      </p:sp>
      <p:sp>
        <p:nvSpPr>
          <p:cNvPr id="95" name="Text 89">
            <a:extLst>
              <a:ext uri="{FF2B5EF4-FFF2-40B4-BE49-F238E27FC236}">
                <a16:creationId xmlns:a16="http://schemas.microsoft.com/office/drawing/2014/main" id="{63702379-C0CF-B2DB-483F-6E4677860A09}"/>
              </a:ext>
            </a:extLst>
          </p:cNvPr>
          <p:cNvSpPr/>
          <p:nvPr/>
        </p:nvSpPr>
        <p:spPr>
          <a:xfrm>
            <a:off x="9675876" y="1307592"/>
            <a:ext cx="173736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dirty="0">
                <a:solidFill>
                  <a:srgbClr val="1D4ED8"/>
                </a:solidFill>
              </a:rPr>
              <a:t>3. Mapa cech</a:t>
            </a:r>
            <a:endParaRPr lang="en-US" sz="1800" dirty="0"/>
          </a:p>
        </p:txBody>
      </p:sp>
      <p:sp>
        <p:nvSpPr>
          <p:cNvPr id="96" name="Shape 90">
            <a:extLst>
              <a:ext uri="{FF2B5EF4-FFF2-40B4-BE49-F238E27FC236}">
                <a16:creationId xmlns:a16="http://schemas.microsoft.com/office/drawing/2014/main" id="{94DAA779-9F04-70E9-6637-72CA60E53449}"/>
              </a:ext>
            </a:extLst>
          </p:cNvPr>
          <p:cNvSpPr/>
          <p:nvPr/>
        </p:nvSpPr>
        <p:spPr>
          <a:xfrm>
            <a:off x="9950196" y="1993392"/>
            <a:ext cx="393192" cy="393192"/>
          </a:xfrm>
          <a:prstGeom prst="rect">
            <a:avLst/>
          </a:prstGeom>
          <a:solidFill>
            <a:srgbClr val="DCFCE7"/>
          </a:solidFill>
          <a:ln w="16510">
            <a:solidFill>
              <a:srgbClr val="22C55E"/>
            </a:solidFill>
            <a:prstDash val="solid"/>
          </a:ln>
        </p:spPr>
        <p:txBody>
          <a:bodyPr/>
          <a:lstStyle/>
          <a:p>
            <a:endParaRPr lang="en-US"/>
          </a:p>
        </p:txBody>
      </p:sp>
      <p:sp>
        <p:nvSpPr>
          <p:cNvPr id="97" name="Text 91">
            <a:extLst>
              <a:ext uri="{FF2B5EF4-FFF2-40B4-BE49-F238E27FC236}">
                <a16:creationId xmlns:a16="http://schemas.microsoft.com/office/drawing/2014/main" id="{DE4AB68C-0A96-2EB5-546A-3CD507A2ED9F}"/>
              </a:ext>
            </a:extLst>
          </p:cNvPr>
          <p:cNvSpPr/>
          <p:nvPr/>
        </p:nvSpPr>
        <p:spPr>
          <a:xfrm>
            <a:off x="9950196" y="2011680"/>
            <a:ext cx="393192" cy="3383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166534"/>
                </a:solidFill>
              </a:rPr>
              <a:t>3</a:t>
            </a:r>
            <a:endParaRPr lang="en-US" sz="1400" dirty="0"/>
          </a:p>
        </p:txBody>
      </p:sp>
      <p:sp>
        <p:nvSpPr>
          <p:cNvPr id="98" name="Shape 92">
            <a:extLst>
              <a:ext uri="{FF2B5EF4-FFF2-40B4-BE49-F238E27FC236}">
                <a16:creationId xmlns:a16="http://schemas.microsoft.com/office/drawing/2014/main" id="{C86F8C92-F6AB-1B1A-2323-3EADFEBE23AB}"/>
              </a:ext>
            </a:extLst>
          </p:cNvPr>
          <p:cNvSpPr/>
          <p:nvPr/>
        </p:nvSpPr>
        <p:spPr>
          <a:xfrm>
            <a:off x="10343388" y="1993392"/>
            <a:ext cx="393192" cy="393192"/>
          </a:xfrm>
          <a:prstGeom prst="rect">
            <a:avLst/>
          </a:prstGeom>
          <a:solidFill>
            <a:srgbClr val="FFFFFF"/>
          </a:solidFill>
          <a:ln w="10160">
            <a:solidFill>
              <a:srgbClr val="CBD5E1"/>
            </a:solidFill>
            <a:prstDash val="solid"/>
          </a:ln>
        </p:spPr>
        <p:txBody>
          <a:bodyPr/>
          <a:lstStyle/>
          <a:p>
            <a:endParaRPr lang="en-US"/>
          </a:p>
        </p:txBody>
      </p:sp>
      <p:sp>
        <p:nvSpPr>
          <p:cNvPr id="99" name="Text 93">
            <a:extLst>
              <a:ext uri="{FF2B5EF4-FFF2-40B4-BE49-F238E27FC236}">
                <a16:creationId xmlns:a16="http://schemas.microsoft.com/office/drawing/2014/main" id="{AD2BB9FC-5857-D250-93EF-C3D990FD0443}"/>
              </a:ext>
            </a:extLst>
          </p:cNvPr>
          <p:cNvSpPr/>
          <p:nvPr/>
        </p:nvSpPr>
        <p:spPr>
          <a:xfrm>
            <a:off x="10343388" y="2011680"/>
            <a:ext cx="393192" cy="3383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334155"/>
                </a:solidFill>
              </a:rPr>
              <a:t>0</a:t>
            </a:r>
            <a:endParaRPr lang="en-US" sz="1400" dirty="0"/>
          </a:p>
        </p:txBody>
      </p:sp>
      <p:sp>
        <p:nvSpPr>
          <p:cNvPr id="100" name="Shape 94">
            <a:extLst>
              <a:ext uri="{FF2B5EF4-FFF2-40B4-BE49-F238E27FC236}">
                <a16:creationId xmlns:a16="http://schemas.microsoft.com/office/drawing/2014/main" id="{1EB9F92E-8F78-F493-F888-AC5B19B23EBE}"/>
              </a:ext>
            </a:extLst>
          </p:cNvPr>
          <p:cNvSpPr/>
          <p:nvPr/>
        </p:nvSpPr>
        <p:spPr>
          <a:xfrm>
            <a:off x="10736580" y="1993392"/>
            <a:ext cx="393192" cy="393192"/>
          </a:xfrm>
          <a:prstGeom prst="rect">
            <a:avLst/>
          </a:prstGeom>
          <a:solidFill>
            <a:srgbClr val="FFFFFF"/>
          </a:solidFill>
          <a:ln w="10160">
            <a:solidFill>
              <a:srgbClr val="CBD5E1"/>
            </a:solidFill>
            <a:prstDash val="solid"/>
          </a:ln>
        </p:spPr>
        <p:txBody>
          <a:bodyPr/>
          <a:lstStyle/>
          <a:p>
            <a:endParaRPr lang="en-US"/>
          </a:p>
        </p:txBody>
      </p:sp>
      <p:sp>
        <p:nvSpPr>
          <p:cNvPr id="101" name="Text 95">
            <a:extLst>
              <a:ext uri="{FF2B5EF4-FFF2-40B4-BE49-F238E27FC236}">
                <a16:creationId xmlns:a16="http://schemas.microsoft.com/office/drawing/2014/main" id="{0265F742-A6C8-1400-5CA5-09F74D3DF225}"/>
              </a:ext>
            </a:extLst>
          </p:cNvPr>
          <p:cNvSpPr/>
          <p:nvPr/>
        </p:nvSpPr>
        <p:spPr>
          <a:xfrm>
            <a:off x="10736580" y="2011680"/>
            <a:ext cx="393192" cy="3383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334155"/>
                </a:solidFill>
              </a:rPr>
              <a:t>1</a:t>
            </a:r>
            <a:endParaRPr lang="en-US" sz="1400" dirty="0"/>
          </a:p>
        </p:txBody>
      </p:sp>
      <p:sp>
        <p:nvSpPr>
          <p:cNvPr id="102" name="Shape 96">
            <a:extLst>
              <a:ext uri="{FF2B5EF4-FFF2-40B4-BE49-F238E27FC236}">
                <a16:creationId xmlns:a16="http://schemas.microsoft.com/office/drawing/2014/main" id="{BB2F3B10-D4E8-B7C7-424A-B3D037B1E03A}"/>
              </a:ext>
            </a:extLst>
          </p:cNvPr>
          <p:cNvSpPr/>
          <p:nvPr/>
        </p:nvSpPr>
        <p:spPr>
          <a:xfrm>
            <a:off x="9950196" y="2386584"/>
            <a:ext cx="393192" cy="393192"/>
          </a:xfrm>
          <a:prstGeom prst="rect">
            <a:avLst/>
          </a:prstGeom>
          <a:solidFill>
            <a:srgbClr val="FFFFFF"/>
          </a:solidFill>
          <a:ln w="10160">
            <a:solidFill>
              <a:srgbClr val="CBD5E1"/>
            </a:solidFill>
            <a:prstDash val="solid"/>
          </a:ln>
        </p:spPr>
        <p:txBody>
          <a:bodyPr/>
          <a:lstStyle/>
          <a:p>
            <a:endParaRPr lang="en-US"/>
          </a:p>
        </p:txBody>
      </p:sp>
      <p:sp>
        <p:nvSpPr>
          <p:cNvPr id="103" name="Text 97">
            <a:extLst>
              <a:ext uri="{FF2B5EF4-FFF2-40B4-BE49-F238E27FC236}">
                <a16:creationId xmlns:a16="http://schemas.microsoft.com/office/drawing/2014/main" id="{863DDB3C-0C67-FBF8-9366-FAA0631E3B91}"/>
              </a:ext>
            </a:extLst>
          </p:cNvPr>
          <p:cNvSpPr/>
          <p:nvPr/>
        </p:nvSpPr>
        <p:spPr>
          <a:xfrm>
            <a:off x="9950196" y="2404872"/>
            <a:ext cx="393192" cy="3383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334155"/>
                </a:solidFill>
              </a:rPr>
              <a:t>0</a:t>
            </a:r>
            <a:endParaRPr lang="en-US" sz="1400" dirty="0"/>
          </a:p>
        </p:txBody>
      </p:sp>
      <p:sp>
        <p:nvSpPr>
          <p:cNvPr id="104" name="Shape 98">
            <a:extLst>
              <a:ext uri="{FF2B5EF4-FFF2-40B4-BE49-F238E27FC236}">
                <a16:creationId xmlns:a16="http://schemas.microsoft.com/office/drawing/2014/main" id="{0D737CB7-B585-F7E1-9145-6A35C503B30F}"/>
              </a:ext>
            </a:extLst>
          </p:cNvPr>
          <p:cNvSpPr/>
          <p:nvPr/>
        </p:nvSpPr>
        <p:spPr>
          <a:xfrm>
            <a:off x="10343388" y="2386584"/>
            <a:ext cx="393192" cy="393192"/>
          </a:xfrm>
          <a:prstGeom prst="rect">
            <a:avLst/>
          </a:prstGeom>
          <a:solidFill>
            <a:srgbClr val="DCFCE7"/>
          </a:solidFill>
          <a:ln w="16510">
            <a:solidFill>
              <a:srgbClr val="22C55E"/>
            </a:solidFill>
            <a:prstDash val="solid"/>
          </a:ln>
        </p:spPr>
        <p:txBody>
          <a:bodyPr/>
          <a:lstStyle/>
          <a:p>
            <a:endParaRPr lang="en-US"/>
          </a:p>
        </p:txBody>
      </p:sp>
      <p:sp>
        <p:nvSpPr>
          <p:cNvPr id="105" name="Text 99">
            <a:extLst>
              <a:ext uri="{FF2B5EF4-FFF2-40B4-BE49-F238E27FC236}">
                <a16:creationId xmlns:a16="http://schemas.microsoft.com/office/drawing/2014/main" id="{38877465-A47D-F04B-5DAE-9DDB6DA1A170}"/>
              </a:ext>
            </a:extLst>
          </p:cNvPr>
          <p:cNvSpPr/>
          <p:nvPr/>
        </p:nvSpPr>
        <p:spPr>
          <a:xfrm>
            <a:off x="10343388" y="2404872"/>
            <a:ext cx="393192" cy="3383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166534"/>
                </a:solidFill>
              </a:rPr>
              <a:t>3</a:t>
            </a:r>
            <a:endParaRPr lang="en-US" sz="1400" dirty="0"/>
          </a:p>
        </p:txBody>
      </p:sp>
      <p:sp>
        <p:nvSpPr>
          <p:cNvPr id="106" name="Shape 100">
            <a:extLst>
              <a:ext uri="{FF2B5EF4-FFF2-40B4-BE49-F238E27FC236}">
                <a16:creationId xmlns:a16="http://schemas.microsoft.com/office/drawing/2014/main" id="{8F36178E-ECBE-66B5-9CF5-BF809928690A}"/>
              </a:ext>
            </a:extLst>
          </p:cNvPr>
          <p:cNvSpPr/>
          <p:nvPr/>
        </p:nvSpPr>
        <p:spPr>
          <a:xfrm>
            <a:off x="10736580" y="2386584"/>
            <a:ext cx="393192" cy="393192"/>
          </a:xfrm>
          <a:prstGeom prst="rect">
            <a:avLst/>
          </a:prstGeom>
          <a:solidFill>
            <a:srgbClr val="FFFFFF"/>
          </a:solidFill>
          <a:ln w="10160">
            <a:solidFill>
              <a:srgbClr val="CBD5E1"/>
            </a:solidFill>
            <a:prstDash val="solid"/>
          </a:ln>
        </p:spPr>
        <p:txBody>
          <a:bodyPr/>
          <a:lstStyle/>
          <a:p>
            <a:endParaRPr lang="en-US"/>
          </a:p>
        </p:txBody>
      </p:sp>
      <p:sp>
        <p:nvSpPr>
          <p:cNvPr id="107" name="Text 101">
            <a:extLst>
              <a:ext uri="{FF2B5EF4-FFF2-40B4-BE49-F238E27FC236}">
                <a16:creationId xmlns:a16="http://schemas.microsoft.com/office/drawing/2014/main" id="{BF61F436-548E-AC04-8A62-530C25D29F1F}"/>
              </a:ext>
            </a:extLst>
          </p:cNvPr>
          <p:cNvSpPr/>
          <p:nvPr/>
        </p:nvSpPr>
        <p:spPr>
          <a:xfrm>
            <a:off x="10736580" y="2404872"/>
            <a:ext cx="393192" cy="3383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334155"/>
                </a:solidFill>
              </a:rPr>
              <a:t>0</a:t>
            </a:r>
            <a:endParaRPr lang="en-US" sz="1400" dirty="0"/>
          </a:p>
        </p:txBody>
      </p:sp>
      <p:sp>
        <p:nvSpPr>
          <p:cNvPr id="108" name="Shape 102">
            <a:extLst>
              <a:ext uri="{FF2B5EF4-FFF2-40B4-BE49-F238E27FC236}">
                <a16:creationId xmlns:a16="http://schemas.microsoft.com/office/drawing/2014/main" id="{76365C3C-10EE-B374-3067-E188BA0BBFF2}"/>
              </a:ext>
            </a:extLst>
          </p:cNvPr>
          <p:cNvSpPr/>
          <p:nvPr/>
        </p:nvSpPr>
        <p:spPr>
          <a:xfrm>
            <a:off x="9950196" y="2779776"/>
            <a:ext cx="393192" cy="393192"/>
          </a:xfrm>
          <a:prstGeom prst="rect">
            <a:avLst/>
          </a:prstGeom>
          <a:solidFill>
            <a:srgbClr val="FFFFFF"/>
          </a:solidFill>
          <a:ln w="10160">
            <a:solidFill>
              <a:srgbClr val="CBD5E1"/>
            </a:solidFill>
            <a:prstDash val="solid"/>
          </a:ln>
        </p:spPr>
        <p:txBody>
          <a:bodyPr/>
          <a:lstStyle/>
          <a:p>
            <a:endParaRPr lang="en-US"/>
          </a:p>
        </p:txBody>
      </p:sp>
      <p:sp>
        <p:nvSpPr>
          <p:cNvPr id="109" name="Text 103">
            <a:extLst>
              <a:ext uri="{FF2B5EF4-FFF2-40B4-BE49-F238E27FC236}">
                <a16:creationId xmlns:a16="http://schemas.microsoft.com/office/drawing/2014/main" id="{83860729-2FA3-4C0F-433F-8FE31A2089C8}"/>
              </a:ext>
            </a:extLst>
          </p:cNvPr>
          <p:cNvSpPr/>
          <p:nvPr/>
        </p:nvSpPr>
        <p:spPr>
          <a:xfrm>
            <a:off x="9950196" y="2798064"/>
            <a:ext cx="393192" cy="3383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334155"/>
                </a:solidFill>
              </a:rPr>
              <a:t>1</a:t>
            </a:r>
            <a:endParaRPr lang="en-US" sz="1400" dirty="0"/>
          </a:p>
        </p:txBody>
      </p:sp>
      <p:sp>
        <p:nvSpPr>
          <p:cNvPr id="110" name="Shape 104">
            <a:extLst>
              <a:ext uri="{FF2B5EF4-FFF2-40B4-BE49-F238E27FC236}">
                <a16:creationId xmlns:a16="http://schemas.microsoft.com/office/drawing/2014/main" id="{FA69CCF8-3034-FB11-54A2-BB4787924E64}"/>
              </a:ext>
            </a:extLst>
          </p:cNvPr>
          <p:cNvSpPr/>
          <p:nvPr/>
        </p:nvSpPr>
        <p:spPr>
          <a:xfrm>
            <a:off x="10343388" y="2779776"/>
            <a:ext cx="393192" cy="393192"/>
          </a:xfrm>
          <a:prstGeom prst="rect">
            <a:avLst/>
          </a:prstGeom>
          <a:solidFill>
            <a:srgbClr val="FFFFFF"/>
          </a:solidFill>
          <a:ln w="10160">
            <a:solidFill>
              <a:srgbClr val="CBD5E1"/>
            </a:solidFill>
            <a:prstDash val="solid"/>
          </a:ln>
        </p:spPr>
        <p:txBody>
          <a:bodyPr/>
          <a:lstStyle/>
          <a:p>
            <a:endParaRPr lang="en-US"/>
          </a:p>
        </p:txBody>
      </p:sp>
      <p:sp>
        <p:nvSpPr>
          <p:cNvPr id="111" name="Text 105">
            <a:extLst>
              <a:ext uri="{FF2B5EF4-FFF2-40B4-BE49-F238E27FC236}">
                <a16:creationId xmlns:a16="http://schemas.microsoft.com/office/drawing/2014/main" id="{D4A100D6-5E21-9DFB-CEAA-B892D9C47F86}"/>
              </a:ext>
            </a:extLst>
          </p:cNvPr>
          <p:cNvSpPr/>
          <p:nvPr/>
        </p:nvSpPr>
        <p:spPr>
          <a:xfrm>
            <a:off x="10343388" y="2798064"/>
            <a:ext cx="393192" cy="3383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334155"/>
                </a:solidFill>
              </a:rPr>
              <a:t>0</a:t>
            </a:r>
            <a:endParaRPr lang="en-US" sz="1400" dirty="0"/>
          </a:p>
        </p:txBody>
      </p:sp>
      <p:sp>
        <p:nvSpPr>
          <p:cNvPr id="112" name="Shape 106">
            <a:extLst>
              <a:ext uri="{FF2B5EF4-FFF2-40B4-BE49-F238E27FC236}">
                <a16:creationId xmlns:a16="http://schemas.microsoft.com/office/drawing/2014/main" id="{2C712CF5-C010-464A-4A25-DDC6A3347400}"/>
              </a:ext>
            </a:extLst>
          </p:cNvPr>
          <p:cNvSpPr/>
          <p:nvPr/>
        </p:nvSpPr>
        <p:spPr>
          <a:xfrm>
            <a:off x="10736580" y="2779776"/>
            <a:ext cx="393192" cy="393192"/>
          </a:xfrm>
          <a:prstGeom prst="rect">
            <a:avLst/>
          </a:prstGeom>
          <a:solidFill>
            <a:srgbClr val="DCFCE7"/>
          </a:solidFill>
          <a:ln w="16510">
            <a:solidFill>
              <a:srgbClr val="22C55E"/>
            </a:solidFill>
            <a:prstDash val="solid"/>
          </a:ln>
        </p:spPr>
        <p:txBody>
          <a:bodyPr/>
          <a:lstStyle/>
          <a:p>
            <a:endParaRPr lang="en-US"/>
          </a:p>
        </p:txBody>
      </p:sp>
      <p:sp>
        <p:nvSpPr>
          <p:cNvPr id="113" name="Text 107">
            <a:extLst>
              <a:ext uri="{FF2B5EF4-FFF2-40B4-BE49-F238E27FC236}">
                <a16:creationId xmlns:a16="http://schemas.microsoft.com/office/drawing/2014/main" id="{FF84038E-8ADF-CC9E-45E5-0D4EEF549C9E}"/>
              </a:ext>
            </a:extLst>
          </p:cNvPr>
          <p:cNvSpPr/>
          <p:nvPr/>
        </p:nvSpPr>
        <p:spPr>
          <a:xfrm>
            <a:off x="10736580" y="2798064"/>
            <a:ext cx="393192" cy="3383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166534"/>
                </a:solidFill>
              </a:rPr>
              <a:t>3</a:t>
            </a:r>
            <a:endParaRPr lang="en-US" sz="1400" dirty="0"/>
          </a:p>
        </p:txBody>
      </p:sp>
      <p:sp>
        <p:nvSpPr>
          <p:cNvPr id="114" name="Text 108">
            <a:extLst>
              <a:ext uri="{FF2B5EF4-FFF2-40B4-BE49-F238E27FC236}">
                <a16:creationId xmlns:a16="http://schemas.microsoft.com/office/drawing/2014/main" id="{6294DB12-A2EE-5D1F-5C6C-D73FBEBEB711}"/>
              </a:ext>
            </a:extLst>
          </p:cNvPr>
          <p:cNvSpPr/>
          <p:nvPr/>
        </p:nvSpPr>
        <p:spPr>
          <a:xfrm>
            <a:off x="9657588" y="3575304"/>
            <a:ext cx="1783080" cy="7498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334155"/>
                </a:solidFill>
              </a:rPr>
              <a:t>Duża wartość oznacza, że filtr znalazł ukośną linię.</a:t>
            </a:r>
            <a:endParaRPr lang="en-US" sz="1400" dirty="0"/>
          </a:p>
        </p:txBody>
      </p:sp>
      <p:sp>
        <p:nvSpPr>
          <p:cNvPr id="115" name="Text 109">
            <a:extLst>
              <a:ext uri="{FF2B5EF4-FFF2-40B4-BE49-F238E27FC236}">
                <a16:creationId xmlns:a16="http://schemas.microsoft.com/office/drawing/2014/main" id="{6EE7A7D5-E188-8DB2-91E1-689D5F4822BB}"/>
              </a:ext>
            </a:extLst>
          </p:cNvPr>
          <p:cNvSpPr/>
          <p:nvPr/>
        </p:nvSpPr>
        <p:spPr>
          <a:xfrm>
            <a:off x="9657588" y="4581144"/>
            <a:ext cx="1783080" cy="502920"/>
          </a:xfrm>
          <a:prstGeom prst="rect">
            <a:avLst/>
          </a:prstGeom>
          <a:noFill/>
          <a:ln/>
        </p:spPr>
        <p:txBody>
          <a:bodyPr wrap="square" lIns="0" tIns="0" rIns="0" bIns="0" rtlCol="0" anchor="ctr">
            <a:normAutofit fontScale="925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50" b="1" dirty="0">
                <a:solidFill>
                  <a:srgbClr val="1E3A8A"/>
                </a:solidFill>
              </a:rPr>
              <a:t>Inne filtry wykrywają krawędzie, rogi i tekstury.</a:t>
            </a:r>
            <a:endParaRPr lang="en-US" sz="1250" dirty="0"/>
          </a:p>
        </p:txBody>
      </p:sp>
      <p:sp>
        <p:nvSpPr>
          <p:cNvPr id="119" name="pole tekstowe 118">
            <a:extLst>
              <a:ext uri="{FF2B5EF4-FFF2-40B4-BE49-F238E27FC236}">
                <a16:creationId xmlns:a16="http://schemas.microsoft.com/office/drawing/2014/main" id="{09674F68-F74A-80FB-4FF2-E1EFF9179127}"/>
              </a:ext>
            </a:extLst>
          </p:cNvPr>
          <p:cNvSpPr txBox="1"/>
          <p:nvPr/>
        </p:nvSpPr>
        <p:spPr>
          <a:xfrm>
            <a:off x="1528572" y="118872"/>
            <a:ext cx="9683052" cy="646331"/>
          </a:xfrm>
          <a:prstGeom prst="rect">
            <a:avLst/>
          </a:prstGeom>
          <a:noFill/>
        </p:spPr>
        <p:txBody>
          <a:bodyPr wrap="square">
            <a:spAutoFit/>
          </a:bodyPr>
          <a:lstStyle/>
          <a:p>
            <a:pPr algn="ctr"/>
            <a:r>
              <a:rPr lang="pl-PL" sz="3600" dirty="0"/>
              <a:t>Operacja konwolucji</a:t>
            </a:r>
          </a:p>
        </p:txBody>
      </p:sp>
    </p:spTree>
    <p:extLst>
      <p:ext uri="{BB962C8B-B14F-4D97-AF65-F5344CB8AC3E}">
        <p14:creationId xmlns:p14="http://schemas.microsoft.com/office/powerpoint/2010/main" val="1931598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4327ED3B-27AA-1CDD-7418-F3A48BD69AF6}"/>
              </a:ext>
            </a:extLst>
          </p:cNvPr>
          <p:cNvSpPr txBox="1"/>
          <p:nvPr/>
        </p:nvSpPr>
        <p:spPr>
          <a:xfrm>
            <a:off x="1528572" y="118872"/>
            <a:ext cx="9683052" cy="646331"/>
          </a:xfrm>
          <a:prstGeom prst="rect">
            <a:avLst/>
          </a:prstGeom>
          <a:noFill/>
        </p:spPr>
        <p:txBody>
          <a:bodyPr wrap="square">
            <a:spAutoFit/>
          </a:bodyPr>
          <a:lstStyle/>
          <a:p>
            <a:pPr algn="ctr"/>
            <a:r>
              <a:rPr lang="pl-PL" sz="3600" dirty="0"/>
              <a:t>Operacja łączenia</a:t>
            </a:r>
          </a:p>
        </p:txBody>
      </p:sp>
      <p:pic>
        <p:nvPicPr>
          <p:cNvPr id="9" name="Obraz 8">
            <a:extLst>
              <a:ext uri="{FF2B5EF4-FFF2-40B4-BE49-F238E27FC236}">
                <a16:creationId xmlns:a16="http://schemas.microsoft.com/office/drawing/2014/main" id="{A73179FF-A861-F4C5-C66A-F152FE5E0B56}"/>
              </a:ext>
            </a:extLst>
          </p:cNvPr>
          <p:cNvPicPr>
            <a:picLocks noChangeAspect="1"/>
          </p:cNvPicPr>
          <p:nvPr/>
        </p:nvPicPr>
        <p:blipFill>
          <a:blip r:embed="rId3"/>
          <a:stretch>
            <a:fillRect/>
          </a:stretch>
        </p:blipFill>
        <p:spPr>
          <a:xfrm>
            <a:off x="2144978" y="1128128"/>
            <a:ext cx="8668960" cy="3972479"/>
          </a:xfrm>
          <a:prstGeom prst="rect">
            <a:avLst/>
          </a:prstGeom>
        </p:spPr>
      </p:pic>
      <p:sp>
        <p:nvSpPr>
          <p:cNvPr id="10" name="pole tekstowe 9">
            <a:extLst>
              <a:ext uri="{FF2B5EF4-FFF2-40B4-BE49-F238E27FC236}">
                <a16:creationId xmlns:a16="http://schemas.microsoft.com/office/drawing/2014/main" id="{2E5990CE-4B0D-A7D6-03EB-38EFF17431C3}"/>
              </a:ext>
            </a:extLst>
          </p:cNvPr>
          <p:cNvSpPr txBox="1"/>
          <p:nvPr/>
        </p:nvSpPr>
        <p:spPr>
          <a:xfrm>
            <a:off x="6784257" y="5401977"/>
            <a:ext cx="1563329" cy="923330"/>
          </a:xfrm>
          <a:prstGeom prst="rect">
            <a:avLst/>
          </a:prstGeom>
          <a:noFill/>
        </p:spPr>
        <p:txBody>
          <a:bodyPr wrap="square" rtlCol="0">
            <a:spAutoFit/>
          </a:bodyPr>
          <a:lstStyle/>
          <a:p>
            <a:r>
              <a:rPr lang="pl-PL" dirty="0"/>
              <a:t>Maksymalna wartość z macierzy 3x3</a:t>
            </a:r>
            <a:endParaRPr lang="en-US" dirty="0"/>
          </a:p>
        </p:txBody>
      </p:sp>
      <p:sp>
        <p:nvSpPr>
          <p:cNvPr id="12" name="pole tekstowe 11">
            <a:extLst>
              <a:ext uri="{FF2B5EF4-FFF2-40B4-BE49-F238E27FC236}">
                <a16:creationId xmlns:a16="http://schemas.microsoft.com/office/drawing/2014/main" id="{9BD05E14-FE58-6778-A5B6-25ED3531F9DF}"/>
              </a:ext>
            </a:extLst>
          </p:cNvPr>
          <p:cNvSpPr txBox="1"/>
          <p:nvPr/>
        </p:nvSpPr>
        <p:spPr>
          <a:xfrm>
            <a:off x="8971936" y="5401977"/>
            <a:ext cx="1563329" cy="923330"/>
          </a:xfrm>
          <a:prstGeom prst="rect">
            <a:avLst/>
          </a:prstGeom>
          <a:noFill/>
        </p:spPr>
        <p:txBody>
          <a:bodyPr wrap="square" rtlCol="0">
            <a:spAutoFit/>
          </a:bodyPr>
          <a:lstStyle/>
          <a:p>
            <a:r>
              <a:rPr lang="pl-PL" dirty="0"/>
              <a:t>Średnia z wartości z macierzy 3x3</a:t>
            </a:r>
            <a:endParaRPr lang="en-US" dirty="0"/>
          </a:p>
        </p:txBody>
      </p:sp>
      <p:cxnSp>
        <p:nvCxnSpPr>
          <p:cNvPr id="14" name="Łącznik prosty ze strzałką 13">
            <a:extLst>
              <a:ext uri="{FF2B5EF4-FFF2-40B4-BE49-F238E27FC236}">
                <a16:creationId xmlns:a16="http://schemas.microsoft.com/office/drawing/2014/main" id="{28632DE1-6582-780A-166B-8E29D86B1E68}"/>
              </a:ext>
            </a:extLst>
          </p:cNvPr>
          <p:cNvCxnSpPr/>
          <p:nvPr/>
        </p:nvCxnSpPr>
        <p:spPr>
          <a:xfrm flipV="1">
            <a:off x="7472516" y="4562168"/>
            <a:ext cx="0" cy="688258"/>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5" name="Łącznik prosty ze strzałką 14">
            <a:extLst>
              <a:ext uri="{FF2B5EF4-FFF2-40B4-BE49-F238E27FC236}">
                <a16:creationId xmlns:a16="http://schemas.microsoft.com/office/drawing/2014/main" id="{DBB0C539-1EC0-B377-77C5-14112EE1A651}"/>
              </a:ext>
            </a:extLst>
          </p:cNvPr>
          <p:cNvCxnSpPr/>
          <p:nvPr/>
        </p:nvCxnSpPr>
        <p:spPr>
          <a:xfrm flipV="1">
            <a:off x="9561871" y="4562168"/>
            <a:ext cx="0" cy="688258"/>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1635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raz 6">
            <a:extLst>
              <a:ext uri="{FF2B5EF4-FFF2-40B4-BE49-F238E27FC236}">
                <a16:creationId xmlns:a16="http://schemas.microsoft.com/office/drawing/2014/main" id="{5011CB9B-322A-B69A-0C89-62B5668009E3}"/>
              </a:ext>
            </a:extLst>
          </p:cNvPr>
          <p:cNvPicPr>
            <a:picLocks noChangeAspect="1"/>
          </p:cNvPicPr>
          <p:nvPr/>
        </p:nvPicPr>
        <p:blipFill>
          <a:blip r:embed="rId3"/>
          <a:stretch>
            <a:fillRect/>
          </a:stretch>
        </p:blipFill>
        <p:spPr>
          <a:xfrm>
            <a:off x="682344" y="3157900"/>
            <a:ext cx="2307244" cy="1538163"/>
          </a:xfrm>
          <a:prstGeom prst="rect">
            <a:avLst/>
          </a:prstGeom>
        </p:spPr>
      </p:pic>
      <p:sp>
        <p:nvSpPr>
          <p:cNvPr id="9" name="pole tekstowe 8">
            <a:extLst>
              <a:ext uri="{FF2B5EF4-FFF2-40B4-BE49-F238E27FC236}">
                <a16:creationId xmlns:a16="http://schemas.microsoft.com/office/drawing/2014/main" id="{A56FAA7A-8AB7-8FEA-78BE-0A6C2399CD7C}"/>
              </a:ext>
            </a:extLst>
          </p:cNvPr>
          <p:cNvSpPr txBox="1"/>
          <p:nvPr/>
        </p:nvSpPr>
        <p:spPr>
          <a:xfrm>
            <a:off x="1342609" y="239752"/>
            <a:ext cx="9683052" cy="646331"/>
          </a:xfrm>
          <a:prstGeom prst="rect">
            <a:avLst/>
          </a:prstGeom>
          <a:noFill/>
        </p:spPr>
        <p:txBody>
          <a:bodyPr wrap="square">
            <a:spAutoFit/>
          </a:bodyPr>
          <a:lstStyle/>
          <a:p>
            <a:pPr algn="ctr"/>
            <a:r>
              <a:rPr lang="pl-PL" sz="3600" dirty="0"/>
              <a:t>Jak wygląda obraz po filtrach konwolucji?</a:t>
            </a:r>
          </a:p>
        </p:txBody>
      </p:sp>
      <p:pic>
        <p:nvPicPr>
          <p:cNvPr id="11" name="Obraz 10">
            <a:extLst>
              <a:ext uri="{FF2B5EF4-FFF2-40B4-BE49-F238E27FC236}">
                <a16:creationId xmlns:a16="http://schemas.microsoft.com/office/drawing/2014/main" id="{F39290D1-8EE8-D0FD-0DB8-5A9DA337F577}"/>
              </a:ext>
            </a:extLst>
          </p:cNvPr>
          <p:cNvPicPr>
            <a:picLocks noChangeAspect="1"/>
          </p:cNvPicPr>
          <p:nvPr/>
        </p:nvPicPr>
        <p:blipFill>
          <a:blip r:embed="rId4"/>
          <a:stretch>
            <a:fillRect/>
          </a:stretch>
        </p:blipFill>
        <p:spPr>
          <a:xfrm>
            <a:off x="4136573" y="1401681"/>
            <a:ext cx="2344310" cy="1538163"/>
          </a:xfrm>
          <a:prstGeom prst="rect">
            <a:avLst/>
          </a:prstGeom>
        </p:spPr>
      </p:pic>
      <p:sp>
        <p:nvSpPr>
          <p:cNvPr id="12" name="pole tekstowe 11">
            <a:extLst>
              <a:ext uri="{FF2B5EF4-FFF2-40B4-BE49-F238E27FC236}">
                <a16:creationId xmlns:a16="http://schemas.microsoft.com/office/drawing/2014/main" id="{661B22C8-AAA4-9A92-8251-4F1B52D7234C}"/>
              </a:ext>
            </a:extLst>
          </p:cNvPr>
          <p:cNvSpPr txBox="1"/>
          <p:nvPr/>
        </p:nvSpPr>
        <p:spPr>
          <a:xfrm>
            <a:off x="8603059" y="1800274"/>
            <a:ext cx="1504335" cy="646331"/>
          </a:xfrm>
          <a:prstGeom prst="rect">
            <a:avLst/>
          </a:prstGeom>
          <a:noFill/>
        </p:spPr>
        <p:txBody>
          <a:bodyPr wrap="square" rtlCol="0">
            <a:spAutoFit/>
          </a:bodyPr>
          <a:lstStyle/>
          <a:p>
            <a:r>
              <a:rPr lang="pl-PL" dirty="0"/>
              <a:t>Poziomy filtr Prewitta</a:t>
            </a:r>
            <a:endParaRPr lang="en-US" dirty="0"/>
          </a:p>
        </p:txBody>
      </p:sp>
      <p:pic>
        <p:nvPicPr>
          <p:cNvPr id="14" name="Obraz 13">
            <a:extLst>
              <a:ext uri="{FF2B5EF4-FFF2-40B4-BE49-F238E27FC236}">
                <a16:creationId xmlns:a16="http://schemas.microsoft.com/office/drawing/2014/main" id="{241FBD53-09F0-594F-B065-868186188E40}"/>
              </a:ext>
            </a:extLst>
          </p:cNvPr>
          <p:cNvPicPr>
            <a:picLocks noChangeAspect="1"/>
          </p:cNvPicPr>
          <p:nvPr/>
        </p:nvPicPr>
        <p:blipFill>
          <a:blip r:embed="rId5"/>
          <a:stretch>
            <a:fillRect/>
          </a:stretch>
        </p:blipFill>
        <p:spPr>
          <a:xfrm>
            <a:off x="7043389" y="1546641"/>
            <a:ext cx="1419686" cy="1171241"/>
          </a:xfrm>
          <a:prstGeom prst="rect">
            <a:avLst/>
          </a:prstGeom>
        </p:spPr>
      </p:pic>
      <p:pic>
        <p:nvPicPr>
          <p:cNvPr id="18" name="Obraz 17">
            <a:extLst>
              <a:ext uri="{FF2B5EF4-FFF2-40B4-BE49-F238E27FC236}">
                <a16:creationId xmlns:a16="http://schemas.microsoft.com/office/drawing/2014/main" id="{8014185D-6C99-0D12-A843-C441CF3D1459}"/>
              </a:ext>
            </a:extLst>
          </p:cNvPr>
          <p:cNvPicPr>
            <a:picLocks noChangeAspect="1"/>
          </p:cNvPicPr>
          <p:nvPr/>
        </p:nvPicPr>
        <p:blipFill>
          <a:blip r:embed="rId6"/>
          <a:stretch>
            <a:fillRect/>
          </a:stretch>
        </p:blipFill>
        <p:spPr>
          <a:xfrm>
            <a:off x="4136573" y="3157900"/>
            <a:ext cx="2366300" cy="1520514"/>
          </a:xfrm>
          <a:prstGeom prst="rect">
            <a:avLst/>
          </a:prstGeom>
        </p:spPr>
      </p:pic>
      <p:pic>
        <p:nvPicPr>
          <p:cNvPr id="20" name="Obraz 19">
            <a:extLst>
              <a:ext uri="{FF2B5EF4-FFF2-40B4-BE49-F238E27FC236}">
                <a16:creationId xmlns:a16="http://schemas.microsoft.com/office/drawing/2014/main" id="{65808360-9697-5508-22A5-24330A7F0213}"/>
              </a:ext>
            </a:extLst>
          </p:cNvPr>
          <p:cNvPicPr>
            <a:picLocks noChangeAspect="1"/>
          </p:cNvPicPr>
          <p:nvPr/>
        </p:nvPicPr>
        <p:blipFill>
          <a:blip r:embed="rId7"/>
          <a:stretch>
            <a:fillRect/>
          </a:stretch>
        </p:blipFill>
        <p:spPr>
          <a:xfrm>
            <a:off x="7110633" y="3242884"/>
            <a:ext cx="1285197" cy="1350545"/>
          </a:xfrm>
          <a:prstGeom prst="rect">
            <a:avLst/>
          </a:prstGeom>
        </p:spPr>
      </p:pic>
      <p:sp>
        <p:nvSpPr>
          <p:cNvPr id="22" name="pole tekstowe 21">
            <a:extLst>
              <a:ext uri="{FF2B5EF4-FFF2-40B4-BE49-F238E27FC236}">
                <a16:creationId xmlns:a16="http://schemas.microsoft.com/office/drawing/2014/main" id="{C945C0B2-D560-0241-E14B-501F8C9DDBDF}"/>
              </a:ext>
            </a:extLst>
          </p:cNvPr>
          <p:cNvSpPr txBox="1"/>
          <p:nvPr/>
        </p:nvSpPr>
        <p:spPr>
          <a:xfrm>
            <a:off x="8603059" y="3463414"/>
            <a:ext cx="1504335" cy="646331"/>
          </a:xfrm>
          <a:prstGeom prst="rect">
            <a:avLst/>
          </a:prstGeom>
          <a:noFill/>
        </p:spPr>
        <p:txBody>
          <a:bodyPr wrap="square" rtlCol="0">
            <a:spAutoFit/>
          </a:bodyPr>
          <a:lstStyle/>
          <a:p>
            <a:r>
              <a:rPr lang="pl-PL" dirty="0"/>
              <a:t>Pionowy filtr Prewitta</a:t>
            </a:r>
            <a:endParaRPr lang="en-US" dirty="0"/>
          </a:p>
        </p:txBody>
      </p:sp>
      <p:pic>
        <p:nvPicPr>
          <p:cNvPr id="26" name="Obraz 25">
            <a:extLst>
              <a:ext uri="{FF2B5EF4-FFF2-40B4-BE49-F238E27FC236}">
                <a16:creationId xmlns:a16="http://schemas.microsoft.com/office/drawing/2014/main" id="{C435FA8C-B058-B981-7775-6EB798DB4321}"/>
              </a:ext>
            </a:extLst>
          </p:cNvPr>
          <p:cNvPicPr>
            <a:picLocks noChangeAspect="1"/>
          </p:cNvPicPr>
          <p:nvPr/>
        </p:nvPicPr>
        <p:blipFill>
          <a:blip r:embed="rId8"/>
          <a:stretch>
            <a:fillRect/>
          </a:stretch>
        </p:blipFill>
        <p:spPr>
          <a:xfrm>
            <a:off x="4136573" y="4941942"/>
            <a:ext cx="2366300" cy="1539521"/>
          </a:xfrm>
          <a:prstGeom prst="rect">
            <a:avLst/>
          </a:prstGeom>
        </p:spPr>
      </p:pic>
      <p:pic>
        <p:nvPicPr>
          <p:cNvPr id="34" name="Obraz 33">
            <a:extLst>
              <a:ext uri="{FF2B5EF4-FFF2-40B4-BE49-F238E27FC236}">
                <a16:creationId xmlns:a16="http://schemas.microsoft.com/office/drawing/2014/main" id="{920ED138-698C-5428-0463-49508C929FC6}"/>
              </a:ext>
            </a:extLst>
          </p:cNvPr>
          <p:cNvPicPr>
            <a:picLocks noChangeAspect="1"/>
          </p:cNvPicPr>
          <p:nvPr/>
        </p:nvPicPr>
        <p:blipFill>
          <a:blip r:embed="rId9"/>
          <a:stretch>
            <a:fillRect/>
          </a:stretch>
        </p:blipFill>
        <p:spPr>
          <a:xfrm>
            <a:off x="6925402" y="3242884"/>
            <a:ext cx="3771035" cy="3023622"/>
          </a:xfrm>
          <a:prstGeom prst="rect">
            <a:avLst/>
          </a:prstGeom>
        </p:spPr>
      </p:pic>
      <p:sp>
        <p:nvSpPr>
          <p:cNvPr id="36" name="pole tekstowe 35">
            <a:extLst>
              <a:ext uri="{FF2B5EF4-FFF2-40B4-BE49-F238E27FC236}">
                <a16:creationId xmlns:a16="http://schemas.microsoft.com/office/drawing/2014/main" id="{65ABF581-C083-2D9F-7929-B9E42038F8BF}"/>
              </a:ext>
            </a:extLst>
          </p:cNvPr>
          <p:cNvSpPr txBox="1"/>
          <p:nvPr/>
        </p:nvSpPr>
        <p:spPr>
          <a:xfrm>
            <a:off x="8603058" y="5430860"/>
            <a:ext cx="1807882" cy="369332"/>
          </a:xfrm>
          <a:prstGeom prst="rect">
            <a:avLst/>
          </a:prstGeom>
          <a:noFill/>
        </p:spPr>
        <p:txBody>
          <a:bodyPr wrap="square" rtlCol="0">
            <a:spAutoFit/>
          </a:bodyPr>
          <a:lstStyle/>
          <a:p>
            <a:r>
              <a:rPr lang="pl-PL" dirty="0"/>
              <a:t>Filtr Laplace’a</a:t>
            </a:r>
            <a:endParaRPr lang="en-US" dirty="0"/>
          </a:p>
        </p:txBody>
      </p:sp>
      <p:sp>
        <p:nvSpPr>
          <p:cNvPr id="37" name="Nawias klamrowy otwierający 36">
            <a:extLst>
              <a:ext uri="{FF2B5EF4-FFF2-40B4-BE49-F238E27FC236}">
                <a16:creationId xmlns:a16="http://schemas.microsoft.com/office/drawing/2014/main" id="{9EA5DC8E-9646-8E78-0975-B949063F5F02}"/>
              </a:ext>
            </a:extLst>
          </p:cNvPr>
          <p:cNvSpPr/>
          <p:nvPr/>
        </p:nvSpPr>
        <p:spPr>
          <a:xfrm>
            <a:off x="3072304" y="1272159"/>
            <a:ext cx="913017" cy="534495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64169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raz 6">
            <a:extLst>
              <a:ext uri="{FF2B5EF4-FFF2-40B4-BE49-F238E27FC236}">
                <a16:creationId xmlns:a16="http://schemas.microsoft.com/office/drawing/2014/main" id="{8BCE0BE7-AF0C-18E5-217B-BDC05043248D}"/>
              </a:ext>
            </a:extLst>
          </p:cNvPr>
          <p:cNvPicPr>
            <a:picLocks noChangeAspect="1"/>
          </p:cNvPicPr>
          <p:nvPr/>
        </p:nvPicPr>
        <p:blipFill>
          <a:blip r:embed="rId3"/>
          <a:stretch>
            <a:fillRect/>
          </a:stretch>
        </p:blipFill>
        <p:spPr>
          <a:xfrm>
            <a:off x="1769581" y="4353922"/>
            <a:ext cx="8652835" cy="1583818"/>
          </a:xfrm>
          <a:prstGeom prst="rect">
            <a:avLst/>
          </a:prstGeom>
        </p:spPr>
      </p:pic>
      <p:sp>
        <p:nvSpPr>
          <p:cNvPr id="9" name="pole tekstowe 8">
            <a:extLst>
              <a:ext uri="{FF2B5EF4-FFF2-40B4-BE49-F238E27FC236}">
                <a16:creationId xmlns:a16="http://schemas.microsoft.com/office/drawing/2014/main" id="{96888758-2AC5-90B6-BA6B-226DBDF5FDB8}"/>
              </a:ext>
            </a:extLst>
          </p:cNvPr>
          <p:cNvSpPr txBox="1"/>
          <p:nvPr/>
        </p:nvSpPr>
        <p:spPr>
          <a:xfrm>
            <a:off x="1430743" y="48886"/>
            <a:ext cx="9683052" cy="1200329"/>
          </a:xfrm>
          <a:prstGeom prst="rect">
            <a:avLst/>
          </a:prstGeom>
          <a:noFill/>
        </p:spPr>
        <p:txBody>
          <a:bodyPr wrap="square">
            <a:spAutoFit/>
          </a:bodyPr>
          <a:lstStyle/>
          <a:p>
            <a:pPr algn="ctr"/>
            <a:r>
              <a:rPr lang="pl-PL" sz="3600" dirty="0"/>
              <a:t>Przykład działania sieci neuronowej do wykrywania cyfr (I)</a:t>
            </a:r>
          </a:p>
        </p:txBody>
      </p:sp>
      <p:sp>
        <p:nvSpPr>
          <p:cNvPr id="10" name="pole tekstowe 9">
            <a:extLst>
              <a:ext uri="{FF2B5EF4-FFF2-40B4-BE49-F238E27FC236}">
                <a16:creationId xmlns:a16="http://schemas.microsoft.com/office/drawing/2014/main" id="{04E4CFD3-6D12-AEBA-428A-00119BE1D207}"/>
              </a:ext>
            </a:extLst>
          </p:cNvPr>
          <p:cNvSpPr txBox="1"/>
          <p:nvPr/>
        </p:nvSpPr>
        <p:spPr>
          <a:xfrm>
            <a:off x="934987" y="2027104"/>
            <a:ext cx="2821766" cy="923330"/>
          </a:xfrm>
          <a:prstGeom prst="rect">
            <a:avLst/>
          </a:prstGeom>
          <a:noFill/>
        </p:spPr>
        <p:txBody>
          <a:bodyPr wrap="square" rtlCol="0">
            <a:spAutoFit/>
          </a:bodyPr>
          <a:lstStyle/>
          <a:p>
            <a:pPr algn="ctr"/>
            <a:r>
              <a:rPr lang="pl-PL" dirty="0"/>
              <a:t>Dane treningowe – MNIST (70 tys. ręcznie napisanych cyfr)</a:t>
            </a:r>
            <a:endParaRPr lang="en-US" dirty="0"/>
          </a:p>
        </p:txBody>
      </p:sp>
      <p:pic>
        <p:nvPicPr>
          <p:cNvPr id="12" name="Obraz 11">
            <a:extLst>
              <a:ext uri="{FF2B5EF4-FFF2-40B4-BE49-F238E27FC236}">
                <a16:creationId xmlns:a16="http://schemas.microsoft.com/office/drawing/2014/main" id="{9CCCDE12-198F-99DD-BA7E-A078F141A30C}"/>
              </a:ext>
            </a:extLst>
          </p:cNvPr>
          <p:cNvPicPr>
            <a:picLocks noChangeAspect="1"/>
          </p:cNvPicPr>
          <p:nvPr/>
        </p:nvPicPr>
        <p:blipFill>
          <a:blip r:embed="rId4"/>
          <a:stretch>
            <a:fillRect/>
          </a:stretch>
        </p:blipFill>
        <p:spPr>
          <a:xfrm>
            <a:off x="4889110" y="1956045"/>
            <a:ext cx="2413779" cy="1065447"/>
          </a:xfrm>
          <a:prstGeom prst="rect">
            <a:avLst/>
          </a:prstGeom>
          <a:ln w="53975">
            <a:solidFill>
              <a:schemeClr val="tx1"/>
            </a:solidFill>
          </a:ln>
        </p:spPr>
      </p:pic>
      <p:sp>
        <p:nvSpPr>
          <p:cNvPr id="13" name="Strzałka: w prawo 12">
            <a:extLst>
              <a:ext uri="{FF2B5EF4-FFF2-40B4-BE49-F238E27FC236}">
                <a16:creationId xmlns:a16="http://schemas.microsoft.com/office/drawing/2014/main" id="{B39F9889-3935-7680-D3B6-83E064CD2EAF}"/>
              </a:ext>
            </a:extLst>
          </p:cNvPr>
          <p:cNvSpPr/>
          <p:nvPr/>
        </p:nvSpPr>
        <p:spPr>
          <a:xfrm>
            <a:off x="3756753" y="2291508"/>
            <a:ext cx="793214" cy="352540"/>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trzałka: w prawo 14">
            <a:extLst>
              <a:ext uri="{FF2B5EF4-FFF2-40B4-BE49-F238E27FC236}">
                <a16:creationId xmlns:a16="http://schemas.microsoft.com/office/drawing/2014/main" id="{90A165CA-0369-1E21-FB00-524A20136C90}"/>
              </a:ext>
            </a:extLst>
          </p:cNvPr>
          <p:cNvSpPr/>
          <p:nvPr/>
        </p:nvSpPr>
        <p:spPr>
          <a:xfrm rot="5400000">
            <a:off x="5699392" y="3511437"/>
            <a:ext cx="793214" cy="352540"/>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rzałka: w prawo 16">
            <a:extLst>
              <a:ext uri="{FF2B5EF4-FFF2-40B4-BE49-F238E27FC236}">
                <a16:creationId xmlns:a16="http://schemas.microsoft.com/office/drawing/2014/main" id="{66FEDCE3-6D5C-6B13-9E75-96C4E54447AA}"/>
              </a:ext>
            </a:extLst>
          </p:cNvPr>
          <p:cNvSpPr/>
          <p:nvPr/>
        </p:nvSpPr>
        <p:spPr>
          <a:xfrm rot="10053117">
            <a:off x="7739256" y="1816746"/>
            <a:ext cx="1809784" cy="352540"/>
          </a:xfrm>
          <a:prstGeom prst="rightArrow">
            <a:avLst>
              <a:gd name="adj1" fmla="val 31468"/>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ole tekstowe 17">
            <a:extLst>
              <a:ext uri="{FF2B5EF4-FFF2-40B4-BE49-F238E27FC236}">
                <a16:creationId xmlns:a16="http://schemas.microsoft.com/office/drawing/2014/main" id="{5818FA44-9FEC-FEAF-6C43-67184EAC3F02}"/>
              </a:ext>
            </a:extLst>
          </p:cNvPr>
          <p:cNvSpPr txBox="1"/>
          <p:nvPr/>
        </p:nvSpPr>
        <p:spPr>
          <a:xfrm rot="20868557">
            <a:off x="8139640" y="2050265"/>
            <a:ext cx="1511504" cy="369332"/>
          </a:xfrm>
          <a:prstGeom prst="rect">
            <a:avLst/>
          </a:prstGeom>
          <a:noFill/>
        </p:spPr>
        <p:txBody>
          <a:bodyPr wrap="none" rtlCol="0">
            <a:spAutoFit/>
          </a:bodyPr>
          <a:lstStyle/>
          <a:p>
            <a:r>
              <a:rPr lang="pl-PL" dirty="0"/>
              <a:t>Jaka to cyfra?</a:t>
            </a:r>
          </a:p>
        </p:txBody>
      </p:sp>
      <p:pic>
        <p:nvPicPr>
          <p:cNvPr id="20" name="Obraz 19">
            <a:extLst>
              <a:ext uri="{FF2B5EF4-FFF2-40B4-BE49-F238E27FC236}">
                <a16:creationId xmlns:a16="http://schemas.microsoft.com/office/drawing/2014/main" id="{367FFEC7-1C82-F044-9FD7-EB2188282837}"/>
              </a:ext>
            </a:extLst>
          </p:cNvPr>
          <p:cNvPicPr>
            <a:picLocks noChangeAspect="1"/>
          </p:cNvPicPr>
          <p:nvPr/>
        </p:nvPicPr>
        <p:blipFill>
          <a:blip r:embed="rId5"/>
          <a:stretch>
            <a:fillRect/>
          </a:stretch>
        </p:blipFill>
        <p:spPr>
          <a:xfrm>
            <a:off x="10075228" y="1141123"/>
            <a:ext cx="1482224" cy="1502925"/>
          </a:xfrm>
          <a:prstGeom prst="rect">
            <a:avLst/>
          </a:prstGeom>
        </p:spPr>
      </p:pic>
      <p:sp>
        <p:nvSpPr>
          <p:cNvPr id="22" name="Strzałka: w prawo 21">
            <a:extLst>
              <a:ext uri="{FF2B5EF4-FFF2-40B4-BE49-F238E27FC236}">
                <a16:creationId xmlns:a16="http://schemas.microsoft.com/office/drawing/2014/main" id="{FB67E8D7-B255-89CF-709E-1A0BF5471AF9}"/>
              </a:ext>
            </a:extLst>
          </p:cNvPr>
          <p:cNvSpPr/>
          <p:nvPr/>
        </p:nvSpPr>
        <p:spPr>
          <a:xfrm rot="1207276">
            <a:off x="7684420" y="2887738"/>
            <a:ext cx="1869484" cy="2897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pole tekstowe 23">
            <a:extLst>
              <a:ext uri="{FF2B5EF4-FFF2-40B4-BE49-F238E27FC236}">
                <a16:creationId xmlns:a16="http://schemas.microsoft.com/office/drawing/2014/main" id="{2D0582D2-3748-E09D-A154-83DBA97E39CF}"/>
              </a:ext>
            </a:extLst>
          </p:cNvPr>
          <p:cNvSpPr txBox="1"/>
          <p:nvPr/>
        </p:nvSpPr>
        <p:spPr>
          <a:xfrm rot="1271091">
            <a:off x="7917060" y="3119472"/>
            <a:ext cx="1310936" cy="369332"/>
          </a:xfrm>
          <a:prstGeom prst="rect">
            <a:avLst/>
          </a:prstGeom>
          <a:noFill/>
        </p:spPr>
        <p:txBody>
          <a:bodyPr wrap="none" rtlCol="0">
            <a:spAutoFit/>
          </a:bodyPr>
          <a:lstStyle/>
          <a:p>
            <a:r>
              <a:rPr lang="pl-PL" dirty="0"/>
              <a:t>Odpowiedź</a:t>
            </a:r>
          </a:p>
        </p:txBody>
      </p:sp>
      <p:pic>
        <p:nvPicPr>
          <p:cNvPr id="30" name="Obraz 29">
            <a:extLst>
              <a:ext uri="{FF2B5EF4-FFF2-40B4-BE49-F238E27FC236}">
                <a16:creationId xmlns:a16="http://schemas.microsoft.com/office/drawing/2014/main" id="{0403C412-DB99-8F02-CB3B-B67F6D88056C}"/>
              </a:ext>
            </a:extLst>
          </p:cNvPr>
          <p:cNvPicPr>
            <a:picLocks noChangeAspect="1"/>
          </p:cNvPicPr>
          <p:nvPr/>
        </p:nvPicPr>
        <p:blipFill>
          <a:blip r:embed="rId6"/>
          <a:stretch>
            <a:fillRect/>
          </a:stretch>
        </p:blipFill>
        <p:spPr>
          <a:xfrm>
            <a:off x="9546701" y="3073698"/>
            <a:ext cx="2539278" cy="511951"/>
          </a:xfrm>
          <a:prstGeom prst="rect">
            <a:avLst/>
          </a:prstGeom>
        </p:spPr>
      </p:pic>
      <p:sp>
        <p:nvSpPr>
          <p:cNvPr id="31" name="pole tekstowe 30">
            <a:extLst>
              <a:ext uri="{FF2B5EF4-FFF2-40B4-BE49-F238E27FC236}">
                <a16:creationId xmlns:a16="http://schemas.microsoft.com/office/drawing/2014/main" id="{84F7B719-6619-BA79-9895-3A3CF09DEC89}"/>
              </a:ext>
            </a:extLst>
          </p:cNvPr>
          <p:cNvSpPr txBox="1"/>
          <p:nvPr/>
        </p:nvSpPr>
        <p:spPr>
          <a:xfrm>
            <a:off x="2835585" y="6207348"/>
            <a:ext cx="6941452" cy="369332"/>
          </a:xfrm>
          <a:prstGeom prst="rect">
            <a:avLst/>
          </a:prstGeom>
          <a:noFill/>
        </p:spPr>
        <p:txBody>
          <a:bodyPr wrap="none" rtlCol="0">
            <a:spAutoFit/>
          </a:bodyPr>
          <a:lstStyle/>
          <a:p>
            <a:r>
              <a:rPr lang="pl-PL" dirty="0"/>
              <a:t>Program napisany w języku </a:t>
            </a:r>
            <a:r>
              <a:rPr lang="pl-PL" dirty="0" err="1"/>
              <a:t>Python</a:t>
            </a:r>
            <a:r>
              <a:rPr lang="pl-PL" dirty="0"/>
              <a:t> - </a:t>
            </a:r>
            <a:r>
              <a:rPr lang="pl-PL" b="1" dirty="0"/>
              <a:t>Sieć CNN - rozpoznawanie cyfr</a:t>
            </a:r>
            <a:endParaRPr lang="en-US" b="1" dirty="0"/>
          </a:p>
        </p:txBody>
      </p:sp>
    </p:spTree>
    <p:extLst>
      <p:ext uri="{BB962C8B-B14F-4D97-AF65-F5344CB8AC3E}">
        <p14:creationId xmlns:p14="http://schemas.microsoft.com/office/powerpoint/2010/main" val="2631996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A5ADD-A7A8-091D-37B5-CDD970070F0D}"/>
            </a:ext>
          </a:extLst>
        </p:cNvPr>
        <p:cNvGrpSpPr/>
        <p:nvPr/>
      </p:nvGrpSpPr>
      <p:grpSpPr>
        <a:xfrm>
          <a:off x="0" y="0"/>
          <a:ext cx="0" cy="0"/>
          <a:chOff x="0" y="0"/>
          <a:chExt cx="0" cy="0"/>
        </a:xfrm>
      </p:grpSpPr>
      <p:sp>
        <p:nvSpPr>
          <p:cNvPr id="9" name="pole tekstowe 8">
            <a:extLst>
              <a:ext uri="{FF2B5EF4-FFF2-40B4-BE49-F238E27FC236}">
                <a16:creationId xmlns:a16="http://schemas.microsoft.com/office/drawing/2014/main" id="{E9678CFB-2A66-E088-588B-56D3118DF79A}"/>
              </a:ext>
            </a:extLst>
          </p:cNvPr>
          <p:cNvSpPr txBox="1"/>
          <p:nvPr/>
        </p:nvSpPr>
        <p:spPr>
          <a:xfrm>
            <a:off x="1430743" y="48886"/>
            <a:ext cx="9683052" cy="1200329"/>
          </a:xfrm>
          <a:prstGeom prst="rect">
            <a:avLst/>
          </a:prstGeom>
          <a:noFill/>
        </p:spPr>
        <p:txBody>
          <a:bodyPr wrap="square">
            <a:spAutoFit/>
          </a:bodyPr>
          <a:lstStyle/>
          <a:p>
            <a:pPr algn="ctr"/>
            <a:r>
              <a:rPr lang="pl-PL" sz="3600" dirty="0"/>
              <a:t>Przykład działania sieci neuronowej do wykrywania cyfr (II)</a:t>
            </a:r>
          </a:p>
        </p:txBody>
      </p:sp>
      <p:pic>
        <p:nvPicPr>
          <p:cNvPr id="5" name="Obraz 4">
            <a:extLst>
              <a:ext uri="{FF2B5EF4-FFF2-40B4-BE49-F238E27FC236}">
                <a16:creationId xmlns:a16="http://schemas.microsoft.com/office/drawing/2014/main" id="{1FB01128-0D43-0BFB-FE86-748DDD2768C6}"/>
              </a:ext>
            </a:extLst>
          </p:cNvPr>
          <p:cNvPicPr>
            <a:picLocks noChangeAspect="1"/>
          </p:cNvPicPr>
          <p:nvPr/>
        </p:nvPicPr>
        <p:blipFill>
          <a:blip r:embed="rId3"/>
          <a:stretch>
            <a:fillRect/>
          </a:stretch>
        </p:blipFill>
        <p:spPr>
          <a:xfrm>
            <a:off x="859679" y="1466268"/>
            <a:ext cx="2292468" cy="2590933"/>
          </a:xfrm>
          <a:prstGeom prst="rect">
            <a:avLst/>
          </a:prstGeom>
        </p:spPr>
      </p:pic>
      <p:pic>
        <p:nvPicPr>
          <p:cNvPr id="8" name="Obraz 7">
            <a:extLst>
              <a:ext uri="{FF2B5EF4-FFF2-40B4-BE49-F238E27FC236}">
                <a16:creationId xmlns:a16="http://schemas.microsoft.com/office/drawing/2014/main" id="{4ECED73E-67BC-368F-35A0-6ED484B46708}"/>
              </a:ext>
            </a:extLst>
          </p:cNvPr>
          <p:cNvPicPr>
            <a:picLocks noChangeAspect="1"/>
          </p:cNvPicPr>
          <p:nvPr/>
        </p:nvPicPr>
        <p:blipFill>
          <a:blip r:embed="rId4"/>
          <a:stretch>
            <a:fillRect/>
          </a:stretch>
        </p:blipFill>
        <p:spPr>
          <a:xfrm>
            <a:off x="7017464" y="1466268"/>
            <a:ext cx="2292468" cy="2590932"/>
          </a:xfrm>
          <a:prstGeom prst="rect">
            <a:avLst/>
          </a:prstGeom>
        </p:spPr>
      </p:pic>
      <p:sp>
        <p:nvSpPr>
          <p:cNvPr id="14" name="Strzałka: w prawo 13">
            <a:extLst>
              <a:ext uri="{FF2B5EF4-FFF2-40B4-BE49-F238E27FC236}">
                <a16:creationId xmlns:a16="http://schemas.microsoft.com/office/drawing/2014/main" id="{AD6E186A-4E62-3447-EAFF-1B3F07304397}"/>
              </a:ext>
            </a:extLst>
          </p:cNvPr>
          <p:cNvSpPr/>
          <p:nvPr/>
        </p:nvSpPr>
        <p:spPr>
          <a:xfrm>
            <a:off x="3459892" y="2422004"/>
            <a:ext cx="3249827" cy="457200"/>
          </a:xfrm>
          <a:prstGeom prs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Obraz 18">
            <a:extLst>
              <a:ext uri="{FF2B5EF4-FFF2-40B4-BE49-F238E27FC236}">
                <a16:creationId xmlns:a16="http://schemas.microsoft.com/office/drawing/2014/main" id="{9E0792FE-2376-1C76-86C3-2956661AA9DE}"/>
              </a:ext>
            </a:extLst>
          </p:cNvPr>
          <p:cNvPicPr>
            <a:picLocks noChangeAspect="1"/>
          </p:cNvPicPr>
          <p:nvPr/>
        </p:nvPicPr>
        <p:blipFill>
          <a:blip r:embed="rId5"/>
          <a:stretch>
            <a:fillRect/>
          </a:stretch>
        </p:blipFill>
        <p:spPr>
          <a:xfrm>
            <a:off x="859679" y="4460789"/>
            <a:ext cx="2084210" cy="2348325"/>
          </a:xfrm>
          <a:prstGeom prst="rect">
            <a:avLst/>
          </a:prstGeom>
        </p:spPr>
      </p:pic>
      <p:pic>
        <p:nvPicPr>
          <p:cNvPr id="23" name="Obraz 22">
            <a:extLst>
              <a:ext uri="{FF2B5EF4-FFF2-40B4-BE49-F238E27FC236}">
                <a16:creationId xmlns:a16="http://schemas.microsoft.com/office/drawing/2014/main" id="{C7F94352-8703-E274-A6FA-AD01794562B2}"/>
              </a:ext>
            </a:extLst>
          </p:cNvPr>
          <p:cNvPicPr>
            <a:picLocks noChangeAspect="1"/>
          </p:cNvPicPr>
          <p:nvPr/>
        </p:nvPicPr>
        <p:blipFill>
          <a:blip r:embed="rId6"/>
          <a:stretch>
            <a:fillRect/>
          </a:stretch>
        </p:blipFill>
        <p:spPr>
          <a:xfrm>
            <a:off x="7138120" y="4375022"/>
            <a:ext cx="2084210" cy="2382825"/>
          </a:xfrm>
          <a:prstGeom prst="rect">
            <a:avLst/>
          </a:prstGeom>
        </p:spPr>
      </p:pic>
      <p:sp>
        <p:nvSpPr>
          <p:cNvPr id="26" name="Strzałka: w prawo 25">
            <a:extLst>
              <a:ext uri="{FF2B5EF4-FFF2-40B4-BE49-F238E27FC236}">
                <a16:creationId xmlns:a16="http://schemas.microsoft.com/office/drawing/2014/main" id="{84C1CBA7-5FDD-1202-88CE-A7C02265906C}"/>
              </a:ext>
            </a:extLst>
          </p:cNvPr>
          <p:cNvSpPr/>
          <p:nvPr/>
        </p:nvSpPr>
        <p:spPr>
          <a:xfrm>
            <a:off x="3459892" y="5337834"/>
            <a:ext cx="3249827" cy="457200"/>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Obraz 27">
            <a:extLst>
              <a:ext uri="{FF2B5EF4-FFF2-40B4-BE49-F238E27FC236}">
                <a16:creationId xmlns:a16="http://schemas.microsoft.com/office/drawing/2014/main" id="{9ED4AA95-A207-C072-EA34-F1759F74D248}"/>
              </a:ext>
            </a:extLst>
          </p:cNvPr>
          <p:cNvPicPr>
            <a:picLocks noChangeAspect="1"/>
          </p:cNvPicPr>
          <p:nvPr/>
        </p:nvPicPr>
        <p:blipFill>
          <a:blip r:embed="rId7"/>
          <a:stretch>
            <a:fillRect/>
          </a:stretch>
        </p:blipFill>
        <p:spPr>
          <a:xfrm>
            <a:off x="9617677" y="2131178"/>
            <a:ext cx="2273220" cy="1496051"/>
          </a:xfrm>
          <a:prstGeom prst="rect">
            <a:avLst/>
          </a:prstGeom>
        </p:spPr>
      </p:pic>
      <p:pic>
        <p:nvPicPr>
          <p:cNvPr id="34" name="Obraz 33">
            <a:extLst>
              <a:ext uri="{FF2B5EF4-FFF2-40B4-BE49-F238E27FC236}">
                <a16:creationId xmlns:a16="http://schemas.microsoft.com/office/drawing/2014/main" id="{A02089C9-78D4-44BB-2908-1B57783C8C48}"/>
              </a:ext>
            </a:extLst>
          </p:cNvPr>
          <p:cNvPicPr>
            <a:picLocks noChangeAspect="1"/>
          </p:cNvPicPr>
          <p:nvPr/>
        </p:nvPicPr>
        <p:blipFill>
          <a:blip r:embed="rId8"/>
          <a:stretch>
            <a:fillRect/>
          </a:stretch>
        </p:blipFill>
        <p:spPr>
          <a:xfrm>
            <a:off x="9808825" y="4509192"/>
            <a:ext cx="1868309" cy="1961724"/>
          </a:xfrm>
          <a:prstGeom prst="rect">
            <a:avLst/>
          </a:prstGeom>
        </p:spPr>
      </p:pic>
    </p:spTree>
    <p:extLst>
      <p:ext uri="{BB962C8B-B14F-4D97-AF65-F5344CB8AC3E}">
        <p14:creationId xmlns:p14="http://schemas.microsoft.com/office/powerpoint/2010/main" val="3104196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9CE0A982-15CD-DA45-AC1C-20D756718469}"/>
              </a:ext>
            </a:extLst>
          </p:cNvPr>
          <p:cNvSpPr txBox="1"/>
          <p:nvPr/>
        </p:nvSpPr>
        <p:spPr>
          <a:xfrm>
            <a:off x="1404985" y="190554"/>
            <a:ext cx="9683052" cy="646331"/>
          </a:xfrm>
          <a:prstGeom prst="rect">
            <a:avLst/>
          </a:prstGeom>
          <a:noFill/>
        </p:spPr>
        <p:txBody>
          <a:bodyPr wrap="square">
            <a:spAutoFit/>
          </a:bodyPr>
          <a:lstStyle/>
          <a:p>
            <a:pPr algn="ctr"/>
            <a:r>
              <a:rPr lang="pl-PL" sz="3600" dirty="0"/>
              <a:t>Splotowe sieci neuronowe a przeuczenie</a:t>
            </a:r>
          </a:p>
        </p:txBody>
      </p:sp>
      <p:sp>
        <p:nvSpPr>
          <p:cNvPr id="8" name="pole tekstowe 7">
            <a:extLst>
              <a:ext uri="{FF2B5EF4-FFF2-40B4-BE49-F238E27FC236}">
                <a16:creationId xmlns:a16="http://schemas.microsoft.com/office/drawing/2014/main" id="{98A2AF3C-758B-87DB-FB56-9E4A8CD00EAA}"/>
              </a:ext>
            </a:extLst>
          </p:cNvPr>
          <p:cNvSpPr txBox="1"/>
          <p:nvPr/>
        </p:nvSpPr>
        <p:spPr>
          <a:xfrm>
            <a:off x="579549" y="919649"/>
            <a:ext cx="9271064" cy="369332"/>
          </a:xfrm>
          <a:prstGeom prst="rect">
            <a:avLst/>
          </a:prstGeom>
          <a:noFill/>
        </p:spPr>
        <p:txBody>
          <a:bodyPr wrap="none" rtlCol="0">
            <a:spAutoFit/>
          </a:bodyPr>
          <a:lstStyle/>
          <a:p>
            <a:r>
              <a:rPr lang="pl-PL" dirty="0"/>
              <a:t>Do walki ze zjawiskiem przeuczenie stosuje się technikę zwaną </a:t>
            </a:r>
            <a:r>
              <a:rPr lang="pl-PL" b="1" dirty="0"/>
              <a:t>porzucaniem</a:t>
            </a:r>
            <a:r>
              <a:rPr lang="pl-PL" dirty="0"/>
              <a:t> (ang. </a:t>
            </a:r>
            <a:r>
              <a:rPr lang="pl-PL" dirty="0" err="1"/>
              <a:t>dropout</a:t>
            </a:r>
            <a:r>
              <a:rPr lang="pl-PL" dirty="0"/>
              <a:t>)</a:t>
            </a:r>
            <a:endParaRPr lang="en-US" dirty="0"/>
          </a:p>
        </p:txBody>
      </p:sp>
      <p:pic>
        <p:nvPicPr>
          <p:cNvPr id="10" name="Obraz 9">
            <a:extLst>
              <a:ext uri="{FF2B5EF4-FFF2-40B4-BE49-F238E27FC236}">
                <a16:creationId xmlns:a16="http://schemas.microsoft.com/office/drawing/2014/main" id="{C83A6B1E-7E6C-8FB7-87BD-B6F44A751FF4}"/>
              </a:ext>
            </a:extLst>
          </p:cNvPr>
          <p:cNvPicPr>
            <a:picLocks noChangeAspect="1"/>
          </p:cNvPicPr>
          <p:nvPr/>
        </p:nvPicPr>
        <p:blipFill>
          <a:blip r:embed="rId3"/>
          <a:stretch>
            <a:fillRect/>
          </a:stretch>
        </p:blipFill>
        <p:spPr>
          <a:xfrm>
            <a:off x="1599654" y="2470991"/>
            <a:ext cx="3126892" cy="3098028"/>
          </a:xfrm>
          <a:prstGeom prst="rect">
            <a:avLst/>
          </a:prstGeom>
        </p:spPr>
      </p:pic>
      <p:pic>
        <p:nvPicPr>
          <p:cNvPr id="12" name="Obraz 11">
            <a:extLst>
              <a:ext uri="{FF2B5EF4-FFF2-40B4-BE49-F238E27FC236}">
                <a16:creationId xmlns:a16="http://schemas.microsoft.com/office/drawing/2014/main" id="{F07D947C-5490-334A-62DE-F397DEB54923}"/>
              </a:ext>
            </a:extLst>
          </p:cNvPr>
          <p:cNvPicPr>
            <a:picLocks noChangeAspect="1"/>
          </p:cNvPicPr>
          <p:nvPr/>
        </p:nvPicPr>
        <p:blipFill>
          <a:blip r:embed="rId4"/>
          <a:stretch>
            <a:fillRect/>
          </a:stretch>
        </p:blipFill>
        <p:spPr>
          <a:xfrm>
            <a:off x="7687359" y="2470991"/>
            <a:ext cx="3098028" cy="3098028"/>
          </a:xfrm>
          <a:prstGeom prst="rect">
            <a:avLst/>
          </a:prstGeom>
        </p:spPr>
      </p:pic>
      <p:sp>
        <p:nvSpPr>
          <p:cNvPr id="14" name="pole tekstowe 13">
            <a:extLst>
              <a:ext uri="{FF2B5EF4-FFF2-40B4-BE49-F238E27FC236}">
                <a16:creationId xmlns:a16="http://schemas.microsoft.com/office/drawing/2014/main" id="{A6E681F4-2D51-DD44-DE5A-C7A453490E63}"/>
              </a:ext>
            </a:extLst>
          </p:cNvPr>
          <p:cNvSpPr txBox="1"/>
          <p:nvPr/>
        </p:nvSpPr>
        <p:spPr>
          <a:xfrm>
            <a:off x="579549" y="1372564"/>
            <a:ext cx="11207107" cy="646331"/>
          </a:xfrm>
          <a:prstGeom prst="rect">
            <a:avLst/>
          </a:prstGeom>
          <a:noFill/>
        </p:spPr>
        <p:txBody>
          <a:bodyPr wrap="none" rtlCol="0">
            <a:spAutoFit/>
          </a:bodyPr>
          <a:lstStyle/>
          <a:p>
            <a:r>
              <a:rPr lang="pl-PL" dirty="0"/>
              <a:t>Jednym z hiperparametrów takiej sieci neuronowej jest p – prawdopodobieństwo porzucenia w fazie uczenia się.</a:t>
            </a:r>
          </a:p>
          <a:p>
            <a:r>
              <a:rPr lang="pl-PL" dirty="0"/>
              <a:t>Określa ile procent losowo wybranych neuronów zostanie wyłączonych w procesie uczenia (i tylko uczenia).</a:t>
            </a:r>
            <a:endParaRPr lang="en-US" dirty="0"/>
          </a:p>
        </p:txBody>
      </p:sp>
      <p:sp>
        <p:nvSpPr>
          <p:cNvPr id="15" name="pole tekstowe 14">
            <a:extLst>
              <a:ext uri="{FF2B5EF4-FFF2-40B4-BE49-F238E27FC236}">
                <a16:creationId xmlns:a16="http://schemas.microsoft.com/office/drawing/2014/main" id="{EFB831A5-4DBE-CC73-D4C1-0F5710BB1642}"/>
              </a:ext>
            </a:extLst>
          </p:cNvPr>
          <p:cNvSpPr txBox="1"/>
          <p:nvPr/>
        </p:nvSpPr>
        <p:spPr>
          <a:xfrm>
            <a:off x="824247" y="5836449"/>
            <a:ext cx="5123134" cy="369332"/>
          </a:xfrm>
          <a:prstGeom prst="rect">
            <a:avLst/>
          </a:prstGeom>
          <a:noFill/>
        </p:spPr>
        <p:txBody>
          <a:bodyPr wrap="none" rtlCol="0">
            <a:spAutoFit/>
          </a:bodyPr>
          <a:lstStyle/>
          <a:p>
            <a:r>
              <a:rPr lang="pl-PL" dirty="0"/>
              <a:t>Uczenie: prawdopodobieństwo porzucenia p = 0.5</a:t>
            </a:r>
            <a:endParaRPr lang="en-US" dirty="0"/>
          </a:p>
        </p:txBody>
      </p:sp>
      <p:sp>
        <p:nvSpPr>
          <p:cNvPr id="17" name="pole tekstowe 16">
            <a:extLst>
              <a:ext uri="{FF2B5EF4-FFF2-40B4-BE49-F238E27FC236}">
                <a16:creationId xmlns:a16="http://schemas.microsoft.com/office/drawing/2014/main" id="{BDCDA8CB-D8EE-BA3A-5698-C13127823A7F}"/>
              </a:ext>
            </a:extLst>
          </p:cNvPr>
          <p:cNvSpPr txBox="1"/>
          <p:nvPr/>
        </p:nvSpPr>
        <p:spPr>
          <a:xfrm>
            <a:off x="6985308" y="5836449"/>
            <a:ext cx="4502130" cy="369332"/>
          </a:xfrm>
          <a:prstGeom prst="rect">
            <a:avLst/>
          </a:prstGeom>
          <a:noFill/>
        </p:spPr>
        <p:txBody>
          <a:bodyPr wrap="none" rtlCol="0">
            <a:spAutoFit/>
          </a:bodyPr>
          <a:lstStyle/>
          <a:p>
            <a:r>
              <a:rPr lang="pl-PL" dirty="0"/>
              <a:t>Ocena: wykorzystanie wszystkich jednostek</a:t>
            </a:r>
            <a:endParaRPr lang="en-US" dirty="0"/>
          </a:p>
        </p:txBody>
      </p:sp>
      <p:sp>
        <p:nvSpPr>
          <p:cNvPr id="18" name="pole tekstowe 17">
            <a:extLst>
              <a:ext uri="{FF2B5EF4-FFF2-40B4-BE49-F238E27FC236}">
                <a16:creationId xmlns:a16="http://schemas.microsoft.com/office/drawing/2014/main" id="{E9A78EBB-5890-3E0D-7339-DBD1D85F0997}"/>
              </a:ext>
            </a:extLst>
          </p:cNvPr>
          <p:cNvSpPr txBox="1"/>
          <p:nvPr/>
        </p:nvSpPr>
        <p:spPr>
          <a:xfrm>
            <a:off x="973013" y="2080992"/>
            <a:ext cx="2190087" cy="369332"/>
          </a:xfrm>
          <a:prstGeom prst="rect">
            <a:avLst/>
          </a:prstGeom>
          <a:noFill/>
        </p:spPr>
        <p:txBody>
          <a:bodyPr wrap="none" rtlCol="0">
            <a:spAutoFit/>
          </a:bodyPr>
          <a:lstStyle/>
          <a:p>
            <a:r>
              <a:rPr lang="pl-PL" dirty="0">
                <a:solidFill>
                  <a:schemeClr val="accent6">
                    <a:lumMod val="75000"/>
                  </a:schemeClr>
                </a:solidFill>
              </a:rPr>
              <a:t>Warstwa wejściowa </a:t>
            </a:r>
            <a:endParaRPr lang="en-US" dirty="0">
              <a:solidFill>
                <a:schemeClr val="accent6">
                  <a:lumMod val="75000"/>
                </a:schemeClr>
              </a:solidFill>
            </a:endParaRPr>
          </a:p>
        </p:txBody>
      </p:sp>
      <p:sp>
        <p:nvSpPr>
          <p:cNvPr id="20" name="pole tekstowe 19">
            <a:extLst>
              <a:ext uri="{FF2B5EF4-FFF2-40B4-BE49-F238E27FC236}">
                <a16:creationId xmlns:a16="http://schemas.microsoft.com/office/drawing/2014/main" id="{B62C0B97-3A6A-2DD7-6BB8-1AA6C870D42E}"/>
              </a:ext>
            </a:extLst>
          </p:cNvPr>
          <p:cNvSpPr txBox="1"/>
          <p:nvPr/>
        </p:nvSpPr>
        <p:spPr>
          <a:xfrm>
            <a:off x="3514651" y="2080992"/>
            <a:ext cx="2174698" cy="369332"/>
          </a:xfrm>
          <a:prstGeom prst="rect">
            <a:avLst/>
          </a:prstGeom>
          <a:noFill/>
        </p:spPr>
        <p:txBody>
          <a:bodyPr wrap="none" rtlCol="0">
            <a:spAutoFit/>
          </a:bodyPr>
          <a:lstStyle/>
          <a:p>
            <a:r>
              <a:rPr lang="pl-PL" dirty="0">
                <a:solidFill>
                  <a:schemeClr val="accent6"/>
                </a:solidFill>
              </a:rPr>
              <a:t>Warstwa wyjściowa </a:t>
            </a:r>
            <a:endParaRPr lang="en-US" dirty="0">
              <a:solidFill>
                <a:schemeClr val="accent6"/>
              </a:solidFill>
            </a:endParaRPr>
          </a:p>
        </p:txBody>
      </p:sp>
      <p:sp>
        <p:nvSpPr>
          <p:cNvPr id="22" name="pole tekstowe 21">
            <a:extLst>
              <a:ext uri="{FF2B5EF4-FFF2-40B4-BE49-F238E27FC236}">
                <a16:creationId xmlns:a16="http://schemas.microsoft.com/office/drawing/2014/main" id="{728E44FB-C590-60BE-234F-F13CD190001F}"/>
              </a:ext>
            </a:extLst>
          </p:cNvPr>
          <p:cNvSpPr txBox="1"/>
          <p:nvPr/>
        </p:nvSpPr>
        <p:spPr>
          <a:xfrm>
            <a:off x="6838815" y="2060277"/>
            <a:ext cx="2190087" cy="369332"/>
          </a:xfrm>
          <a:prstGeom prst="rect">
            <a:avLst/>
          </a:prstGeom>
          <a:noFill/>
        </p:spPr>
        <p:txBody>
          <a:bodyPr wrap="none" rtlCol="0">
            <a:spAutoFit/>
          </a:bodyPr>
          <a:lstStyle/>
          <a:p>
            <a:r>
              <a:rPr lang="pl-PL" dirty="0">
                <a:solidFill>
                  <a:schemeClr val="accent6">
                    <a:lumMod val="75000"/>
                  </a:schemeClr>
                </a:solidFill>
              </a:rPr>
              <a:t>Warstwa wejściowa </a:t>
            </a:r>
            <a:endParaRPr lang="en-US" dirty="0">
              <a:solidFill>
                <a:schemeClr val="accent6">
                  <a:lumMod val="75000"/>
                </a:schemeClr>
              </a:solidFill>
            </a:endParaRPr>
          </a:p>
        </p:txBody>
      </p:sp>
      <p:sp>
        <p:nvSpPr>
          <p:cNvPr id="24" name="pole tekstowe 23">
            <a:extLst>
              <a:ext uri="{FF2B5EF4-FFF2-40B4-BE49-F238E27FC236}">
                <a16:creationId xmlns:a16="http://schemas.microsoft.com/office/drawing/2014/main" id="{8FAD4C99-AF11-1F08-7E5E-EC6D27378FB4}"/>
              </a:ext>
            </a:extLst>
          </p:cNvPr>
          <p:cNvSpPr txBox="1"/>
          <p:nvPr/>
        </p:nvSpPr>
        <p:spPr>
          <a:xfrm>
            <a:off x="9437753" y="1967944"/>
            <a:ext cx="2174698" cy="369332"/>
          </a:xfrm>
          <a:prstGeom prst="rect">
            <a:avLst/>
          </a:prstGeom>
          <a:noFill/>
        </p:spPr>
        <p:txBody>
          <a:bodyPr wrap="none" rtlCol="0">
            <a:spAutoFit/>
          </a:bodyPr>
          <a:lstStyle/>
          <a:p>
            <a:r>
              <a:rPr lang="pl-PL" dirty="0">
                <a:solidFill>
                  <a:schemeClr val="accent6"/>
                </a:solidFill>
              </a:rPr>
              <a:t>Warstwa wyjściowa </a:t>
            </a:r>
            <a:endParaRPr lang="en-US" dirty="0">
              <a:solidFill>
                <a:schemeClr val="accent6"/>
              </a:solidFill>
            </a:endParaRPr>
          </a:p>
        </p:txBody>
      </p:sp>
      <p:sp>
        <p:nvSpPr>
          <p:cNvPr id="26" name="pole tekstowe 25">
            <a:extLst>
              <a:ext uri="{FF2B5EF4-FFF2-40B4-BE49-F238E27FC236}">
                <a16:creationId xmlns:a16="http://schemas.microsoft.com/office/drawing/2014/main" id="{33A6F740-3A8B-6881-0DF4-AEDB07813963}"/>
              </a:ext>
            </a:extLst>
          </p:cNvPr>
          <p:cNvSpPr txBox="1"/>
          <p:nvPr/>
        </p:nvSpPr>
        <p:spPr>
          <a:xfrm>
            <a:off x="5199386" y="3537649"/>
            <a:ext cx="2266070" cy="369332"/>
          </a:xfrm>
          <a:prstGeom prst="rect">
            <a:avLst/>
          </a:prstGeom>
          <a:noFill/>
        </p:spPr>
        <p:txBody>
          <a:bodyPr wrap="none" rtlCol="0">
            <a:spAutoFit/>
          </a:bodyPr>
          <a:lstStyle/>
          <a:p>
            <a:r>
              <a:rPr lang="pl-PL" dirty="0">
                <a:solidFill>
                  <a:schemeClr val="tx2">
                    <a:lumMod val="50000"/>
                    <a:lumOff val="50000"/>
                  </a:schemeClr>
                </a:solidFill>
              </a:rPr>
              <a:t>Nie będzie w uczeniu</a:t>
            </a:r>
            <a:endParaRPr lang="en-US" dirty="0">
              <a:solidFill>
                <a:schemeClr val="tx2">
                  <a:lumMod val="50000"/>
                  <a:lumOff val="50000"/>
                </a:schemeClr>
              </a:solidFill>
            </a:endParaRPr>
          </a:p>
        </p:txBody>
      </p:sp>
      <p:cxnSp>
        <p:nvCxnSpPr>
          <p:cNvPr id="28" name="Łącznik prosty ze strzałką 27">
            <a:extLst>
              <a:ext uri="{FF2B5EF4-FFF2-40B4-BE49-F238E27FC236}">
                <a16:creationId xmlns:a16="http://schemas.microsoft.com/office/drawing/2014/main" id="{9BB6554B-EF6F-C433-597B-B7D98B3FC813}"/>
              </a:ext>
            </a:extLst>
          </p:cNvPr>
          <p:cNvCxnSpPr>
            <a:cxnSpLocks/>
          </p:cNvCxnSpPr>
          <p:nvPr/>
        </p:nvCxnSpPr>
        <p:spPr>
          <a:xfrm flipH="1" flipV="1">
            <a:off x="3514651" y="3429000"/>
            <a:ext cx="1598825" cy="1086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Łącznik prosty ze strzałką 28">
            <a:extLst>
              <a:ext uri="{FF2B5EF4-FFF2-40B4-BE49-F238E27FC236}">
                <a16:creationId xmlns:a16="http://schemas.microsoft.com/office/drawing/2014/main" id="{5CEB2863-B593-60F3-C09C-96A8571ABA4A}"/>
              </a:ext>
            </a:extLst>
          </p:cNvPr>
          <p:cNvCxnSpPr>
            <a:cxnSpLocks/>
            <a:stCxn id="26" idx="1"/>
          </p:cNvCxnSpPr>
          <p:nvPr/>
        </p:nvCxnSpPr>
        <p:spPr>
          <a:xfrm flipH="1">
            <a:off x="3600561" y="3722315"/>
            <a:ext cx="1598825" cy="586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Łącznik prosty ze strzałką 31">
            <a:extLst>
              <a:ext uri="{FF2B5EF4-FFF2-40B4-BE49-F238E27FC236}">
                <a16:creationId xmlns:a16="http://schemas.microsoft.com/office/drawing/2014/main" id="{98572C70-2C50-CE72-7437-FDADC9892AF9}"/>
              </a:ext>
            </a:extLst>
          </p:cNvPr>
          <p:cNvCxnSpPr>
            <a:cxnSpLocks/>
          </p:cNvCxnSpPr>
          <p:nvPr/>
        </p:nvCxnSpPr>
        <p:spPr>
          <a:xfrm flipH="1">
            <a:off x="3514651" y="3874715"/>
            <a:ext cx="1751225" cy="8969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7530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F242D522-6863-2BD6-1E31-87B5FCF0A034}"/>
              </a:ext>
            </a:extLst>
          </p:cNvPr>
          <p:cNvSpPr txBox="1"/>
          <p:nvPr/>
        </p:nvSpPr>
        <p:spPr>
          <a:xfrm>
            <a:off x="1216152" y="72253"/>
            <a:ext cx="9921240" cy="1200329"/>
          </a:xfrm>
          <a:prstGeom prst="rect">
            <a:avLst/>
          </a:prstGeom>
          <a:noFill/>
        </p:spPr>
        <p:txBody>
          <a:bodyPr wrap="square">
            <a:spAutoFit/>
          </a:bodyPr>
          <a:lstStyle/>
          <a:p>
            <a:pPr algn="ctr"/>
            <a:r>
              <a:rPr lang="pl-PL" sz="3600" dirty="0"/>
              <a:t>Sieci neuronowe – problemy do rozważenia przy projektowaniu</a:t>
            </a:r>
          </a:p>
        </p:txBody>
      </p:sp>
      <p:sp>
        <p:nvSpPr>
          <p:cNvPr id="2" name="pole tekstowe 1">
            <a:extLst>
              <a:ext uri="{FF2B5EF4-FFF2-40B4-BE49-F238E27FC236}">
                <a16:creationId xmlns:a16="http://schemas.microsoft.com/office/drawing/2014/main" id="{FFE7C452-8C79-CD6C-C00D-CEEA27E223D5}"/>
              </a:ext>
            </a:extLst>
          </p:cNvPr>
          <p:cNvSpPr txBox="1"/>
          <p:nvPr/>
        </p:nvSpPr>
        <p:spPr>
          <a:xfrm>
            <a:off x="815248" y="1437190"/>
            <a:ext cx="10950765" cy="4247317"/>
          </a:xfrm>
          <a:prstGeom prst="rect">
            <a:avLst/>
          </a:prstGeom>
          <a:noFill/>
        </p:spPr>
        <p:txBody>
          <a:bodyPr wrap="square" rtlCol="0">
            <a:spAutoFit/>
          </a:bodyPr>
          <a:lstStyle/>
          <a:p>
            <a:pPr marL="285750" indent="-285750">
              <a:buFont typeface="Wingdings" panose="05000000000000000000" pitchFamily="2" charset="2"/>
              <a:buChar char="Ø"/>
            </a:pPr>
            <a:r>
              <a:rPr lang="pl-PL" dirty="0"/>
              <a:t>Jakie powinny być funkcje aktywacji neuronów</a:t>
            </a:r>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r>
              <a:rPr lang="pl-PL" dirty="0"/>
              <a:t>Czy i w jaki sposób wstępnie przetworzyć dane</a:t>
            </a:r>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r>
              <a:rPr lang="pl-PL" dirty="0"/>
              <a:t>Jaką metodę uczenia wybrać</a:t>
            </a:r>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r>
              <a:rPr lang="pl-PL" dirty="0"/>
              <a:t>Ile powinno być neuronów w warstwie ukrytej</a:t>
            </a:r>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r>
              <a:rPr lang="pl-PL" dirty="0"/>
              <a:t>Jak długo sieć ma się uczyć</a:t>
            </a:r>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r>
              <a:rPr lang="pl-PL" dirty="0"/>
              <a:t>Jak rozdzielić dane wejściowe na treningowe i testowe</a:t>
            </a:r>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r>
              <a:rPr lang="pl-PL" dirty="0"/>
              <a:t>Jak bardzo zróżnicowany powinien być zbiór treningowy</a:t>
            </a:r>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r>
              <a:rPr lang="pl-PL" dirty="0"/>
              <a:t>Ile powinno być warstw neuronów</a:t>
            </a:r>
            <a:endParaRPr lang="en-US" dirty="0"/>
          </a:p>
        </p:txBody>
      </p:sp>
      <mc:AlternateContent xmlns:mc="http://schemas.openxmlformats.org/markup-compatibility/2006" xmlns:p14="http://schemas.microsoft.com/office/powerpoint/2010/main">
        <mc:Choice Requires="p14">
          <p:contentPart p14:bwMode="auto" r:id="rId3">
            <p14:nvContentPartPr>
              <p14:cNvPr id="3" name="Pismo odręczne 2">
                <a:extLst>
                  <a:ext uri="{FF2B5EF4-FFF2-40B4-BE49-F238E27FC236}">
                    <a16:creationId xmlns:a16="http://schemas.microsoft.com/office/drawing/2014/main" id="{29033BC6-A999-0593-A53A-B106AF072C05}"/>
                  </a:ext>
                </a:extLst>
              </p14:cNvPr>
              <p14:cNvContentPartPr/>
              <p14:nvPr/>
            </p14:nvContentPartPr>
            <p14:xfrm>
              <a:off x="3238851" y="4803324"/>
              <a:ext cx="360" cy="360"/>
            </p14:xfrm>
          </p:contentPart>
        </mc:Choice>
        <mc:Fallback xmlns="">
          <p:pic>
            <p:nvPicPr>
              <p:cNvPr id="3" name="Pismo odręczne 2">
                <a:extLst>
                  <a:ext uri="{FF2B5EF4-FFF2-40B4-BE49-F238E27FC236}">
                    <a16:creationId xmlns:a16="http://schemas.microsoft.com/office/drawing/2014/main" id="{29033BC6-A999-0593-A53A-B106AF072C05}"/>
                  </a:ext>
                </a:extLst>
              </p:cNvPr>
              <p:cNvPicPr/>
              <p:nvPr/>
            </p:nvPicPr>
            <p:blipFill>
              <a:blip r:embed="rId4"/>
              <a:stretch>
                <a:fillRect/>
              </a:stretch>
            </p:blipFill>
            <p:spPr>
              <a:xfrm>
                <a:off x="3220851" y="4785324"/>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Pismo odręczne 3">
                <a:extLst>
                  <a:ext uri="{FF2B5EF4-FFF2-40B4-BE49-F238E27FC236}">
                    <a16:creationId xmlns:a16="http://schemas.microsoft.com/office/drawing/2014/main" id="{0EAB268C-0AD5-6E5C-0C88-2C62A7A3ECC7}"/>
                  </a:ext>
                </a:extLst>
              </p14:cNvPr>
              <p14:cNvContentPartPr/>
              <p14:nvPr/>
            </p14:nvContentPartPr>
            <p14:xfrm>
              <a:off x="3249651" y="5012484"/>
              <a:ext cx="360" cy="360"/>
            </p14:xfrm>
          </p:contentPart>
        </mc:Choice>
        <mc:Fallback xmlns="">
          <p:pic>
            <p:nvPicPr>
              <p:cNvPr id="4" name="Pismo odręczne 3">
                <a:extLst>
                  <a:ext uri="{FF2B5EF4-FFF2-40B4-BE49-F238E27FC236}">
                    <a16:creationId xmlns:a16="http://schemas.microsoft.com/office/drawing/2014/main" id="{0EAB268C-0AD5-6E5C-0C88-2C62A7A3ECC7}"/>
                  </a:ext>
                </a:extLst>
              </p:cNvPr>
              <p:cNvPicPr/>
              <p:nvPr/>
            </p:nvPicPr>
            <p:blipFill>
              <a:blip r:embed="rId4"/>
              <a:stretch>
                <a:fillRect/>
              </a:stretch>
            </p:blipFill>
            <p:spPr>
              <a:xfrm>
                <a:off x="3232011" y="4994844"/>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Pismo odręczne 4">
                <a:extLst>
                  <a:ext uri="{FF2B5EF4-FFF2-40B4-BE49-F238E27FC236}">
                    <a16:creationId xmlns:a16="http://schemas.microsoft.com/office/drawing/2014/main" id="{FEC870AF-6DF1-DB25-1ED4-DF9FB0A1461B}"/>
                  </a:ext>
                </a:extLst>
              </p14:cNvPr>
              <p14:cNvContentPartPr/>
              <p14:nvPr/>
            </p14:nvContentPartPr>
            <p14:xfrm>
              <a:off x="-925629" y="5177724"/>
              <a:ext cx="360" cy="360"/>
            </p14:xfrm>
          </p:contentPart>
        </mc:Choice>
        <mc:Fallback xmlns="">
          <p:pic>
            <p:nvPicPr>
              <p:cNvPr id="5" name="Pismo odręczne 4">
                <a:extLst>
                  <a:ext uri="{FF2B5EF4-FFF2-40B4-BE49-F238E27FC236}">
                    <a16:creationId xmlns:a16="http://schemas.microsoft.com/office/drawing/2014/main" id="{FEC870AF-6DF1-DB25-1ED4-DF9FB0A1461B}"/>
                  </a:ext>
                </a:extLst>
              </p:cNvPr>
              <p:cNvPicPr/>
              <p:nvPr/>
            </p:nvPicPr>
            <p:blipFill>
              <a:blip r:embed="rId4"/>
              <a:stretch>
                <a:fillRect/>
              </a:stretch>
            </p:blipFill>
            <p:spPr>
              <a:xfrm>
                <a:off x="-943269" y="5160084"/>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Pismo odręczne 7">
                <a:extLst>
                  <a:ext uri="{FF2B5EF4-FFF2-40B4-BE49-F238E27FC236}">
                    <a16:creationId xmlns:a16="http://schemas.microsoft.com/office/drawing/2014/main" id="{4CF5FB33-2EEA-DBF3-63B2-89D264DBC837}"/>
                  </a:ext>
                </a:extLst>
              </p14:cNvPr>
              <p14:cNvContentPartPr/>
              <p14:nvPr/>
            </p14:nvContentPartPr>
            <p14:xfrm>
              <a:off x="-1696749" y="4450524"/>
              <a:ext cx="360" cy="360"/>
            </p14:xfrm>
          </p:contentPart>
        </mc:Choice>
        <mc:Fallback xmlns="">
          <p:pic>
            <p:nvPicPr>
              <p:cNvPr id="8" name="Pismo odręczne 7">
                <a:extLst>
                  <a:ext uri="{FF2B5EF4-FFF2-40B4-BE49-F238E27FC236}">
                    <a16:creationId xmlns:a16="http://schemas.microsoft.com/office/drawing/2014/main" id="{4CF5FB33-2EEA-DBF3-63B2-89D264DBC837}"/>
                  </a:ext>
                </a:extLst>
              </p:cNvPr>
              <p:cNvPicPr/>
              <p:nvPr/>
            </p:nvPicPr>
            <p:blipFill>
              <a:blip r:embed="rId4"/>
              <a:stretch>
                <a:fillRect/>
              </a:stretch>
            </p:blipFill>
            <p:spPr>
              <a:xfrm>
                <a:off x="-1714749" y="4432884"/>
                <a:ext cx="36000" cy="36000"/>
              </a:xfrm>
              <a:prstGeom prst="rect">
                <a:avLst/>
              </a:prstGeom>
            </p:spPr>
          </p:pic>
        </mc:Fallback>
      </mc:AlternateContent>
    </p:spTree>
    <p:extLst>
      <p:ext uri="{BB962C8B-B14F-4D97-AF65-F5344CB8AC3E}">
        <p14:creationId xmlns:p14="http://schemas.microsoft.com/office/powerpoint/2010/main" val="3075039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AFE23F8D-1964-8053-06E2-D27B0FAFBE03}"/>
              </a:ext>
            </a:extLst>
          </p:cNvPr>
          <p:cNvGraphicFramePr/>
          <p:nvPr>
            <p:extLst>
              <p:ext uri="{D42A27DB-BD31-4B8C-83A1-F6EECF244321}">
                <p14:modId xmlns:p14="http://schemas.microsoft.com/office/powerpoint/2010/main" val="490934248"/>
              </p:ext>
            </p:extLst>
          </p:nvPr>
        </p:nvGraphicFramePr>
        <p:xfrm>
          <a:off x="2032000" y="546151"/>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7" name="Straight Arrow Connector 12">
            <a:extLst>
              <a:ext uri="{FF2B5EF4-FFF2-40B4-BE49-F238E27FC236}">
                <a16:creationId xmlns:a16="http://schemas.microsoft.com/office/drawing/2014/main" id="{B82E2724-7E3D-FDE6-BCE8-3E1B8E86E528}"/>
              </a:ext>
            </a:extLst>
          </p:cNvPr>
          <p:cNvCxnSpPr>
            <a:cxnSpLocks/>
          </p:cNvCxnSpPr>
          <p:nvPr/>
        </p:nvCxnSpPr>
        <p:spPr>
          <a:xfrm flipH="1" flipV="1">
            <a:off x="6130040" y="4410517"/>
            <a:ext cx="66184" cy="1569685"/>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18">
            <a:extLst>
              <a:ext uri="{FF2B5EF4-FFF2-40B4-BE49-F238E27FC236}">
                <a16:creationId xmlns:a16="http://schemas.microsoft.com/office/drawing/2014/main" id="{FB726613-9037-B947-11AF-624A369A72C9}"/>
              </a:ext>
            </a:extLst>
          </p:cNvPr>
          <p:cNvSpPr txBox="1"/>
          <p:nvPr/>
        </p:nvSpPr>
        <p:spPr>
          <a:xfrm>
            <a:off x="5231812" y="5980202"/>
            <a:ext cx="2874761" cy="461665"/>
          </a:xfrm>
          <a:prstGeom prst="rect">
            <a:avLst/>
          </a:prstGeom>
          <a:noFill/>
        </p:spPr>
        <p:txBody>
          <a:bodyPr wrap="none" rtlCol="0">
            <a:spAutoFit/>
          </a:bodyPr>
          <a:lstStyle/>
          <a:p>
            <a:r>
              <a:rPr lang="pl-PL" sz="2400" dirty="0">
                <a:solidFill>
                  <a:srgbClr val="0070C0"/>
                </a:solidFill>
              </a:rPr>
              <a:t>Uczenie maszynowe</a:t>
            </a:r>
            <a:endParaRPr lang="en-US" sz="2400" dirty="0">
              <a:solidFill>
                <a:srgbClr val="0070C0"/>
              </a:solidFill>
            </a:endParaRPr>
          </a:p>
        </p:txBody>
      </p:sp>
      <p:cxnSp>
        <p:nvCxnSpPr>
          <p:cNvPr id="9" name="Straight Arrow Connector 19">
            <a:extLst>
              <a:ext uri="{FF2B5EF4-FFF2-40B4-BE49-F238E27FC236}">
                <a16:creationId xmlns:a16="http://schemas.microsoft.com/office/drawing/2014/main" id="{46DC8E37-345B-2904-60A3-03803EA14389}"/>
              </a:ext>
            </a:extLst>
          </p:cNvPr>
          <p:cNvCxnSpPr>
            <a:cxnSpLocks/>
          </p:cNvCxnSpPr>
          <p:nvPr/>
        </p:nvCxnSpPr>
        <p:spPr>
          <a:xfrm>
            <a:off x="3884812" y="1100790"/>
            <a:ext cx="1296888" cy="191005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22">
            <a:extLst>
              <a:ext uri="{FF2B5EF4-FFF2-40B4-BE49-F238E27FC236}">
                <a16:creationId xmlns:a16="http://schemas.microsoft.com/office/drawing/2014/main" id="{9C0CEA2C-BE2E-EAB8-067D-EE1EB3EC52CA}"/>
              </a:ext>
            </a:extLst>
          </p:cNvPr>
          <p:cNvSpPr txBox="1"/>
          <p:nvPr/>
        </p:nvSpPr>
        <p:spPr>
          <a:xfrm>
            <a:off x="2109406" y="582943"/>
            <a:ext cx="2959593" cy="461665"/>
          </a:xfrm>
          <a:prstGeom prst="rect">
            <a:avLst/>
          </a:prstGeom>
          <a:noFill/>
        </p:spPr>
        <p:txBody>
          <a:bodyPr wrap="none" rtlCol="0">
            <a:spAutoFit/>
          </a:bodyPr>
          <a:lstStyle/>
          <a:p>
            <a:r>
              <a:rPr lang="pl-PL" sz="2400" dirty="0">
                <a:solidFill>
                  <a:srgbClr val="FF0000"/>
                </a:solidFill>
              </a:rPr>
              <a:t>Niebezpieczna strefa</a:t>
            </a:r>
            <a:endParaRPr lang="en-US" sz="2400" dirty="0">
              <a:solidFill>
                <a:srgbClr val="FF0000"/>
              </a:solidFill>
            </a:endParaRPr>
          </a:p>
        </p:txBody>
      </p:sp>
      <p:cxnSp>
        <p:nvCxnSpPr>
          <p:cNvPr id="11" name="Straight Arrow Connector 23">
            <a:extLst>
              <a:ext uri="{FF2B5EF4-FFF2-40B4-BE49-F238E27FC236}">
                <a16:creationId xmlns:a16="http://schemas.microsoft.com/office/drawing/2014/main" id="{54AD9F42-0F32-AA81-8861-3F5C340F97E2}"/>
              </a:ext>
            </a:extLst>
          </p:cNvPr>
          <p:cNvCxnSpPr>
            <a:cxnSpLocks/>
          </p:cNvCxnSpPr>
          <p:nvPr/>
        </p:nvCxnSpPr>
        <p:spPr>
          <a:xfrm flipH="1">
            <a:off x="6926512" y="1881385"/>
            <a:ext cx="1648326" cy="1253784"/>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26">
            <a:extLst>
              <a:ext uri="{FF2B5EF4-FFF2-40B4-BE49-F238E27FC236}">
                <a16:creationId xmlns:a16="http://schemas.microsoft.com/office/drawing/2014/main" id="{C42010BF-D6D9-D625-EAB3-F26DB3E7BF52}"/>
              </a:ext>
            </a:extLst>
          </p:cNvPr>
          <p:cNvSpPr txBox="1"/>
          <p:nvPr/>
        </p:nvSpPr>
        <p:spPr>
          <a:xfrm>
            <a:off x="7813753" y="1419720"/>
            <a:ext cx="2532488" cy="461665"/>
          </a:xfrm>
          <a:prstGeom prst="rect">
            <a:avLst/>
          </a:prstGeom>
          <a:noFill/>
        </p:spPr>
        <p:txBody>
          <a:bodyPr wrap="none" rtlCol="0">
            <a:spAutoFit/>
          </a:bodyPr>
          <a:lstStyle/>
          <a:p>
            <a:r>
              <a:rPr lang="pl-PL" sz="2400" dirty="0">
                <a:solidFill>
                  <a:srgbClr val="FFC000"/>
                </a:solidFill>
              </a:rPr>
              <a:t>Badanie naukowe</a:t>
            </a:r>
            <a:endParaRPr lang="en-US" sz="2400" dirty="0">
              <a:solidFill>
                <a:srgbClr val="FFC000"/>
              </a:solidFill>
            </a:endParaRPr>
          </a:p>
        </p:txBody>
      </p:sp>
      <p:cxnSp>
        <p:nvCxnSpPr>
          <p:cNvPr id="13" name="Straight Arrow Connector 27">
            <a:extLst>
              <a:ext uri="{FF2B5EF4-FFF2-40B4-BE49-F238E27FC236}">
                <a16:creationId xmlns:a16="http://schemas.microsoft.com/office/drawing/2014/main" id="{46B8A970-AE92-2D21-2572-AEE0AE4CE785}"/>
              </a:ext>
            </a:extLst>
          </p:cNvPr>
          <p:cNvCxnSpPr>
            <a:cxnSpLocks/>
          </p:cNvCxnSpPr>
          <p:nvPr/>
        </p:nvCxnSpPr>
        <p:spPr>
          <a:xfrm>
            <a:off x="3686627" y="2886281"/>
            <a:ext cx="2443413" cy="597804"/>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31">
            <a:extLst>
              <a:ext uri="{FF2B5EF4-FFF2-40B4-BE49-F238E27FC236}">
                <a16:creationId xmlns:a16="http://schemas.microsoft.com/office/drawing/2014/main" id="{CAD4D051-9B56-41F5-AEA4-5F88B1A8D46B}"/>
              </a:ext>
            </a:extLst>
          </p:cNvPr>
          <p:cNvSpPr txBox="1"/>
          <p:nvPr/>
        </p:nvSpPr>
        <p:spPr>
          <a:xfrm>
            <a:off x="649917" y="2301506"/>
            <a:ext cx="3337302" cy="584775"/>
          </a:xfrm>
          <a:prstGeom prst="rect">
            <a:avLst/>
          </a:prstGeom>
          <a:noFill/>
        </p:spPr>
        <p:txBody>
          <a:bodyPr wrap="square" rtlCol="0">
            <a:spAutoFit/>
          </a:bodyPr>
          <a:lstStyle/>
          <a:p>
            <a:r>
              <a:rPr lang="pl-PL" sz="3200" dirty="0">
                <a:solidFill>
                  <a:srgbClr val="00B050"/>
                </a:solidFill>
              </a:rPr>
              <a:t>Nauka o Danych</a:t>
            </a:r>
            <a:endParaRPr lang="en-US" sz="3200" dirty="0">
              <a:solidFill>
                <a:srgbClr val="00B050"/>
              </a:solidFill>
            </a:endParaRPr>
          </a:p>
        </p:txBody>
      </p:sp>
      <p:sp>
        <p:nvSpPr>
          <p:cNvPr id="16" name="pole tekstowe 15">
            <a:extLst>
              <a:ext uri="{FF2B5EF4-FFF2-40B4-BE49-F238E27FC236}">
                <a16:creationId xmlns:a16="http://schemas.microsoft.com/office/drawing/2014/main" id="{04F7A82A-6BB5-F733-6151-C7FFB4C9ABE8}"/>
              </a:ext>
            </a:extLst>
          </p:cNvPr>
          <p:cNvSpPr txBox="1"/>
          <p:nvPr/>
        </p:nvSpPr>
        <p:spPr>
          <a:xfrm>
            <a:off x="1135380" y="-7206"/>
            <a:ext cx="9921240" cy="646331"/>
          </a:xfrm>
          <a:prstGeom prst="rect">
            <a:avLst/>
          </a:prstGeom>
          <a:noFill/>
        </p:spPr>
        <p:txBody>
          <a:bodyPr wrap="square">
            <a:spAutoFit/>
          </a:bodyPr>
          <a:lstStyle/>
          <a:p>
            <a:pPr algn="ctr"/>
            <a:r>
              <a:rPr lang="pl-PL" sz="3600" dirty="0"/>
              <a:t>Nauka o Danych</a:t>
            </a:r>
          </a:p>
        </p:txBody>
      </p:sp>
      <mc:AlternateContent xmlns:mc="http://schemas.openxmlformats.org/markup-compatibility/2006" xmlns:p14="http://schemas.microsoft.com/office/powerpoint/2010/main">
        <mc:Choice Requires="p14">
          <p:contentPart p14:bwMode="auto" r:id="rId8">
            <p14:nvContentPartPr>
              <p14:cNvPr id="17" name="Pismo odręczne 16">
                <a:extLst>
                  <a:ext uri="{FF2B5EF4-FFF2-40B4-BE49-F238E27FC236}">
                    <a16:creationId xmlns:a16="http://schemas.microsoft.com/office/drawing/2014/main" id="{CFD748B7-CC04-35F6-9CF4-9E24F2C980E4}"/>
                  </a:ext>
                </a:extLst>
              </p14:cNvPr>
              <p14:cNvContentPartPr/>
              <p14:nvPr/>
            </p14:nvContentPartPr>
            <p14:xfrm>
              <a:off x="8218371" y="4902393"/>
              <a:ext cx="360" cy="360"/>
            </p14:xfrm>
          </p:contentPart>
        </mc:Choice>
        <mc:Fallback xmlns="">
          <p:pic>
            <p:nvPicPr>
              <p:cNvPr id="17" name="Pismo odręczne 16">
                <a:extLst>
                  <a:ext uri="{FF2B5EF4-FFF2-40B4-BE49-F238E27FC236}">
                    <a16:creationId xmlns:a16="http://schemas.microsoft.com/office/drawing/2014/main" id="{CFD748B7-CC04-35F6-9CF4-9E24F2C980E4}"/>
                  </a:ext>
                </a:extLst>
              </p:cNvPr>
              <p:cNvPicPr/>
              <p:nvPr/>
            </p:nvPicPr>
            <p:blipFill>
              <a:blip r:embed="rId9"/>
              <a:stretch>
                <a:fillRect/>
              </a:stretch>
            </p:blipFill>
            <p:spPr>
              <a:xfrm>
                <a:off x="8200731" y="488439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Pismo odręczne 17">
                <a:extLst>
                  <a:ext uri="{FF2B5EF4-FFF2-40B4-BE49-F238E27FC236}">
                    <a16:creationId xmlns:a16="http://schemas.microsoft.com/office/drawing/2014/main" id="{379EF84E-C29B-C915-5C55-C92BE2EB2F5D}"/>
                  </a:ext>
                </a:extLst>
              </p14:cNvPr>
              <p14:cNvContentPartPr/>
              <p14:nvPr/>
            </p14:nvContentPartPr>
            <p14:xfrm>
              <a:off x="8031171" y="4417473"/>
              <a:ext cx="360" cy="360"/>
            </p14:xfrm>
          </p:contentPart>
        </mc:Choice>
        <mc:Fallback xmlns="">
          <p:pic>
            <p:nvPicPr>
              <p:cNvPr id="18" name="Pismo odręczne 17">
                <a:extLst>
                  <a:ext uri="{FF2B5EF4-FFF2-40B4-BE49-F238E27FC236}">
                    <a16:creationId xmlns:a16="http://schemas.microsoft.com/office/drawing/2014/main" id="{379EF84E-C29B-C915-5C55-C92BE2EB2F5D}"/>
                  </a:ext>
                </a:extLst>
              </p:cNvPr>
              <p:cNvPicPr/>
              <p:nvPr/>
            </p:nvPicPr>
            <p:blipFill>
              <a:blip r:embed="rId9"/>
              <a:stretch>
                <a:fillRect/>
              </a:stretch>
            </p:blipFill>
            <p:spPr>
              <a:xfrm>
                <a:off x="8013171" y="4399833"/>
                <a:ext cx="36000" cy="36000"/>
              </a:xfrm>
              <a:prstGeom prst="rect">
                <a:avLst/>
              </a:prstGeom>
            </p:spPr>
          </p:pic>
        </mc:Fallback>
      </mc:AlternateContent>
      <p:grpSp>
        <p:nvGrpSpPr>
          <p:cNvPr id="21" name="Grupa 20">
            <a:extLst>
              <a:ext uri="{FF2B5EF4-FFF2-40B4-BE49-F238E27FC236}">
                <a16:creationId xmlns:a16="http://schemas.microsoft.com/office/drawing/2014/main" id="{810E3297-ED66-F4D7-9106-1C388C6B1343}"/>
              </a:ext>
            </a:extLst>
          </p:cNvPr>
          <p:cNvGrpSpPr/>
          <p:nvPr/>
        </p:nvGrpSpPr>
        <p:grpSpPr>
          <a:xfrm>
            <a:off x="7414131" y="4098153"/>
            <a:ext cx="360" cy="360"/>
            <a:chOff x="7414131" y="4098153"/>
            <a:chExt cx="360" cy="360"/>
          </a:xfrm>
        </p:grpSpPr>
        <mc:AlternateContent xmlns:mc="http://schemas.openxmlformats.org/markup-compatibility/2006" xmlns:p14="http://schemas.microsoft.com/office/powerpoint/2010/main">
          <mc:Choice Requires="p14">
            <p:contentPart p14:bwMode="auto" r:id="rId11">
              <p14:nvContentPartPr>
                <p14:cNvPr id="19" name="Pismo odręczne 18">
                  <a:extLst>
                    <a:ext uri="{FF2B5EF4-FFF2-40B4-BE49-F238E27FC236}">
                      <a16:creationId xmlns:a16="http://schemas.microsoft.com/office/drawing/2014/main" id="{CA4EBB6D-0130-A5CE-F2E6-8843E854871E}"/>
                    </a:ext>
                  </a:extLst>
                </p14:cNvPr>
                <p14:cNvContentPartPr/>
                <p14:nvPr/>
              </p14:nvContentPartPr>
              <p14:xfrm>
                <a:off x="7414131" y="4098153"/>
                <a:ext cx="360" cy="360"/>
              </p14:xfrm>
            </p:contentPart>
          </mc:Choice>
          <mc:Fallback xmlns="">
            <p:pic>
              <p:nvPicPr>
                <p:cNvPr id="19" name="Pismo odręczne 18">
                  <a:extLst>
                    <a:ext uri="{FF2B5EF4-FFF2-40B4-BE49-F238E27FC236}">
                      <a16:creationId xmlns:a16="http://schemas.microsoft.com/office/drawing/2014/main" id="{CA4EBB6D-0130-A5CE-F2E6-8843E854871E}"/>
                    </a:ext>
                  </a:extLst>
                </p:cNvPr>
                <p:cNvPicPr/>
                <p:nvPr/>
              </p:nvPicPr>
              <p:blipFill>
                <a:blip r:embed="rId9"/>
                <a:stretch>
                  <a:fillRect/>
                </a:stretch>
              </p:blipFill>
              <p:spPr>
                <a:xfrm>
                  <a:off x="7396491" y="408015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0" name="Pismo odręczne 19">
                  <a:extLst>
                    <a:ext uri="{FF2B5EF4-FFF2-40B4-BE49-F238E27FC236}">
                      <a16:creationId xmlns:a16="http://schemas.microsoft.com/office/drawing/2014/main" id="{8D8712FE-A9A1-2913-2D4F-DBD88EE21C59}"/>
                    </a:ext>
                  </a:extLst>
                </p14:cNvPr>
                <p14:cNvContentPartPr/>
                <p14:nvPr/>
              </p14:nvContentPartPr>
              <p14:xfrm>
                <a:off x="7414131" y="4098153"/>
                <a:ext cx="360" cy="360"/>
              </p14:xfrm>
            </p:contentPart>
          </mc:Choice>
          <mc:Fallback xmlns="">
            <p:pic>
              <p:nvPicPr>
                <p:cNvPr id="20" name="Pismo odręczne 19">
                  <a:extLst>
                    <a:ext uri="{FF2B5EF4-FFF2-40B4-BE49-F238E27FC236}">
                      <a16:creationId xmlns:a16="http://schemas.microsoft.com/office/drawing/2014/main" id="{8D8712FE-A9A1-2913-2D4F-DBD88EE21C59}"/>
                    </a:ext>
                  </a:extLst>
                </p:cNvPr>
                <p:cNvPicPr/>
                <p:nvPr/>
              </p:nvPicPr>
              <p:blipFill>
                <a:blip r:embed="rId9"/>
                <a:stretch>
                  <a:fillRect/>
                </a:stretch>
              </p:blipFill>
              <p:spPr>
                <a:xfrm>
                  <a:off x="7396491" y="4080153"/>
                  <a:ext cx="36000" cy="3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22" name="Pismo odręczne 21">
                <a:extLst>
                  <a:ext uri="{FF2B5EF4-FFF2-40B4-BE49-F238E27FC236}">
                    <a16:creationId xmlns:a16="http://schemas.microsoft.com/office/drawing/2014/main" id="{FFDFB862-DBBF-D2CD-83DB-31C331DACE13}"/>
                  </a:ext>
                </a:extLst>
              </p14:cNvPr>
              <p14:cNvContentPartPr/>
              <p14:nvPr/>
            </p14:nvContentPartPr>
            <p14:xfrm>
              <a:off x="5982051" y="275313"/>
              <a:ext cx="360" cy="360"/>
            </p14:xfrm>
          </p:contentPart>
        </mc:Choice>
        <mc:Fallback xmlns="">
          <p:pic>
            <p:nvPicPr>
              <p:cNvPr id="22" name="Pismo odręczne 21">
                <a:extLst>
                  <a:ext uri="{FF2B5EF4-FFF2-40B4-BE49-F238E27FC236}">
                    <a16:creationId xmlns:a16="http://schemas.microsoft.com/office/drawing/2014/main" id="{FFDFB862-DBBF-D2CD-83DB-31C331DACE13}"/>
                  </a:ext>
                </a:extLst>
              </p:cNvPr>
              <p:cNvPicPr/>
              <p:nvPr/>
            </p:nvPicPr>
            <p:blipFill>
              <a:blip r:embed="rId9"/>
              <a:stretch>
                <a:fillRect/>
              </a:stretch>
            </p:blipFill>
            <p:spPr>
              <a:xfrm>
                <a:off x="5964051" y="25731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Pismo odręczne 22">
                <a:extLst>
                  <a:ext uri="{FF2B5EF4-FFF2-40B4-BE49-F238E27FC236}">
                    <a16:creationId xmlns:a16="http://schemas.microsoft.com/office/drawing/2014/main" id="{C3BA293C-08C7-DFC8-CEC5-9522B6CCC415}"/>
                  </a:ext>
                </a:extLst>
              </p14:cNvPr>
              <p14:cNvContentPartPr/>
              <p14:nvPr/>
            </p14:nvContentPartPr>
            <p14:xfrm>
              <a:off x="6025971" y="4296513"/>
              <a:ext cx="360" cy="360"/>
            </p14:xfrm>
          </p:contentPart>
        </mc:Choice>
        <mc:Fallback xmlns="">
          <p:pic>
            <p:nvPicPr>
              <p:cNvPr id="23" name="Pismo odręczne 22">
                <a:extLst>
                  <a:ext uri="{FF2B5EF4-FFF2-40B4-BE49-F238E27FC236}">
                    <a16:creationId xmlns:a16="http://schemas.microsoft.com/office/drawing/2014/main" id="{C3BA293C-08C7-DFC8-CEC5-9522B6CCC415}"/>
                  </a:ext>
                </a:extLst>
              </p:cNvPr>
              <p:cNvPicPr/>
              <p:nvPr/>
            </p:nvPicPr>
            <p:blipFill>
              <a:blip r:embed="rId9"/>
              <a:stretch>
                <a:fillRect/>
              </a:stretch>
            </p:blipFill>
            <p:spPr>
              <a:xfrm>
                <a:off x="6008331" y="427851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4" name="Pismo odręczne 23">
                <a:extLst>
                  <a:ext uri="{FF2B5EF4-FFF2-40B4-BE49-F238E27FC236}">
                    <a16:creationId xmlns:a16="http://schemas.microsoft.com/office/drawing/2014/main" id="{BEE681D2-2CEA-FFE7-50CA-9C2C61F950DE}"/>
                  </a:ext>
                </a:extLst>
              </p14:cNvPr>
              <p14:cNvContentPartPr/>
              <p14:nvPr/>
            </p14:nvContentPartPr>
            <p14:xfrm>
              <a:off x="5067651" y="3591273"/>
              <a:ext cx="360" cy="360"/>
            </p14:xfrm>
          </p:contentPart>
        </mc:Choice>
        <mc:Fallback xmlns="">
          <p:pic>
            <p:nvPicPr>
              <p:cNvPr id="24" name="Pismo odręczne 23">
                <a:extLst>
                  <a:ext uri="{FF2B5EF4-FFF2-40B4-BE49-F238E27FC236}">
                    <a16:creationId xmlns:a16="http://schemas.microsoft.com/office/drawing/2014/main" id="{BEE681D2-2CEA-FFE7-50CA-9C2C61F950DE}"/>
                  </a:ext>
                </a:extLst>
              </p:cNvPr>
              <p:cNvPicPr/>
              <p:nvPr/>
            </p:nvPicPr>
            <p:blipFill>
              <a:blip r:embed="rId9"/>
              <a:stretch>
                <a:fillRect/>
              </a:stretch>
            </p:blipFill>
            <p:spPr>
              <a:xfrm>
                <a:off x="5049651" y="357363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Pismo odręczne 24">
                <a:extLst>
                  <a:ext uri="{FF2B5EF4-FFF2-40B4-BE49-F238E27FC236}">
                    <a16:creationId xmlns:a16="http://schemas.microsoft.com/office/drawing/2014/main" id="{4222290F-394A-C472-3523-546AD18D7FBF}"/>
                  </a:ext>
                </a:extLst>
              </p14:cNvPr>
              <p14:cNvContentPartPr/>
              <p14:nvPr/>
            </p14:nvContentPartPr>
            <p14:xfrm>
              <a:off x="4930851" y="4329273"/>
              <a:ext cx="4680" cy="7200"/>
            </p14:xfrm>
          </p:contentPart>
        </mc:Choice>
        <mc:Fallback xmlns="">
          <p:pic>
            <p:nvPicPr>
              <p:cNvPr id="25" name="Pismo odręczne 24">
                <a:extLst>
                  <a:ext uri="{FF2B5EF4-FFF2-40B4-BE49-F238E27FC236}">
                    <a16:creationId xmlns:a16="http://schemas.microsoft.com/office/drawing/2014/main" id="{4222290F-394A-C472-3523-546AD18D7FBF}"/>
                  </a:ext>
                </a:extLst>
              </p:cNvPr>
              <p:cNvPicPr/>
              <p:nvPr/>
            </p:nvPicPr>
            <p:blipFill>
              <a:blip r:embed="rId17"/>
              <a:stretch>
                <a:fillRect/>
              </a:stretch>
            </p:blipFill>
            <p:spPr>
              <a:xfrm>
                <a:off x="4913211" y="4311633"/>
                <a:ext cx="40320" cy="42840"/>
              </a:xfrm>
              <a:prstGeom prst="rect">
                <a:avLst/>
              </a:prstGeom>
            </p:spPr>
          </p:pic>
        </mc:Fallback>
      </mc:AlternateContent>
    </p:spTree>
    <p:extLst>
      <p:ext uri="{BB962C8B-B14F-4D97-AF65-F5344CB8AC3E}">
        <p14:creationId xmlns:p14="http://schemas.microsoft.com/office/powerpoint/2010/main" val="1410303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8DBB60D4-F4B4-E45F-0628-E3EEAEF75DED}"/>
              </a:ext>
            </a:extLst>
          </p:cNvPr>
          <p:cNvSpPr txBox="1"/>
          <p:nvPr/>
        </p:nvSpPr>
        <p:spPr>
          <a:xfrm>
            <a:off x="1135380" y="-7206"/>
            <a:ext cx="9921240" cy="646331"/>
          </a:xfrm>
          <a:prstGeom prst="rect">
            <a:avLst/>
          </a:prstGeom>
          <a:noFill/>
        </p:spPr>
        <p:txBody>
          <a:bodyPr wrap="square">
            <a:spAutoFit/>
          </a:bodyPr>
          <a:lstStyle/>
          <a:p>
            <a:pPr algn="ctr"/>
            <a:r>
              <a:rPr lang="pl-PL" sz="3600" dirty="0"/>
              <a:t>Nauka o danych w prawdziwym świecie</a:t>
            </a:r>
          </a:p>
        </p:txBody>
      </p:sp>
      <p:sp>
        <p:nvSpPr>
          <p:cNvPr id="2" name="Title 1">
            <a:extLst>
              <a:ext uri="{FF2B5EF4-FFF2-40B4-BE49-F238E27FC236}">
                <a16:creationId xmlns:a16="http://schemas.microsoft.com/office/drawing/2014/main" id="{EDDEE983-D20F-737B-8122-57246F158A00}"/>
              </a:ext>
            </a:extLst>
          </p:cNvPr>
          <p:cNvSpPr txBox="1">
            <a:spLocks/>
          </p:cNvSpPr>
          <p:nvPr/>
        </p:nvSpPr>
        <p:spPr>
          <a:xfrm>
            <a:off x="838200" y="-33688"/>
            <a:ext cx="10515600" cy="1325563"/>
          </a:xfrm>
          <a:prstGeom prst="rect">
            <a:avLst/>
          </a:prstGeom>
          <a:noFill/>
        </p:spPr>
        <p:txBody>
          <a:bodyPr vert="horz" wrap="square" lIns="0" tIns="0" rIns="0" bIns="91440" rtlCol="0" anchor="b">
            <a:norm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endParaRPr lang="pl-PL" sz="3600" b="1" dirty="0">
              <a:latin typeface="+mn-lt"/>
            </a:endParaRPr>
          </a:p>
        </p:txBody>
      </p:sp>
      <p:cxnSp>
        <p:nvCxnSpPr>
          <p:cNvPr id="3" name="Connector: Curved 10">
            <a:extLst>
              <a:ext uri="{FF2B5EF4-FFF2-40B4-BE49-F238E27FC236}">
                <a16:creationId xmlns:a16="http://schemas.microsoft.com/office/drawing/2014/main" id="{5F84AE26-A328-08C7-E674-DCCA63308BAC}"/>
              </a:ext>
            </a:extLst>
          </p:cNvPr>
          <p:cNvCxnSpPr>
            <a:cxnSpLocks/>
            <a:stCxn id="4" idx="3"/>
            <a:endCxn id="5" idx="1"/>
          </p:cNvCxnSpPr>
          <p:nvPr/>
        </p:nvCxnSpPr>
        <p:spPr>
          <a:xfrm>
            <a:off x="4207915" y="2019653"/>
            <a:ext cx="1276047" cy="12700"/>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Rectangle: Rounded Corners 9">
            <a:extLst>
              <a:ext uri="{FF2B5EF4-FFF2-40B4-BE49-F238E27FC236}">
                <a16:creationId xmlns:a16="http://schemas.microsoft.com/office/drawing/2014/main" id="{AB80DE88-0EAD-B89B-8B88-855120E91771}"/>
              </a:ext>
            </a:extLst>
          </p:cNvPr>
          <p:cNvSpPr/>
          <p:nvPr/>
        </p:nvSpPr>
        <p:spPr>
          <a:xfrm>
            <a:off x="2595018" y="1356887"/>
            <a:ext cx="1612897" cy="13255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1600" b="0" i="1" dirty="0">
                <a:solidFill>
                  <a:schemeClr val="bg1"/>
                </a:solidFill>
                <a:effectLst/>
                <a:latin typeface="Lato" panose="020F0502020204030203" pitchFamily="34" charset="0"/>
              </a:rPr>
              <a:t>Ustalenie problemu i zdefiniowanie danych</a:t>
            </a:r>
            <a:endParaRPr lang="en-US" sz="1600" dirty="0">
              <a:solidFill>
                <a:schemeClr val="bg1"/>
              </a:solidFill>
            </a:endParaRPr>
          </a:p>
        </p:txBody>
      </p:sp>
      <p:sp>
        <p:nvSpPr>
          <p:cNvPr id="5" name="Rectangle: Rounded Corners 21">
            <a:extLst>
              <a:ext uri="{FF2B5EF4-FFF2-40B4-BE49-F238E27FC236}">
                <a16:creationId xmlns:a16="http://schemas.microsoft.com/office/drawing/2014/main" id="{5E1DE6A6-A0E9-9C9F-530F-7FAA18BFF89A}"/>
              </a:ext>
            </a:extLst>
          </p:cNvPr>
          <p:cNvSpPr/>
          <p:nvPr/>
        </p:nvSpPr>
        <p:spPr>
          <a:xfrm>
            <a:off x="5483962" y="1356887"/>
            <a:ext cx="1926772" cy="13255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1600" b="0" i="1" dirty="0">
                <a:solidFill>
                  <a:schemeClr val="bg1"/>
                </a:solidFill>
                <a:effectLst/>
                <a:latin typeface="Lato" panose="020F0502020204030203" pitchFamily="34" charset="0"/>
              </a:rPr>
              <a:t>Przeprocesowanie danych i wydobycie cech</a:t>
            </a:r>
            <a:endParaRPr lang="en-US" sz="1600" dirty="0">
              <a:solidFill>
                <a:schemeClr val="bg1"/>
              </a:solidFill>
            </a:endParaRPr>
          </a:p>
        </p:txBody>
      </p:sp>
      <p:cxnSp>
        <p:nvCxnSpPr>
          <p:cNvPr id="8" name="Connector: Curved 27">
            <a:extLst>
              <a:ext uri="{FF2B5EF4-FFF2-40B4-BE49-F238E27FC236}">
                <a16:creationId xmlns:a16="http://schemas.microsoft.com/office/drawing/2014/main" id="{A9EFCF1E-6F98-D181-5C10-CD96031592C7}"/>
              </a:ext>
            </a:extLst>
          </p:cNvPr>
          <p:cNvCxnSpPr>
            <a:cxnSpLocks/>
            <a:stCxn id="5" idx="3"/>
            <a:endCxn id="9" idx="0"/>
          </p:cNvCxnSpPr>
          <p:nvPr/>
        </p:nvCxnSpPr>
        <p:spPr>
          <a:xfrm>
            <a:off x="7410734" y="2019653"/>
            <a:ext cx="2979680" cy="91911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Rounded Corners 32">
            <a:extLst>
              <a:ext uri="{FF2B5EF4-FFF2-40B4-BE49-F238E27FC236}">
                <a16:creationId xmlns:a16="http://schemas.microsoft.com/office/drawing/2014/main" id="{DE8026FC-CD0C-4D41-A50C-F196EE77970D}"/>
              </a:ext>
            </a:extLst>
          </p:cNvPr>
          <p:cNvSpPr/>
          <p:nvPr/>
        </p:nvSpPr>
        <p:spPr>
          <a:xfrm>
            <a:off x="9427028" y="2938766"/>
            <a:ext cx="1926772" cy="13255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i="1" dirty="0">
                <a:solidFill>
                  <a:schemeClr val="bg1"/>
                </a:solidFill>
                <a:latin typeface="Lato" panose="020F0502020204030203" pitchFamily="34" charset="0"/>
              </a:rPr>
              <a:t>Wybór algorytmu dla modelu</a:t>
            </a:r>
            <a:endParaRPr lang="en-US" sz="2000" dirty="0">
              <a:solidFill>
                <a:schemeClr val="bg1"/>
              </a:solidFill>
            </a:endParaRPr>
          </a:p>
        </p:txBody>
      </p:sp>
      <p:sp>
        <p:nvSpPr>
          <p:cNvPr id="10" name="Rectangle: Rounded Corners 33">
            <a:extLst>
              <a:ext uri="{FF2B5EF4-FFF2-40B4-BE49-F238E27FC236}">
                <a16:creationId xmlns:a16="http://schemas.microsoft.com/office/drawing/2014/main" id="{9959DE85-1E53-3D5F-F859-A72B578FDAED}"/>
              </a:ext>
            </a:extLst>
          </p:cNvPr>
          <p:cNvSpPr/>
          <p:nvPr/>
        </p:nvSpPr>
        <p:spPr>
          <a:xfrm>
            <a:off x="6973802" y="4962121"/>
            <a:ext cx="1926772" cy="13255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i="1" dirty="0">
                <a:solidFill>
                  <a:schemeClr val="bg1"/>
                </a:solidFill>
                <a:latin typeface="Lato" panose="020F0502020204030203" pitchFamily="34" charset="0"/>
              </a:rPr>
              <a:t>Trenowanie i sprawdzanie modelu</a:t>
            </a:r>
            <a:endParaRPr lang="en-US" sz="2000" dirty="0">
              <a:solidFill>
                <a:schemeClr val="bg1"/>
              </a:solidFill>
            </a:endParaRPr>
          </a:p>
        </p:txBody>
      </p:sp>
      <p:sp>
        <p:nvSpPr>
          <p:cNvPr id="11" name="Rectangle: Rounded Corners 34">
            <a:extLst>
              <a:ext uri="{FF2B5EF4-FFF2-40B4-BE49-F238E27FC236}">
                <a16:creationId xmlns:a16="http://schemas.microsoft.com/office/drawing/2014/main" id="{F68F78C1-9EF5-22DD-FA48-3BAA625BF327}"/>
              </a:ext>
            </a:extLst>
          </p:cNvPr>
          <p:cNvSpPr/>
          <p:nvPr/>
        </p:nvSpPr>
        <p:spPr>
          <a:xfrm>
            <a:off x="2595018" y="4838334"/>
            <a:ext cx="1926772" cy="13255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i="1" dirty="0">
                <a:solidFill>
                  <a:schemeClr val="bg1"/>
                </a:solidFill>
                <a:latin typeface="Lato" panose="020F0502020204030203" pitchFamily="34" charset="0"/>
              </a:rPr>
              <a:t>Strojenie modelu </a:t>
            </a:r>
            <a:endParaRPr lang="en-US" sz="2000" dirty="0">
              <a:solidFill>
                <a:schemeClr val="bg1"/>
              </a:solidFill>
            </a:endParaRPr>
          </a:p>
        </p:txBody>
      </p:sp>
      <p:cxnSp>
        <p:nvCxnSpPr>
          <p:cNvPr id="13" name="Connector: Curved 38">
            <a:extLst>
              <a:ext uri="{FF2B5EF4-FFF2-40B4-BE49-F238E27FC236}">
                <a16:creationId xmlns:a16="http://schemas.microsoft.com/office/drawing/2014/main" id="{6B255996-97EA-5BD6-ABBE-08A7222A6102}"/>
              </a:ext>
            </a:extLst>
          </p:cNvPr>
          <p:cNvCxnSpPr>
            <a:cxnSpLocks/>
            <a:stCxn id="9" idx="2"/>
            <a:endCxn id="10" idx="2"/>
          </p:cNvCxnSpPr>
          <p:nvPr/>
        </p:nvCxnSpPr>
        <p:spPr>
          <a:xfrm rot="5400000">
            <a:off x="8152124" y="4049362"/>
            <a:ext cx="2023355" cy="2453226"/>
          </a:xfrm>
          <a:prstGeom prst="curvedConnector3">
            <a:avLst>
              <a:gd name="adj1" fmla="val 111298"/>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Rounded Corners 43">
            <a:extLst>
              <a:ext uri="{FF2B5EF4-FFF2-40B4-BE49-F238E27FC236}">
                <a16:creationId xmlns:a16="http://schemas.microsoft.com/office/drawing/2014/main" id="{0C0458A3-DD63-1B87-C1BE-0D5448338E59}"/>
              </a:ext>
            </a:extLst>
          </p:cNvPr>
          <p:cNvSpPr/>
          <p:nvPr/>
        </p:nvSpPr>
        <p:spPr>
          <a:xfrm>
            <a:off x="227979" y="2938766"/>
            <a:ext cx="1926772" cy="13255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i="1" dirty="0">
                <a:solidFill>
                  <a:schemeClr val="bg1"/>
                </a:solidFill>
                <a:latin typeface="Lato" panose="020F0502020204030203" pitchFamily="34" charset="0"/>
              </a:rPr>
              <a:t>Wdrożenie i utrzymanie modelu</a:t>
            </a:r>
            <a:endParaRPr lang="en-US" sz="2000" dirty="0">
              <a:solidFill>
                <a:schemeClr val="bg1"/>
              </a:solidFill>
            </a:endParaRPr>
          </a:p>
        </p:txBody>
      </p:sp>
      <p:cxnSp>
        <p:nvCxnSpPr>
          <p:cNvPr id="15" name="Connector: Curved 44">
            <a:extLst>
              <a:ext uri="{FF2B5EF4-FFF2-40B4-BE49-F238E27FC236}">
                <a16:creationId xmlns:a16="http://schemas.microsoft.com/office/drawing/2014/main" id="{5144B394-8CFC-A32B-ADEE-2DCE5ACEC374}"/>
              </a:ext>
            </a:extLst>
          </p:cNvPr>
          <p:cNvCxnSpPr>
            <a:cxnSpLocks/>
            <a:stCxn id="10" idx="0"/>
            <a:endCxn id="11" idx="0"/>
          </p:cNvCxnSpPr>
          <p:nvPr/>
        </p:nvCxnSpPr>
        <p:spPr>
          <a:xfrm rot="16200000" flipV="1">
            <a:off x="5685903" y="2710836"/>
            <a:ext cx="123787" cy="4378784"/>
          </a:xfrm>
          <a:prstGeom prst="curvedConnector3">
            <a:avLst>
              <a:gd name="adj1" fmla="val 28467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Curved 48">
            <a:extLst>
              <a:ext uri="{FF2B5EF4-FFF2-40B4-BE49-F238E27FC236}">
                <a16:creationId xmlns:a16="http://schemas.microsoft.com/office/drawing/2014/main" id="{C4A4EBEB-3E81-B42B-1F4A-ECFC6B3B0935}"/>
              </a:ext>
            </a:extLst>
          </p:cNvPr>
          <p:cNvCxnSpPr>
            <a:cxnSpLocks/>
            <a:stCxn id="11" idx="1"/>
            <a:endCxn id="14" idx="2"/>
          </p:cNvCxnSpPr>
          <p:nvPr/>
        </p:nvCxnSpPr>
        <p:spPr>
          <a:xfrm rot="10800000">
            <a:off x="1191366" y="4264298"/>
            <a:ext cx="1403653" cy="123680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Curved 51">
            <a:extLst>
              <a:ext uri="{FF2B5EF4-FFF2-40B4-BE49-F238E27FC236}">
                <a16:creationId xmlns:a16="http://schemas.microsoft.com/office/drawing/2014/main" id="{19368831-FC08-78F8-B40C-7A4D06855896}"/>
              </a:ext>
            </a:extLst>
          </p:cNvPr>
          <p:cNvCxnSpPr>
            <a:cxnSpLocks/>
            <a:stCxn id="14" idx="0"/>
            <a:endCxn id="4" idx="1"/>
          </p:cNvCxnSpPr>
          <p:nvPr/>
        </p:nvCxnSpPr>
        <p:spPr>
          <a:xfrm rot="5400000" flipH="1" flipV="1">
            <a:off x="1433635" y="1777384"/>
            <a:ext cx="919113" cy="140365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pole tekstowe 22">
            <a:extLst>
              <a:ext uri="{FF2B5EF4-FFF2-40B4-BE49-F238E27FC236}">
                <a16:creationId xmlns:a16="http://schemas.microsoft.com/office/drawing/2014/main" id="{D450F100-100B-BB03-D4FA-04D003FED976}"/>
              </a:ext>
            </a:extLst>
          </p:cNvPr>
          <p:cNvSpPr txBox="1"/>
          <p:nvPr/>
        </p:nvSpPr>
        <p:spPr>
          <a:xfrm>
            <a:off x="8396361" y="687787"/>
            <a:ext cx="3988106" cy="1200329"/>
          </a:xfrm>
          <a:prstGeom prst="rect">
            <a:avLst/>
          </a:prstGeom>
          <a:noFill/>
        </p:spPr>
        <p:txBody>
          <a:bodyPr wrap="square" rtlCol="0">
            <a:spAutoFit/>
          </a:bodyPr>
          <a:lstStyle/>
          <a:p>
            <a:pPr algn="ctr"/>
            <a:r>
              <a:rPr lang="pl-PL" sz="3600" dirty="0">
                <a:solidFill>
                  <a:srgbClr val="FF0000"/>
                </a:solidFill>
              </a:rPr>
              <a:t>80 – 90% czasu pracy</a:t>
            </a:r>
          </a:p>
        </p:txBody>
      </p:sp>
      <p:grpSp>
        <p:nvGrpSpPr>
          <p:cNvPr id="27" name="Grupa 26">
            <a:extLst>
              <a:ext uri="{FF2B5EF4-FFF2-40B4-BE49-F238E27FC236}">
                <a16:creationId xmlns:a16="http://schemas.microsoft.com/office/drawing/2014/main" id="{44784FBE-DDFF-2CE1-A65A-1BF94E02AA00}"/>
              </a:ext>
            </a:extLst>
          </p:cNvPr>
          <p:cNvGrpSpPr/>
          <p:nvPr/>
        </p:nvGrpSpPr>
        <p:grpSpPr>
          <a:xfrm>
            <a:off x="3525051" y="727113"/>
            <a:ext cx="5200560" cy="377280"/>
            <a:chOff x="3525051" y="727113"/>
            <a:chExt cx="5200560" cy="377280"/>
          </a:xfrm>
        </p:grpSpPr>
        <mc:AlternateContent xmlns:mc="http://schemas.openxmlformats.org/markup-compatibility/2006" xmlns:p14="http://schemas.microsoft.com/office/powerpoint/2010/main">
          <mc:Choice Requires="p14">
            <p:contentPart p14:bwMode="auto" r:id="rId3">
              <p14:nvContentPartPr>
                <p14:cNvPr id="24" name="Pismo odręczne 23">
                  <a:extLst>
                    <a:ext uri="{FF2B5EF4-FFF2-40B4-BE49-F238E27FC236}">
                      <a16:creationId xmlns:a16="http://schemas.microsoft.com/office/drawing/2014/main" id="{74753137-109E-5F1D-C724-DC789240CBB2}"/>
                    </a:ext>
                  </a:extLst>
                </p14:cNvPr>
                <p14:cNvContentPartPr/>
                <p14:nvPr/>
              </p14:nvContentPartPr>
              <p14:xfrm>
                <a:off x="3659331" y="727113"/>
                <a:ext cx="5066280" cy="243360"/>
              </p14:xfrm>
            </p:contentPart>
          </mc:Choice>
          <mc:Fallback xmlns="">
            <p:pic>
              <p:nvPicPr>
                <p:cNvPr id="24" name="Pismo odręczne 23">
                  <a:extLst>
                    <a:ext uri="{FF2B5EF4-FFF2-40B4-BE49-F238E27FC236}">
                      <a16:creationId xmlns:a16="http://schemas.microsoft.com/office/drawing/2014/main" id="{74753137-109E-5F1D-C724-DC789240CBB2}"/>
                    </a:ext>
                  </a:extLst>
                </p:cNvPr>
                <p:cNvPicPr/>
                <p:nvPr/>
              </p:nvPicPr>
              <p:blipFill>
                <a:blip r:embed="rId4"/>
                <a:stretch>
                  <a:fillRect/>
                </a:stretch>
              </p:blipFill>
              <p:spPr>
                <a:xfrm>
                  <a:off x="3653211" y="720993"/>
                  <a:ext cx="507852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5" name="Pismo odręczne 24">
                  <a:extLst>
                    <a:ext uri="{FF2B5EF4-FFF2-40B4-BE49-F238E27FC236}">
                      <a16:creationId xmlns:a16="http://schemas.microsoft.com/office/drawing/2014/main" id="{D1B39F77-9A2B-3FF3-069F-E6B5DE83E613}"/>
                    </a:ext>
                  </a:extLst>
                </p14:cNvPr>
                <p14:cNvContentPartPr/>
                <p14:nvPr/>
              </p14:nvContentPartPr>
              <p14:xfrm>
                <a:off x="3525051" y="759873"/>
                <a:ext cx="419400" cy="344520"/>
              </p14:xfrm>
            </p:contentPart>
          </mc:Choice>
          <mc:Fallback xmlns="">
            <p:pic>
              <p:nvPicPr>
                <p:cNvPr id="25" name="Pismo odręczne 24">
                  <a:extLst>
                    <a:ext uri="{FF2B5EF4-FFF2-40B4-BE49-F238E27FC236}">
                      <a16:creationId xmlns:a16="http://schemas.microsoft.com/office/drawing/2014/main" id="{D1B39F77-9A2B-3FF3-069F-E6B5DE83E613}"/>
                    </a:ext>
                  </a:extLst>
                </p:cNvPr>
                <p:cNvPicPr/>
                <p:nvPr/>
              </p:nvPicPr>
              <p:blipFill>
                <a:blip r:embed="rId6"/>
                <a:stretch>
                  <a:fillRect/>
                </a:stretch>
              </p:blipFill>
              <p:spPr>
                <a:xfrm>
                  <a:off x="3518931" y="753753"/>
                  <a:ext cx="431640" cy="356760"/>
                </a:xfrm>
                <a:prstGeom prst="rect">
                  <a:avLst/>
                </a:prstGeom>
              </p:spPr>
            </p:pic>
          </mc:Fallback>
        </mc:AlternateContent>
      </p:grpSp>
      <p:grpSp>
        <p:nvGrpSpPr>
          <p:cNvPr id="29" name="Grupa 28">
            <a:extLst>
              <a:ext uri="{FF2B5EF4-FFF2-40B4-BE49-F238E27FC236}">
                <a16:creationId xmlns:a16="http://schemas.microsoft.com/office/drawing/2014/main" id="{8B6FA022-A00D-E5CF-023F-07AE73CE07BA}"/>
              </a:ext>
            </a:extLst>
          </p:cNvPr>
          <p:cNvGrpSpPr/>
          <p:nvPr/>
        </p:nvGrpSpPr>
        <p:grpSpPr>
          <a:xfrm>
            <a:off x="7599891" y="1327593"/>
            <a:ext cx="1132920" cy="513360"/>
            <a:chOff x="7599891" y="1327593"/>
            <a:chExt cx="1132920" cy="513360"/>
          </a:xfrm>
        </p:grpSpPr>
        <mc:AlternateContent xmlns:mc="http://schemas.openxmlformats.org/markup-compatibility/2006" xmlns:p14="http://schemas.microsoft.com/office/powerpoint/2010/main">
          <mc:Choice Requires="p14">
            <p:contentPart p14:bwMode="auto" r:id="rId7">
              <p14:nvContentPartPr>
                <p14:cNvPr id="26" name="Pismo odręczne 25">
                  <a:extLst>
                    <a:ext uri="{FF2B5EF4-FFF2-40B4-BE49-F238E27FC236}">
                      <a16:creationId xmlns:a16="http://schemas.microsoft.com/office/drawing/2014/main" id="{FA492AB2-69C6-A97B-DC29-12803BED013D}"/>
                    </a:ext>
                  </a:extLst>
                </p14:cNvPr>
                <p14:cNvContentPartPr/>
                <p14:nvPr/>
              </p14:nvContentPartPr>
              <p14:xfrm>
                <a:off x="7678731" y="1327593"/>
                <a:ext cx="1054080" cy="413280"/>
              </p14:xfrm>
            </p:contentPart>
          </mc:Choice>
          <mc:Fallback xmlns="">
            <p:pic>
              <p:nvPicPr>
                <p:cNvPr id="26" name="Pismo odręczne 25">
                  <a:extLst>
                    <a:ext uri="{FF2B5EF4-FFF2-40B4-BE49-F238E27FC236}">
                      <a16:creationId xmlns:a16="http://schemas.microsoft.com/office/drawing/2014/main" id="{FA492AB2-69C6-A97B-DC29-12803BED013D}"/>
                    </a:ext>
                  </a:extLst>
                </p:cNvPr>
                <p:cNvPicPr/>
                <p:nvPr/>
              </p:nvPicPr>
              <p:blipFill>
                <a:blip r:embed="rId8"/>
                <a:stretch>
                  <a:fillRect/>
                </a:stretch>
              </p:blipFill>
              <p:spPr>
                <a:xfrm>
                  <a:off x="7672611" y="1321473"/>
                  <a:ext cx="1066320" cy="425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8" name="Pismo odręczne 27">
                  <a:extLst>
                    <a:ext uri="{FF2B5EF4-FFF2-40B4-BE49-F238E27FC236}">
                      <a16:creationId xmlns:a16="http://schemas.microsoft.com/office/drawing/2014/main" id="{D1A39CA2-E303-A0EC-76EC-1E802C59715C}"/>
                    </a:ext>
                  </a:extLst>
                </p14:cNvPr>
                <p14:cNvContentPartPr/>
                <p14:nvPr/>
              </p14:nvContentPartPr>
              <p14:xfrm>
                <a:off x="7599891" y="1542153"/>
                <a:ext cx="475200" cy="298800"/>
              </p14:xfrm>
            </p:contentPart>
          </mc:Choice>
          <mc:Fallback xmlns="">
            <p:pic>
              <p:nvPicPr>
                <p:cNvPr id="28" name="Pismo odręczne 27">
                  <a:extLst>
                    <a:ext uri="{FF2B5EF4-FFF2-40B4-BE49-F238E27FC236}">
                      <a16:creationId xmlns:a16="http://schemas.microsoft.com/office/drawing/2014/main" id="{D1A39CA2-E303-A0EC-76EC-1E802C59715C}"/>
                    </a:ext>
                  </a:extLst>
                </p:cNvPr>
                <p:cNvPicPr/>
                <p:nvPr/>
              </p:nvPicPr>
              <p:blipFill>
                <a:blip r:embed="rId10"/>
                <a:stretch>
                  <a:fillRect/>
                </a:stretch>
              </p:blipFill>
              <p:spPr>
                <a:xfrm>
                  <a:off x="7593771" y="1536033"/>
                  <a:ext cx="487440" cy="311040"/>
                </a:xfrm>
                <a:prstGeom prst="rect">
                  <a:avLst/>
                </a:prstGeom>
              </p:spPr>
            </p:pic>
          </mc:Fallback>
        </mc:AlternateContent>
      </p:grpSp>
    </p:spTree>
    <p:extLst>
      <p:ext uri="{BB962C8B-B14F-4D97-AF65-F5344CB8AC3E}">
        <p14:creationId xmlns:p14="http://schemas.microsoft.com/office/powerpoint/2010/main" val="1972108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ole tekstowe 7">
            <a:extLst>
              <a:ext uri="{FF2B5EF4-FFF2-40B4-BE49-F238E27FC236}">
                <a16:creationId xmlns:a16="http://schemas.microsoft.com/office/drawing/2014/main" id="{4A85803F-5F78-D9A1-DE00-469EC80C5014}"/>
              </a:ext>
            </a:extLst>
          </p:cNvPr>
          <p:cNvSpPr txBox="1"/>
          <p:nvPr/>
        </p:nvSpPr>
        <p:spPr>
          <a:xfrm>
            <a:off x="1216152" y="72253"/>
            <a:ext cx="9921240" cy="646331"/>
          </a:xfrm>
          <a:prstGeom prst="rect">
            <a:avLst/>
          </a:prstGeom>
          <a:noFill/>
        </p:spPr>
        <p:txBody>
          <a:bodyPr wrap="square">
            <a:spAutoFit/>
          </a:bodyPr>
          <a:lstStyle/>
          <a:p>
            <a:pPr algn="ctr"/>
            <a:r>
              <a:rPr lang="pl-PL" sz="3600" dirty="0"/>
              <a:t>Człowiek, Koncentracja i Uczenie się</a:t>
            </a:r>
          </a:p>
        </p:txBody>
      </p:sp>
      <p:sp>
        <p:nvSpPr>
          <p:cNvPr id="10" name="pole tekstowe 9">
            <a:extLst>
              <a:ext uri="{FF2B5EF4-FFF2-40B4-BE49-F238E27FC236}">
                <a16:creationId xmlns:a16="http://schemas.microsoft.com/office/drawing/2014/main" id="{6948C4AC-9AC0-BF3B-EE6A-FF1F109FDD19}"/>
              </a:ext>
            </a:extLst>
          </p:cNvPr>
          <p:cNvSpPr txBox="1"/>
          <p:nvPr/>
        </p:nvSpPr>
        <p:spPr>
          <a:xfrm>
            <a:off x="620617" y="820246"/>
            <a:ext cx="10950765" cy="3970318"/>
          </a:xfrm>
          <a:prstGeom prst="rect">
            <a:avLst/>
          </a:prstGeom>
          <a:noFill/>
        </p:spPr>
        <p:txBody>
          <a:bodyPr wrap="square" rtlCol="0">
            <a:spAutoFit/>
          </a:bodyPr>
          <a:lstStyle/>
          <a:p>
            <a:pPr marL="285750" indent="-285750">
              <a:buFont typeface="Wingdings" panose="05000000000000000000" pitchFamily="2" charset="2"/>
              <a:buChar char="Ø"/>
            </a:pPr>
            <a:r>
              <a:rPr lang="pl-PL" dirty="0"/>
              <a:t>Koncentracja jest podstawą efektywnego uczenia się</a:t>
            </a:r>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r>
              <a:rPr lang="pl-PL" dirty="0"/>
              <a:t>Co najczęściej przeszkadza w koncentracji</a:t>
            </a:r>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r>
              <a:rPr lang="pl-PL" dirty="0"/>
              <a:t>Jak ćwiczyć koncentrację?</a:t>
            </a:r>
          </a:p>
          <a:p>
            <a:pPr marL="285750" indent="-285750">
              <a:buFont typeface="Wingdings" panose="05000000000000000000" pitchFamily="2" charset="2"/>
              <a:buChar char="Ø"/>
            </a:pPr>
            <a:endParaRPr lang="pl-PL" dirty="0"/>
          </a:p>
          <a:p>
            <a:endParaRPr lang="pl-PL" dirty="0"/>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endParaRPr lang="pl-PL" dirty="0"/>
          </a:p>
        </p:txBody>
      </p:sp>
      <p:sp>
        <p:nvSpPr>
          <p:cNvPr id="11" name="pole tekstowe 10">
            <a:extLst>
              <a:ext uri="{FF2B5EF4-FFF2-40B4-BE49-F238E27FC236}">
                <a16:creationId xmlns:a16="http://schemas.microsoft.com/office/drawing/2014/main" id="{54226A42-1021-87DE-55A8-749DDBC54712}"/>
              </a:ext>
            </a:extLst>
          </p:cNvPr>
          <p:cNvSpPr txBox="1"/>
          <p:nvPr/>
        </p:nvSpPr>
        <p:spPr>
          <a:xfrm>
            <a:off x="782197" y="5576089"/>
            <a:ext cx="5186356" cy="1200329"/>
          </a:xfrm>
          <a:prstGeom prst="rect">
            <a:avLst/>
          </a:prstGeom>
          <a:noFill/>
        </p:spPr>
        <p:txBody>
          <a:bodyPr wrap="none" rtlCol="0">
            <a:spAutoFit/>
          </a:bodyPr>
          <a:lstStyle/>
          <a:p>
            <a:r>
              <a:rPr lang="pl-PL" b="1" u="sng" dirty="0"/>
              <a:t>Koncentracja w ruchu</a:t>
            </a:r>
            <a:br>
              <a:rPr lang="pl-PL" dirty="0"/>
            </a:br>
            <a:r>
              <a:rPr lang="pl-PL" dirty="0"/>
              <a:t>Idąc ulicą zapamiętaj jak najwięcej szczegółów z </a:t>
            </a:r>
          </a:p>
          <a:p>
            <a:r>
              <a:rPr lang="pl-PL" dirty="0"/>
              <a:t>otoczenia. Po dojściu na miejsce zanotuj wszystko</a:t>
            </a:r>
          </a:p>
          <a:p>
            <a:r>
              <a:rPr lang="pl-PL" dirty="0"/>
              <a:t>co widziałeś. </a:t>
            </a:r>
            <a:endParaRPr lang="en-US" dirty="0"/>
          </a:p>
        </p:txBody>
      </p:sp>
      <p:sp>
        <p:nvSpPr>
          <p:cNvPr id="15" name="pole tekstowe 14">
            <a:extLst>
              <a:ext uri="{FF2B5EF4-FFF2-40B4-BE49-F238E27FC236}">
                <a16:creationId xmlns:a16="http://schemas.microsoft.com/office/drawing/2014/main" id="{1AB0B8B1-96D7-41BF-DE00-05B73C526E8B}"/>
              </a:ext>
            </a:extLst>
          </p:cNvPr>
          <p:cNvSpPr txBox="1"/>
          <p:nvPr/>
        </p:nvSpPr>
        <p:spPr>
          <a:xfrm>
            <a:off x="6223448" y="5576089"/>
            <a:ext cx="6058710" cy="923330"/>
          </a:xfrm>
          <a:prstGeom prst="rect">
            <a:avLst/>
          </a:prstGeom>
          <a:noFill/>
        </p:spPr>
        <p:txBody>
          <a:bodyPr wrap="none" rtlCol="0">
            <a:spAutoFit/>
          </a:bodyPr>
          <a:lstStyle/>
          <a:p>
            <a:r>
              <a:rPr lang="pl-PL" b="1" u="sng" dirty="0"/>
              <a:t>„Słucham odgłosów świata zewnętrznego”</a:t>
            </a:r>
            <a:br>
              <a:rPr lang="pl-PL" dirty="0"/>
            </a:br>
            <a:r>
              <a:rPr lang="pl-PL" dirty="0"/>
              <a:t>Usiądź przy otwartym oknie. Zamknij oczy i przez 2-3 minuty</a:t>
            </a:r>
          </a:p>
          <a:p>
            <a:r>
              <a:rPr lang="pl-PL" dirty="0"/>
              <a:t>słuchaj dźwięków. Wypisz wszystkie dźwięki usłyszane.</a:t>
            </a:r>
            <a:endParaRPr lang="en-US" dirty="0"/>
          </a:p>
        </p:txBody>
      </p:sp>
      <p:sp>
        <p:nvSpPr>
          <p:cNvPr id="17" name="pole tekstowe 16">
            <a:extLst>
              <a:ext uri="{FF2B5EF4-FFF2-40B4-BE49-F238E27FC236}">
                <a16:creationId xmlns:a16="http://schemas.microsoft.com/office/drawing/2014/main" id="{64C8E03E-E47C-0256-9A2D-6C8B0BE53B5F}"/>
              </a:ext>
            </a:extLst>
          </p:cNvPr>
          <p:cNvSpPr txBox="1"/>
          <p:nvPr/>
        </p:nvSpPr>
        <p:spPr>
          <a:xfrm>
            <a:off x="6223448" y="3765931"/>
            <a:ext cx="5863465" cy="1477328"/>
          </a:xfrm>
          <a:prstGeom prst="rect">
            <a:avLst/>
          </a:prstGeom>
          <a:noFill/>
        </p:spPr>
        <p:txBody>
          <a:bodyPr wrap="none" rtlCol="0">
            <a:spAutoFit/>
          </a:bodyPr>
          <a:lstStyle/>
          <a:p>
            <a:r>
              <a:rPr lang="pl-PL" b="1" u="sng" dirty="0"/>
              <a:t>„Spojrzenie w otchłań”</a:t>
            </a:r>
            <a:br>
              <a:rPr lang="pl-PL" dirty="0"/>
            </a:br>
            <a:r>
              <a:rPr lang="pl-PL" dirty="0"/>
              <a:t>Zamknij oczy i skoncentruj się na czerni. Ignoruj wszystkie</a:t>
            </a:r>
          </a:p>
          <a:p>
            <a:r>
              <a:rPr lang="pl-PL" dirty="0"/>
              <a:t>białe plamki i dalej patrz w najciemniejsze miejsce. Nie </a:t>
            </a:r>
          </a:p>
          <a:p>
            <a:r>
              <a:rPr lang="pl-PL" dirty="0"/>
              <a:t>pozwól aby w twoim umyśle pojawiły się inne obrazy. </a:t>
            </a:r>
            <a:br>
              <a:rPr lang="pl-PL" dirty="0"/>
            </a:br>
            <a:r>
              <a:rPr lang="pl-PL" dirty="0"/>
              <a:t>Skoncentruj się na czerni.</a:t>
            </a:r>
            <a:endParaRPr lang="en-US" dirty="0"/>
          </a:p>
        </p:txBody>
      </p:sp>
      <p:sp>
        <p:nvSpPr>
          <p:cNvPr id="19" name="pole tekstowe 18">
            <a:extLst>
              <a:ext uri="{FF2B5EF4-FFF2-40B4-BE49-F238E27FC236}">
                <a16:creationId xmlns:a16="http://schemas.microsoft.com/office/drawing/2014/main" id="{6D3D0811-2078-0D00-AF15-CAB7E9738908}"/>
              </a:ext>
            </a:extLst>
          </p:cNvPr>
          <p:cNvSpPr txBox="1"/>
          <p:nvPr/>
        </p:nvSpPr>
        <p:spPr>
          <a:xfrm>
            <a:off x="825167" y="3900494"/>
            <a:ext cx="5130956" cy="923330"/>
          </a:xfrm>
          <a:prstGeom prst="rect">
            <a:avLst/>
          </a:prstGeom>
          <a:noFill/>
        </p:spPr>
        <p:txBody>
          <a:bodyPr wrap="none" rtlCol="0">
            <a:spAutoFit/>
          </a:bodyPr>
          <a:lstStyle/>
          <a:p>
            <a:r>
              <a:rPr lang="pl-PL" b="1" u="sng" dirty="0"/>
              <a:t>„Unikaj długotrwałego stresu”</a:t>
            </a:r>
            <a:br>
              <a:rPr lang="pl-PL" dirty="0"/>
            </a:br>
            <a:r>
              <a:rPr lang="pl-PL" dirty="0"/>
              <a:t>Nadmiar kortyzolu nie pozwala się skoncentrować</a:t>
            </a:r>
          </a:p>
          <a:p>
            <a:r>
              <a:rPr lang="pl-PL" dirty="0"/>
              <a:t>i przełącza organizm w tryb walka-ucieczka.</a:t>
            </a:r>
            <a:endParaRPr lang="en-US" dirty="0"/>
          </a:p>
        </p:txBody>
      </p:sp>
      <p:sp>
        <p:nvSpPr>
          <p:cNvPr id="20" name="Prostokąt 19">
            <a:extLst>
              <a:ext uri="{FF2B5EF4-FFF2-40B4-BE49-F238E27FC236}">
                <a16:creationId xmlns:a16="http://schemas.microsoft.com/office/drawing/2014/main" id="{977B86EE-A93B-5815-BF37-F7B0ABA90DC0}"/>
              </a:ext>
            </a:extLst>
          </p:cNvPr>
          <p:cNvSpPr/>
          <p:nvPr/>
        </p:nvSpPr>
        <p:spPr>
          <a:xfrm>
            <a:off x="1988914" y="1878326"/>
            <a:ext cx="3783925" cy="12366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t>hałas, środki masowego przekazu, inni ludzie, temperatura</a:t>
            </a:r>
            <a:endParaRPr lang="en-US" dirty="0"/>
          </a:p>
        </p:txBody>
      </p:sp>
      <p:sp>
        <p:nvSpPr>
          <p:cNvPr id="22" name="Prostokąt 21">
            <a:extLst>
              <a:ext uri="{FF2B5EF4-FFF2-40B4-BE49-F238E27FC236}">
                <a16:creationId xmlns:a16="http://schemas.microsoft.com/office/drawing/2014/main" id="{59DBDC57-0F1E-5755-EEB1-0E1F2AB12593}"/>
              </a:ext>
            </a:extLst>
          </p:cNvPr>
          <p:cNvSpPr/>
          <p:nvPr/>
        </p:nvSpPr>
        <p:spPr>
          <a:xfrm>
            <a:off x="6695322" y="1878325"/>
            <a:ext cx="3305061" cy="123664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solidFill>
                  <a:schemeClr val="tx1"/>
                </a:solidFill>
              </a:rPr>
              <a:t>Głód, przejedzenie, niedobór snu, choroba, natłok myśli, nastawienie, długotrwały stres, </a:t>
            </a:r>
            <a:endParaRPr lang="en-US" dirty="0">
              <a:solidFill>
                <a:schemeClr val="tx1"/>
              </a:solidFill>
            </a:endParaRPr>
          </a:p>
        </p:txBody>
      </p:sp>
    </p:spTree>
    <p:extLst>
      <p:ext uri="{BB962C8B-B14F-4D97-AF65-F5344CB8AC3E}">
        <p14:creationId xmlns:p14="http://schemas.microsoft.com/office/powerpoint/2010/main" val="3894745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9D6C994-168F-4787-A0A6-120E61154E79}"/>
              </a:ext>
            </a:extLst>
          </p:cNvPr>
          <p:cNvSpPr txBox="1">
            <a:spLocks/>
          </p:cNvSpPr>
          <p:nvPr/>
        </p:nvSpPr>
        <p:spPr>
          <a:xfrm>
            <a:off x="838200" y="-463345"/>
            <a:ext cx="10515600" cy="1325563"/>
          </a:xfrm>
          <a:prstGeom prst="rect">
            <a:avLst/>
          </a:prstGeom>
          <a:noFill/>
        </p:spPr>
        <p:txBody>
          <a:bodyPr vert="horz" wrap="square" lIns="0" tIns="0" rIns="0" bIns="91440" rtlCol="0" anchor="b">
            <a:normAutofit/>
          </a:bodyPr>
          <a:lstStyle>
            <a:lvl1pPr algn="l" defTabSz="914400" rtl="0" eaLnBrk="1" latinLnBrk="0" hangingPunct="1">
              <a:lnSpc>
                <a:spcPct val="90000"/>
              </a:lnSpc>
              <a:spcBef>
                <a:spcPct val="0"/>
              </a:spcBef>
              <a:buNone/>
              <a:defRPr lang="en-US" sz="4000" b="0" kern="1200" dirty="0">
                <a:solidFill>
                  <a:schemeClr val="tx1"/>
                </a:solidFill>
                <a:latin typeface="+mj-lt"/>
                <a:ea typeface="+mj-ea"/>
                <a:cs typeface="+mj-cs"/>
              </a:defRPr>
            </a:lvl1pPr>
          </a:lstStyle>
          <a:p>
            <a:pPr algn="ctr"/>
            <a:r>
              <a:rPr lang="pl-PL" sz="3600" b="1" dirty="0">
                <a:latin typeface="+mn-lt"/>
              </a:rPr>
              <a:t>Podsumowanie</a:t>
            </a:r>
          </a:p>
        </p:txBody>
      </p:sp>
      <p:sp>
        <p:nvSpPr>
          <p:cNvPr id="9" name="pole tekstowe 8">
            <a:extLst>
              <a:ext uri="{FF2B5EF4-FFF2-40B4-BE49-F238E27FC236}">
                <a16:creationId xmlns:a16="http://schemas.microsoft.com/office/drawing/2014/main" id="{0BE76AF9-E7B5-5A17-134D-FBC825CCDF9B}"/>
              </a:ext>
            </a:extLst>
          </p:cNvPr>
          <p:cNvSpPr txBox="1"/>
          <p:nvPr/>
        </p:nvSpPr>
        <p:spPr>
          <a:xfrm>
            <a:off x="716096" y="1404139"/>
            <a:ext cx="10950765" cy="3970318"/>
          </a:xfrm>
          <a:prstGeom prst="rect">
            <a:avLst/>
          </a:prstGeom>
          <a:noFill/>
        </p:spPr>
        <p:txBody>
          <a:bodyPr wrap="square" rtlCol="0">
            <a:spAutoFit/>
          </a:bodyPr>
          <a:lstStyle/>
          <a:p>
            <a:pPr marL="285750" indent="-285750">
              <a:buFont typeface="Wingdings" panose="05000000000000000000" pitchFamily="2" charset="2"/>
              <a:buChar char="Ø"/>
            </a:pPr>
            <a:r>
              <a:rPr lang="pl-PL" dirty="0"/>
              <a:t>Uczenie maszynowe jest jedną z dziedzin uczenia maszynowego i pozwala przewidzieć/przypisać nowe dane na podstawie wytrenowanego modelu</a:t>
            </a:r>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r>
              <a:rPr lang="pl-PL" dirty="0"/>
              <a:t>Sieci neuronowe to jedno z możliwych rozwiązań w uczeniu maszynowy. Matematyka pozwala zrozumieć </a:t>
            </a:r>
          </a:p>
          <a:p>
            <a:r>
              <a:rPr lang="pl-PL" dirty="0"/>
              <a:t>       jak działa aby umiejętnie z niej wykorzystać.</a:t>
            </a:r>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r>
              <a:rPr lang="pl-PL" dirty="0"/>
              <a:t>Istnieje wiele możliwości konfiguracji sieci neuronowej, a większość zastosowań opiera się na wielu eksperymentach i ocenie efektu działania sieci neuronowej. </a:t>
            </a:r>
          </a:p>
          <a:p>
            <a:endParaRPr lang="pl-PL" dirty="0"/>
          </a:p>
          <a:p>
            <a:pPr marL="285750" indent="-285750">
              <a:buFont typeface="Wingdings" panose="05000000000000000000" pitchFamily="2" charset="2"/>
              <a:buChar char="Ø"/>
            </a:pPr>
            <a:r>
              <a:rPr lang="pl-PL" dirty="0"/>
              <a:t>Sztuczna inteligencja otacza nas w coraz większym zakresie. Zrozumienie jak działa i jak można ją zastosować pozwala rozwiązywać wiele problemów w otaczającym świecie. Nie da się jej dobrze wykorzystać bez znajomości tematów, w których ma pomagać.</a:t>
            </a:r>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r>
              <a:rPr lang="pl-PL" dirty="0"/>
              <a:t>Jeżeli chcemy efektywnie się uczyć powinniśmy ćwiczyć koncentrację</a:t>
            </a:r>
          </a:p>
        </p:txBody>
      </p:sp>
    </p:spTree>
    <p:extLst>
      <p:ext uri="{BB962C8B-B14F-4D97-AF65-F5344CB8AC3E}">
        <p14:creationId xmlns:p14="http://schemas.microsoft.com/office/powerpoint/2010/main" val="4055634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832F95F3-495C-2E9B-6F20-0D6A4B74B415}"/>
              </a:ext>
            </a:extLst>
          </p:cNvPr>
          <p:cNvSpPr txBox="1"/>
          <p:nvPr/>
        </p:nvSpPr>
        <p:spPr>
          <a:xfrm>
            <a:off x="620617" y="2659559"/>
            <a:ext cx="10950765" cy="769441"/>
          </a:xfrm>
          <a:prstGeom prst="rect">
            <a:avLst/>
          </a:prstGeom>
          <a:noFill/>
        </p:spPr>
        <p:txBody>
          <a:bodyPr wrap="square" rtlCol="0">
            <a:spAutoFit/>
          </a:bodyPr>
          <a:lstStyle/>
          <a:p>
            <a:pPr algn="ctr"/>
            <a:r>
              <a:rPr lang="pl-PL" sz="4400" dirty="0">
                <a:solidFill>
                  <a:schemeClr val="accent3"/>
                </a:solidFill>
              </a:rPr>
              <a:t>Dziękuję Państwu za Uwagę </a:t>
            </a:r>
            <a:r>
              <a:rPr lang="pl-PL" sz="4400" dirty="0">
                <a:solidFill>
                  <a:schemeClr val="accent3"/>
                </a:solidFill>
                <a:sym typeface="Wingdings" panose="05000000000000000000" pitchFamily="2" charset="2"/>
              </a:rPr>
              <a:t></a:t>
            </a:r>
            <a:endParaRPr lang="pl-PL" sz="4400" dirty="0">
              <a:solidFill>
                <a:schemeClr val="accent3"/>
              </a:solidFill>
            </a:endParaRPr>
          </a:p>
        </p:txBody>
      </p:sp>
    </p:spTree>
    <p:extLst>
      <p:ext uri="{BB962C8B-B14F-4D97-AF65-F5344CB8AC3E}">
        <p14:creationId xmlns:p14="http://schemas.microsoft.com/office/powerpoint/2010/main" val="320380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1751</TotalTime>
  <Words>5073</Words>
  <Application>Microsoft Office PowerPoint</Application>
  <PresentationFormat>Panoramiczny</PresentationFormat>
  <Paragraphs>539</Paragraphs>
  <Slides>39</Slides>
  <Notes>38</Notes>
  <HiddenSlides>0</HiddenSlides>
  <MMClips>0</MMClips>
  <ScaleCrop>false</ScaleCrop>
  <HeadingPairs>
    <vt:vector size="6" baseType="variant">
      <vt:variant>
        <vt:lpstr>Używane czcionki</vt:lpstr>
      </vt:variant>
      <vt:variant>
        <vt:i4>7</vt:i4>
      </vt:variant>
      <vt:variant>
        <vt:lpstr>Motyw</vt:lpstr>
      </vt:variant>
      <vt:variant>
        <vt:i4>1</vt:i4>
      </vt:variant>
      <vt:variant>
        <vt:lpstr>Tytuły slajdów</vt:lpstr>
      </vt:variant>
      <vt:variant>
        <vt:i4>39</vt:i4>
      </vt:variant>
    </vt:vector>
  </HeadingPairs>
  <TitlesOfParts>
    <vt:vector size="47" baseType="lpstr">
      <vt:lpstr>Aptos</vt:lpstr>
      <vt:lpstr>Aptos Display</vt:lpstr>
      <vt:lpstr>Arial</vt:lpstr>
      <vt:lpstr>Calibri</vt:lpstr>
      <vt:lpstr>Lato</vt:lpstr>
      <vt:lpstr>Segoe UI</vt:lpstr>
      <vt:lpstr>Wingdings</vt:lpstr>
      <vt:lpstr>Motyw pakietu Office</vt:lpstr>
      <vt:lpstr>Sztuczna Inteligencja i Uczenie Maszynowe</vt:lpstr>
      <vt:lpstr>Absolwent 2004</vt:lpstr>
      <vt:lpstr>Prezentacja programu PowerPoint</vt:lpstr>
      <vt:lpstr>Prezentacja programu PowerPoint</vt:lpstr>
      <vt:lpstr>Programowanie vs Uczenie Maszynowe</vt:lpstr>
      <vt:lpstr>Podstawowe typy uczenia maszynowego</vt:lpstr>
      <vt:lpstr>Prezentacja programu PowerPoint</vt:lpstr>
      <vt:lpstr>Prezentacja programu PowerPoint</vt:lpstr>
      <vt:lpstr>Prezentacja programu PowerPoint</vt:lpstr>
      <vt:lpstr>Sieć neuronowa</vt:lpstr>
      <vt:lpstr>Sieć neuronowa – przykład (I)</vt:lpstr>
      <vt:lpstr>Sieć neuronowa – przykład (II)</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Ziss, Tomasz</dc:creator>
  <cp:lastModifiedBy>Ziss, Tomasz</cp:lastModifiedBy>
  <cp:revision>279</cp:revision>
  <dcterms:created xsi:type="dcterms:W3CDTF">2026-09-28T08:51:30Z</dcterms:created>
  <dcterms:modified xsi:type="dcterms:W3CDTF">2026-10-18T08:43:03Z</dcterms:modified>
</cp:coreProperties>
</file>